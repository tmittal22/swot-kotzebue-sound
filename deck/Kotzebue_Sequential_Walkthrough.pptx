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737360"/>
            <a:ext cx="10607040" cy="822960"/>
          </a:xfrm>
          <a:prstGeom prst="rect">
            <a:avLst/>
          </a:prstGeom>
          <a:noFill/>
          <a:ln/>
        </p:spPr>
        <p:txBody>
          <a:bodyPr wrap="square" lIns="0" tIns="0" rIns="0" bIns="0"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Kotzebue Sound, river by river</a:t>
            </a:r>
            <a:endParaRPr lang="en-US" sz="4200" dirty="0"/>
          </a:p>
        </p:txBody>
      </p:sp>
      <p:sp>
        <p:nvSpPr>
          <p:cNvPr id="3" name="Text 1"/>
          <p:cNvSpPr/>
          <p:nvPr/>
        </p:nvSpPr>
        <p:spPr>
          <a:xfrm>
            <a:off x="731520" y="2606040"/>
            <a:ext cx="10241280" cy="457200"/>
          </a:xfrm>
          <a:prstGeom prst="rect">
            <a:avLst/>
          </a:prstGeom>
          <a:noFill/>
          <a:ln/>
        </p:spPr>
        <p:txBody>
          <a:bodyPr wrap="square" lIns="0" tIns="0" rIns="0" bIns="0" rtlCol="0" anchor="ctr"/>
          <a:lstStyle/>
          <a:p>
            <a:pPr indent="0" marL="0">
              <a:buNone/>
            </a:pPr>
            <a:r>
              <a:rPr lang="en-US" sz="1800" dirty="0">
                <a:solidFill>
                  <a:srgbClr val="AECBDB"/>
                </a:solidFill>
                <a:latin typeface="Calibri" pitchFamily="34" charset="0"/>
                <a:ea typeface="Calibri" pitchFamily="34" charset="-122"/>
                <a:cs typeface="Calibri" pitchFamily="34" charset="-120"/>
              </a:rPr>
              <a:t>A sequential walkthrough of every SWOT measurement in the basin</a:t>
            </a:r>
            <a:endParaRPr lang="en-US" sz="1800" dirty="0"/>
          </a:p>
        </p:txBody>
      </p:sp>
      <p:sp>
        <p:nvSpPr>
          <p:cNvPr id="4" name="Shape 2"/>
          <p:cNvSpPr/>
          <p:nvPr/>
        </p:nvSpPr>
        <p:spPr>
          <a:xfrm>
            <a:off x="731520" y="3246120"/>
            <a:ext cx="1371600" cy="41148"/>
          </a:xfrm>
          <a:prstGeom prst="rect">
            <a:avLst/>
          </a:prstGeom>
          <a:solidFill>
            <a:srgbClr val="E8A33D"/>
          </a:solidFill>
          <a:ln/>
        </p:spPr>
      </p:sp>
      <p:sp>
        <p:nvSpPr>
          <p:cNvPr id="5" name="Text 3"/>
          <p:cNvSpPr/>
          <p:nvPr/>
        </p:nvSpPr>
        <p:spPr>
          <a:xfrm>
            <a:off x="731520" y="3566160"/>
            <a:ext cx="9601200" cy="914400"/>
          </a:xfrm>
          <a:prstGeom prst="rect">
            <a:avLst/>
          </a:prstGeom>
          <a:noFill/>
          <a:ln/>
        </p:spPr>
        <p:txBody>
          <a:bodyPr wrap="square" lIns="0" tIns="0" rIns="0" bIns="0" rtlCol="0" anchor="t"/>
          <a:lstStyle/>
          <a:p>
            <a:pPr indent="0" marL="0">
              <a:lnSpc>
                <a:spcPts val="1800"/>
              </a:lnSpc>
              <a:buNone/>
            </a:pPr>
            <a:r>
              <a:rPr lang="en-US" sz="1500" dirty="0">
                <a:solidFill>
                  <a:srgbClr val="AECBDB"/>
                </a:solidFill>
                <a:latin typeface="Calibri" pitchFamily="34" charset="0"/>
                <a:ea typeface="Calibri" pitchFamily="34" charset="-122"/>
                <a:cs typeface="Calibri" pitchFamily="34" charset="-120"/>
              </a:rPr>
              <a:t>From "what counts as a river" through gauge validation, main stem versus delta distributaries, and on into Hotham Inlet and Selawik Lake.</a:t>
            </a:r>
            <a:endParaRPr lang="en-US" sz="1500" dirty="0"/>
          </a:p>
        </p:txBody>
      </p:sp>
      <p:sp>
        <p:nvSpPr>
          <p:cNvPr id="6" name="Text 4"/>
          <p:cNvSpPr/>
          <p:nvPr/>
        </p:nvSpPr>
        <p:spPr>
          <a:xfrm>
            <a:off x="731520" y="5852160"/>
            <a:ext cx="10607040" cy="320040"/>
          </a:xfrm>
          <a:prstGeom prst="rect">
            <a:avLst/>
          </a:prstGeom>
          <a:noFill/>
          <a:ln/>
        </p:spPr>
        <p:txBody>
          <a:bodyPr wrap="square" lIns="0" tIns="0" rIns="0" bIns="0" rtlCol="0" anchor="ctr"/>
          <a:lstStyle/>
          <a:p>
            <a:pPr indent="0" marL="0">
              <a:buNone/>
            </a:pPr>
            <a:r>
              <a:rPr lang="en-US" sz="1300" dirty="0">
                <a:solidFill>
                  <a:srgbClr val="2E8BA8"/>
                </a:solidFill>
                <a:latin typeface="Calibri" pitchFamily="34" charset="0"/>
                <a:ea typeface="Calibri" pitchFamily="34" charset="-122"/>
                <a:cs typeface="Calibri" pitchFamily="34" charset="-120"/>
              </a:rPr>
              <a:t>Noatak  ·  Kobuk  ·  Selawik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ORIENTATION</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 area, and what drains into it</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0</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6_satellite_basemap.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63040"/>
            <a:ext cx="3108960" cy="146304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Three large rivers reach the sound. The Kobuk and Selawik empty into the Hotham Inlet / Selawik Lake complex; the Noatak enters the sound directly at Kotzebue.</a:t>
            </a:r>
            <a:endParaRPr lang="en-US" sz="1250" dirty="0"/>
          </a:p>
        </p:txBody>
      </p:sp>
      <p:sp>
        <p:nvSpPr>
          <p:cNvPr id="9" name="Text 6"/>
          <p:cNvSpPr/>
          <p:nvPr/>
        </p:nvSpPr>
        <p:spPr>
          <a:xfrm>
            <a:off x="8595360" y="3017520"/>
            <a:ext cx="3108960" cy="640080"/>
          </a:xfrm>
          <a:prstGeom prst="rect">
            <a:avLst/>
          </a:prstGeom>
          <a:noFill/>
          <a:ln/>
        </p:spPr>
        <p:txBody>
          <a:bodyPr wrap="square" lIns="0" tIns="0" rIns="0" bIns="0" rtlCol="0" anchor="ctr"/>
          <a:lstStyle/>
          <a:p>
            <a:pPr indent="0" marL="0">
              <a:buNone/>
            </a:pPr>
            <a:r>
              <a:rPr lang="en-US" sz="3200" b="1" dirty="0">
                <a:solidFill>
                  <a:srgbClr val="2E8BA8"/>
                </a:solidFill>
                <a:latin typeface="Georgia" pitchFamily="34" charset="0"/>
                <a:ea typeface="Georgia" pitchFamily="34" charset="-122"/>
                <a:cs typeface="Georgia" pitchFamily="34" charset="-120"/>
              </a:rPr>
              <a:t>31,000</a:t>
            </a:r>
            <a:endParaRPr lang="en-US" sz="3200" dirty="0"/>
          </a:p>
        </p:txBody>
      </p:sp>
      <p:sp>
        <p:nvSpPr>
          <p:cNvPr id="10" name="Text 7"/>
          <p:cNvSpPr/>
          <p:nvPr/>
        </p:nvSpPr>
        <p:spPr>
          <a:xfrm>
            <a:off x="8595360" y="363931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km2  Kobuk</a:t>
            </a:r>
            <a:endParaRPr lang="en-US" sz="1100" dirty="0"/>
          </a:p>
        </p:txBody>
      </p:sp>
      <p:sp>
        <p:nvSpPr>
          <p:cNvPr id="11" name="Text 8"/>
          <p:cNvSpPr/>
          <p:nvPr/>
        </p:nvSpPr>
        <p:spPr>
          <a:xfrm>
            <a:off x="8595360" y="4114800"/>
            <a:ext cx="3108960" cy="640080"/>
          </a:xfrm>
          <a:prstGeom prst="rect">
            <a:avLst/>
          </a:prstGeom>
          <a:noFill/>
          <a:ln/>
        </p:spPr>
        <p:txBody>
          <a:bodyPr wrap="square" lIns="0" tIns="0" rIns="0" bIns="0" rtlCol="0" anchor="ctr"/>
          <a:lstStyle/>
          <a:p>
            <a:pPr indent="0" marL="0">
              <a:buNone/>
            </a:pPr>
            <a:r>
              <a:rPr lang="en-US" sz="3200" b="1" dirty="0">
                <a:solidFill>
                  <a:srgbClr val="2E8BA8"/>
                </a:solidFill>
                <a:latin typeface="Georgia" pitchFamily="34" charset="0"/>
                <a:ea typeface="Georgia" pitchFamily="34" charset="-122"/>
                <a:cs typeface="Georgia" pitchFamily="34" charset="-120"/>
              </a:rPr>
              <a:t>32,000</a:t>
            </a:r>
            <a:endParaRPr lang="en-US" sz="3200" dirty="0"/>
          </a:p>
        </p:txBody>
      </p:sp>
      <p:sp>
        <p:nvSpPr>
          <p:cNvPr id="12" name="Text 9"/>
          <p:cNvSpPr/>
          <p:nvPr/>
        </p:nvSpPr>
        <p:spPr>
          <a:xfrm>
            <a:off x="8595360" y="473659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km2  Noatak</a:t>
            </a:r>
            <a:endParaRPr lang="en-US" sz="1100" dirty="0"/>
          </a:p>
        </p:txBody>
      </p:sp>
      <p:sp>
        <p:nvSpPr>
          <p:cNvPr id="13" name="Text 10"/>
          <p:cNvSpPr/>
          <p:nvPr/>
        </p:nvSpPr>
        <p:spPr>
          <a:xfrm>
            <a:off x="8595360" y="5212080"/>
            <a:ext cx="3108960" cy="640080"/>
          </a:xfrm>
          <a:prstGeom prst="rect">
            <a:avLst/>
          </a:prstGeom>
          <a:noFill/>
          <a:ln/>
        </p:spPr>
        <p:txBody>
          <a:bodyPr wrap="square" lIns="0" tIns="0" rIns="0" bIns="0" rtlCol="0" anchor="ctr"/>
          <a:lstStyle/>
          <a:p>
            <a:pPr indent="0" marL="0">
              <a:buNone/>
            </a:pPr>
            <a:r>
              <a:rPr lang="en-US" sz="3200" b="1" dirty="0">
                <a:solidFill>
                  <a:srgbClr val="2E8BA8"/>
                </a:solidFill>
                <a:latin typeface="Georgia" pitchFamily="34" charset="0"/>
                <a:ea typeface="Georgia" pitchFamily="34" charset="-122"/>
                <a:cs typeface="Georgia" pitchFamily="34" charset="-120"/>
              </a:rPr>
              <a:t>8,160</a:t>
            </a:r>
            <a:endParaRPr lang="en-US" sz="3200" dirty="0"/>
          </a:p>
        </p:txBody>
      </p:sp>
      <p:sp>
        <p:nvSpPr>
          <p:cNvPr id="14" name="Text 11"/>
          <p:cNvSpPr/>
          <p:nvPr/>
        </p:nvSpPr>
        <p:spPr>
          <a:xfrm>
            <a:off x="8595360" y="583387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km2  Selawik</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1</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What counts as a river here?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1</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7_network_topology.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108960" cy="155448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292 SWORD reaches sit in the box, across 9 drainage systems and 34 flow paths. river_name is NODATA for 111 of them, including most of the lower Kobuk, so names cannot do this.</a:t>
            </a:r>
            <a:endParaRPr lang="en-US" sz="1250" dirty="0"/>
          </a:p>
        </p:txBody>
      </p:sp>
      <p:sp>
        <p:nvSpPr>
          <p:cNvPr id="9" name="Text 6"/>
          <p:cNvSpPr/>
          <p:nvPr/>
        </p:nvSpPr>
        <p:spPr>
          <a:xfrm>
            <a:off x="8595360" y="3063240"/>
            <a:ext cx="3108960" cy="2011680"/>
          </a:xfrm>
          <a:prstGeom prst="rect">
            <a:avLst/>
          </a:prstGeom>
          <a:noFill/>
          <a:ln/>
        </p:spPr>
        <p:txBody>
          <a:bodyPr wrap="square" lIns="0" tIns="0" rIns="0" bIns="0" rtlCol="0" anchor="t"/>
          <a:lstStyle/>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best_outlet -&gt; drainage system</a:t>
            </a:r>
            <a:endParaRPr lang="en-US" sz="1150" dirty="0"/>
          </a:p>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main_path_id + facc -&gt; rank paths</a:t>
            </a:r>
            <a:endParaRPr lang="en-US" sz="1150" dirty="0"/>
          </a:p>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rch_id_dn -&gt; the reach graph</a:t>
            </a:r>
            <a:endParaRPr lang="en-US" sz="1150" dirty="0"/>
          </a:p>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dist_out -&gt; order along the stem</a:t>
            </a:r>
            <a:endParaRPr lang="en-US" sz="1150" dirty="0"/>
          </a:p>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type -&gt; what is usable</a:t>
            </a:r>
            <a:endParaRPr lang="en-US" sz="1150" dirty="0"/>
          </a:p>
        </p:txBody>
      </p:sp>
      <p:sp>
        <p:nvSpPr>
          <p:cNvPr id="10" name="Text 7"/>
          <p:cNvSpPr/>
          <p:nvPr/>
        </p:nvSpPr>
        <p:spPr>
          <a:xfrm>
            <a:off x="8595360" y="5212080"/>
            <a:ext cx="3108960" cy="91440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Noatak, Kobuk and Selawik separate cleanly from everything else by drainage area.</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2</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Does SWOT see it right? Elevation</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2</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1_kiana_validation.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108960" cy="173736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Only one gauge exists on a major river: Kobuk at Kiana. SWOT reports orthometric elevation, the gauge reports stage on a local datum, so the regression slope must be exactly 1.0. Nothing is tuned to make that happen.</a:t>
            </a:r>
            <a:endParaRPr lang="en-US" sz="1250" dirty="0"/>
          </a:p>
        </p:txBody>
      </p:sp>
      <p:sp>
        <p:nvSpPr>
          <p:cNvPr id="9" name="Text 6"/>
          <p:cNvSpPr/>
          <p:nvPr/>
        </p:nvSpPr>
        <p:spPr>
          <a:xfrm>
            <a:off x="8595360" y="3291840"/>
            <a:ext cx="3108960" cy="640080"/>
          </a:xfrm>
          <a:prstGeom prst="rect">
            <a:avLst/>
          </a:prstGeom>
          <a:noFill/>
          <a:ln/>
        </p:spPr>
        <p:txBody>
          <a:bodyPr wrap="square" lIns="0" tIns="0" rIns="0" bIns="0" rtlCol="0" anchor="ctr"/>
          <a:lstStyle/>
          <a:p>
            <a:pPr indent="0" marL="0">
              <a:buNone/>
            </a:pPr>
            <a:r>
              <a:rPr lang="en-US" sz="3200" b="1" dirty="0">
                <a:solidFill>
                  <a:srgbClr val="1B7A4B"/>
                </a:solidFill>
                <a:latin typeface="Georgia" pitchFamily="34" charset="0"/>
                <a:ea typeface="Georgia" pitchFamily="34" charset="-122"/>
                <a:cs typeface="Georgia" pitchFamily="34" charset="-120"/>
              </a:rPr>
              <a:t>1.002</a:t>
            </a:r>
            <a:endParaRPr lang="en-US" sz="3200" dirty="0"/>
          </a:p>
        </p:txBody>
      </p:sp>
      <p:sp>
        <p:nvSpPr>
          <p:cNvPr id="10" name="Text 7"/>
          <p:cNvSpPr/>
          <p:nvPr/>
        </p:nvSpPr>
        <p:spPr>
          <a:xfrm>
            <a:off x="8595360" y="391363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measured slope</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(1.000 required)</a:t>
            </a:r>
            <a:endParaRPr lang="en-US" sz="1100" dirty="0"/>
          </a:p>
        </p:txBody>
      </p:sp>
      <p:sp>
        <p:nvSpPr>
          <p:cNvPr id="11" name="Text 8"/>
          <p:cNvSpPr/>
          <p:nvPr/>
        </p:nvSpPr>
        <p:spPr>
          <a:xfrm>
            <a:off x="8595360" y="4572000"/>
            <a:ext cx="3108960" cy="640080"/>
          </a:xfrm>
          <a:prstGeom prst="rect">
            <a:avLst/>
          </a:prstGeom>
          <a:noFill/>
          <a:ln/>
        </p:spPr>
        <p:txBody>
          <a:bodyPr wrap="square" lIns="0" tIns="0" rIns="0" bIns="0" rtlCol="0" anchor="ctr"/>
          <a:lstStyle/>
          <a:p>
            <a:pPr indent="0" marL="0">
              <a:buNone/>
            </a:pPr>
            <a:r>
              <a:rPr lang="en-US" sz="3200" b="1" dirty="0">
                <a:solidFill>
                  <a:srgbClr val="1B7A4B"/>
                </a:solidFill>
                <a:latin typeface="Georgia" pitchFamily="34" charset="0"/>
                <a:ea typeface="Georgia" pitchFamily="34" charset="-122"/>
                <a:cs typeface="Georgia" pitchFamily="34" charset="-120"/>
              </a:rPr>
              <a:t>r = 0.980</a:t>
            </a:r>
            <a:endParaRPr lang="en-US" sz="3200" dirty="0"/>
          </a:p>
        </p:txBody>
      </p:sp>
      <p:sp>
        <p:nvSpPr>
          <p:cNvPr id="12" name="Text 9"/>
          <p:cNvSpPr/>
          <p:nvPr/>
        </p:nvSpPr>
        <p:spPr>
          <a:xfrm>
            <a:off x="8595360" y="519379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84 coincident</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overpasses, 21 cm RMS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3</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Does SWOT see it right? Discharge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3</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16_swot_only.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108960" cy="4572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SWOT-derived discharge (SoS) compared with the same gauge:</a:t>
            </a:r>
            <a:endParaRPr lang="en-US" sz="1200" dirty="0"/>
          </a:p>
        </p:txBody>
      </p:sp>
      <p:sp>
        <p:nvSpPr>
          <p:cNvPr id="9" name="Text 6"/>
          <p:cNvSpPr/>
          <p:nvPr/>
        </p:nvSpPr>
        <p:spPr>
          <a:xfrm>
            <a:off x="8595360" y="1965960"/>
            <a:ext cx="3108960" cy="640080"/>
          </a:xfrm>
          <a:prstGeom prst="rect">
            <a:avLst/>
          </a:prstGeom>
          <a:noFill/>
          <a:ln/>
        </p:spPr>
        <p:txBody>
          <a:bodyPr wrap="square" lIns="0" tIns="0" rIns="0" bIns="0" rtlCol="0" anchor="ctr"/>
          <a:lstStyle/>
          <a:p>
            <a:pPr indent="0" marL="0">
              <a:buNone/>
            </a:pPr>
            <a:r>
              <a:rPr lang="en-US" sz="3200" b="1" dirty="0">
                <a:solidFill>
                  <a:srgbClr val="1B7A4B"/>
                </a:solidFill>
                <a:latin typeface="Georgia" pitchFamily="34" charset="0"/>
                <a:ea typeface="Georgia" pitchFamily="34" charset="-122"/>
                <a:cs typeface="Georgia" pitchFamily="34" charset="-120"/>
              </a:rPr>
              <a:t>r = 0.99</a:t>
            </a:r>
            <a:endParaRPr lang="en-US" sz="3200" dirty="0"/>
          </a:p>
        </p:txBody>
      </p:sp>
      <p:sp>
        <p:nvSpPr>
          <p:cNvPr id="10" name="Text 7"/>
          <p:cNvSpPr/>
          <p:nvPr/>
        </p:nvSpPr>
        <p:spPr>
          <a:xfrm>
            <a:off x="8595360" y="258775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shape, in log space —</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the hydrograph is right</a:t>
            </a:r>
            <a:endParaRPr lang="en-US" sz="1100" dirty="0"/>
          </a:p>
        </p:txBody>
      </p:sp>
      <p:sp>
        <p:nvSpPr>
          <p:cNvPr id="11" name="Text 8"/>
          <p:cNvSpPr/>
          <p:nvPr/>
        </p:nvSpPr>
        <p:spPr>
          <a:xfrm>
            <a:off x="8595360" y="3246120"/>
            <a:ext cx="3108960" cy="640080"/>
          </a:xfrm>
          <a:prstGeom prst="rect">
            <a:avLst/>
          </a:prstGeom>
          <a:noFill/>
          <a:ln/>
        </p:spPr>
        <p:txBody>
          <a:bodyPr wrap="square" lIns="0" tIns="0" rIns="0" bIns="0" rtlCol="0" anchor="ctr"/>
          <a:lstStyle/>
          <a:p>
            <a:pPr indent="0" marL="0">
              <a:buNone/>
            </a:pPr>
            <a:r>
              <a:rPr lang="en-US" sz="3200" b="1" dirty="0">
                <a:solidFill>
                  <a:srgbClr val="B4442E"/>
                </a:solidFill>
                <a:latin typeface="Georgia" pitchFamily="34" charset="0"/>
                <a:ea typeface="Georgia" pitchFamily="34" charset="-122"/>
                <a:cs typeface="Georgia" pitchFamily="34" charset="-120"/>
              </a:rPr>
              <a:t>2.9x low</a:t>
            </a:r>
            <a:endParaRPr lang="en-US" sz="3200" dirty="0"/>
          </a:p>
        </p:txBody>
      </p:sp>
      <p:sp>
        <p:nvSpPr>
          <p:cNvPr id="12" name="Text 9"/>
          <p:cNvSpPr/>
          <p:nvPr/>
        </p:nvSpPr>
        <p:spPr>
          <a:xfrm>
            <a:off x="8595360" y="386791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median bias, NSE = -2.0 —</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magnitude is not usable</a:t>
            </a:r>
            <a:endParaRPr lang="en-US" sz="1100" dirty="0"/>
          </a:p>
        </p:txBody>
      </p:sp>
      <p:sp>
        <p:nvSpPr>
          <p:cNvPr id="13" name="Text 10"/>
          <p:cNvSpPr/>
          <p:nvPr/>
        </p:nvSpPr>
        <p:spPr>
          <a:xfrm>
            <a:off x="8595360" y="4572000"/>
            <a:ext cx="3108960" cy="1188720"/>
          </a:xfrm>
          <a:prstGeom prst="rect">
            <a:avLst/>
          </a:prstGeom>
          <a:noFill/>
          <a:ln/>
        </p:spPr>
        <p:txBody>
          <a:bodyPr wrap="square" lIns="0" tIns="0" rIns="0" bIns="0" rtlCol="0" anchor="t"/>
          <a:lstStyle/>
          <a:p>
            <a:pPr indent="0" marL="0">
              <a:lnSpc>
                <a:spcPts val="1800"/>
              </a:lnSpc>
              <a:buNone/>
            </a:pPr>
            <a:r>
              <a:rPr lang="en-US" sz="1150" dirty="0">
                <a:solidFill>
                  <a:srgbClr val="0B2F4A"/>
                </a:solidFill>
                <a:latin typeface="Calibri" pitchFamily="34" charset="0"/>
                <a:ea typeface="Calibri" pitchFamily="34" charset="-122"/>
                <a:cs typeface="Calibri" pitchFamily="34" charset="-120"/>
              </a:rPr>
              <a:t>So relative and seasonal statements are supported; absolute freshwater flux is not. Nothing downstream computes a flux budget.</a:t>
            </a:r>
            <a:endParaRPr lang="en-US" sz="1150" dirty="0"/>
          </a:p>
        </p:txBody>
      </p:sp>
      <p:sp>
        <p:nvSpPr>
          <p:cNvPr id="14" name="Text 11"/>
          <p:cNvSpPr/>
          <p:nvPr/>
        </p:nvSpPr>
        <p:spPr>
          <a:xfrm>
            <a:off x="8595360" y="5623560"/>
            <a:ext cx="3108960" cy="914400"/>
          </a:xfrm>
          <a:prstGeom prst="rect">
            <a:avLst/>
          </a:prstGeom>
          <a:noFill/>
          <a:ln/>
        </p:spPr>
        <p:txBody>
          <a:bodyPr wrap="square" lIns="0" tIns="0" rIns="0" bIns="0" rtlCol="0" anchor="t"/>
          <a:lstStyle/>
          <a:p>
            <a:pPr indent="0" marL="0">
              <a:lnSpc>
                <a:spcPts val="1800"/>
              </a:lnSpc>
              <a:buNone/>
            </a:pPr>
            <a:r>
              <a:rPr lang="en-US" sz="1050" dirty="0">
                <a:solidFill>
                  <a:srgbClr val="B4442E"/>
                </a:solidFill>
                <a:latin typeface="Calibri" pitchFamily="34" charset="0"/>
                <a:ea typeface="Calibri" pitchFamily="34" charset="-122"/>
                <a:cs typeface="Calibri" pitchFamily="34" charset="-120"/>
              </a:rPr>
              <a:t>Caveat: SoS is a model-based inversion, and I have not verified whether Hydrocron serves the constrained or unconstrained run.</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4</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 three rivers, side by side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4</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12_rivers_overview.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108960" cy="128016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Every river gets a multi-year stage record. For the Selawik and Noatak this is the only stage history that has ever existed.</a:t>
            </a:r>
            <a:endParaRPr lang="en-US" sz="1250" dirty="0"/>
          </a:p>
        </p:txBody>
      </p:sp>
      <p:sp>
        <p:nvSpPr>
          <p:cNvPr id="9" name="Text 6"/>
          <p:cNvSpPr/>
          <p:nvPr/>
        </p:nvSpPr>
        <p:spPr>
          <a:xfrm>
            <a:off x="8595360" y="2834640"/>
            <a:ext cx="3108960" cy="146304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Note the shapes differ. The Selawik spikes sharply in mid-May and decays; the Kobuk and Noatak build a broader late-summer maximum.</a:t>
            </a:r>
            <a:endParaRPr lang="en-US" sz="1200" dirty="0"/>
          </a:p>
        </p:txBody>
      </p:sp>
      <p:sp>
        <p:nvSpPr>
          <p:cNvPr id="10" name="Text 7"/>
          <p:cNvSpPr/>
          <p:nvPr/>
        </p:nvSpPr>
        <p:spPr>
          <a:xfrm>
            <a:off x="8595360" y="4480560"/>
            <a:ext cx="3108960" cy="1463040"/>
          </a:xfrm>
          <a:prstGeom prst="rect">
            <a:avLst/>
          </a:prstGeom>
          <a:noFill/>
          <a:ln/>
        </p:spPr>
        <p:txBody>
          <a:bodyPr wrap="square" lIns="0" tIns="0" rIns="0" bIns="0" rtlCol="0" anchor="t"/>
          <a:lstStyle/>
          <a:p>
            <a:pPr indent="0" marL="0">
              <a:lnSpc>
                <a:spcPts val="1800"/>
              </a:lnSpc>
              <a:buNone/>
            </a:pPr>
            <a:r>
              <a:rPr lang="en-US" sz="1150" dirty="0">
                <a:solidFill>
                  <a:srgbClr val="5A7284"/>
                </a:solidFill>
                <a:latin typeface="Calibri" pitchFamily="34" charset="0"/>
                <a:ea typeface="Calibri" pitchFamily="34" charset="-122"/>
                <a:cs typeface="Calibri" pitchFamily="34" charset="-120"/>
              </a:rPr>
              <a:t>The Squirrel is a Kobuk tributary, not an independent input. The Wulik drains the Chukchi coast and does not reach the sound at all.</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5</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They are out of phase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5</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3_seasonal_regime.png">    </p:cNvPr>
          <p:cNvPicPr>
            <a:picLocks noChangeAspect="1"/>
          </p:cNvPicPr>
          <p:nvPr/>
        </p:nvPicPr>
        <p:blipFill>
          <a:blip r:embed="rId1"/>
          <a:srcRect l="0" r="0" t="0" b="0"/>
          <a:stretch/>
        </p:blipFill>
        <p:spPr>
          <a:xfrm>
            <a:off x="502920" y="1371600"/>
            <a:ext cx="7863840" cy="4846320"/>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595360" y="1463040"/>
          <a:ext cx="3108960" cy="914400"/>
        </p:xfrm>
        <a:graphic>
          <a:graphicData uri="http://schemas.openxmlformats.org/drawingml/2006/table">
            <a:tbl>
              <a:tblPr/>
              <a:tblGrid>
                <a:gridCol w="1188720"/>
                <a:gridCol w="192024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Selawik</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B4442E"/>
                    </a:solidFill>
                  </a:tcPr>
                </a:tc>
                <a:tc>
                  <a:txBody>
                    <a:bodyPr/>
                    <a:lstStyle/>
                    <a:p>
                      <a:pPr indent="0" marL="0">
                        <a:buNone/>
                      </a:pPr>
                      <a:r>
                        <a:rPr lang="en-US" sz="1150" dirty="0">
                          <a:solidFill>
                            <a:srgbClr val="20303C"/>
                          </a:solidFill>
                          <a:latin typeface="Calibri" pitchFamily="34" charset="0"/>
                          <a:ea typeface="Calibri" pitchFamily="34" charset="-122"/>
                          <a:cs typeface="Calibri" pitchFamily="34" charset="-120"/>
                        </a:rPr>
                        <a:t>day 141, 145, 145</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F2F6F8"/>
                    </a:solidFill>
                  </a:tcPr>
                </a:tc>
              </a:tr>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Kobuk</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50" dirty="0">
                          <a:solidFill>
                            <a:srgbClr val="20303C"/>
                          </a:solidFill>
                          <a:latin typeface="Calibri" pitchFamily="34" charset="0"/>
                          <a:ea typeface="Calibri" pitchFamily="34" charset="-122"/>
                          <a:cs typeface="Calibri" pitchFamily="34" charset="-120"/>
                        </a:rPr>
                        <a:t>day 240, 250</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F2F6F8"/>
                    </a:solidFill>
                  </a:tcPr>
                </a:tc>
              </a:tr>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Noatak</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3F6B4A"/>
                    </a:solidFill>
                  </a:tcPr>
                </a:tc>
                <a:tc>
                  <a:txBody>
                    <a:bodyPr/>
                    <a:lstStyle/>
                    <a:p>
                      <a:pPr indent="0" marL="0">
                        <a:buNone/>
                      </a:pPr>
                      <a:r>
                        <a:rPr lang="en-US" sz="1150" dirty="0">
                          <a:solidFill>
                            <a:srgbClr val="20303C"/>
                          </a:solidFill>
                          <a:latin typeface="Calibri" pitchFamily="34" charset="0"/>
                          <a:ea typeface="Calibri" pitchFamily="34" charset="-122"/>
                          <a:cs typeface="Calibri" pitchFamily="34" charset="-120"/>
                        </a:rPr>
                        <a:t>day 168, 237</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F2F6F8"/>
                    </a:solidFill>
                  </a:tcPr>
                </a:tc>
              </a:tr>
            </a:tbl>
          </a:graphicData>
        </a:graphic>
      </p:graphicFrame>
      <p:sp>
        <p:nvSpPr>
          <p:cNvPr id="9" name="Text 5"/>
          <p:cNvSpPr/>
          <p:nvPr/>
        </p:nvSpPr>
        <p:spPr>
          <a:xfrm>
            <a:off x="8595360" y="2834640"/>
            <a:ext cx="3108960" cy="137160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Day-of-year of the seasonal stage maximum. Both the Kobuk and Selawik empty into the same lagoon complex, roughly 100 days apart.</a:t>
            </a:r>
            <a:endParaRPr lang="en-US" sz="1250" dirty="0"/>
          </a:p>
        </p:txBody>
      </p:sp>
      <p:sp>
        <p:nvSpPr>
          <p:cNvPr id="10" name="Text 6"/>
          <p:cNvSpPr/>
          <p:nvPr/>
        </p:nvSpPr>
        <p:spPr>
          <a:xfrm>
            <a:off x="8595360" y="4297680"/>
            <a:ext cx="3108960" cy="1280160"/>
          </a:xfrm>
          <a:prstGeom prst="rect">
            <a:avLst/>
          </a:prstGeom>
          <a:noFill/>
          <a:ln/>
        </p:spPr>
        <p:txBody>
          <a:bodyPr wrap="square" lIns="0" tIns="0" rIns="0" bIns="0" rtlCol="0" anchor="t"/>
          <a:lstStyle/>
          <a:p>
            <a:pPr indent="0" marL="0">
              <a:lnSpc>
                <a:spcPts val="1800"/>
              </a:lnSpc>
              <a:buNone/>
            </a:pPr>
            <a:r>
              <a:rPr lang="en-US" sz="1250" dirty="0">
                <a:solidFill>
                  <a:srgbClr val="2E8BA8"/>
                </a:solidFill>
                <a:latin typeface="Calibri" pitchFamily="34" charset="0"/>
                <a:ea typeface="Calibri" pitchFamily="34" charset="-122"/>
                <a:cs typeface="Calibri" pitchFamily="34" charset="-120"/>
              </a:rPr>
              <a:t>Freshwater arriving during the summer bloom window is Kobuk and Noatak water, not Selawik water.</a:t>
            </a:r>
            <a:endParaRPr lang="en-US" sz="1250" dirty="0"/>
          </a:p>
        </p:txBody>
      </p:sp>
      <p:sp>
        <p:nvSpPr>
          <p:cNvPr id="11" name="Text 7"/>
          <p:cNvSpPr/>
          <p:nvPr/>
        </p:nvSpPr>
        <p:spPr>
          <a:xfrm>
            <a:off x="8595360" y="5577840"/>
            <a:ext cx="3108960" cy="100584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Recovered independently from SWOT discharge alone, with no gauge: Selawik day 154, Kobuk 236, Noatak 251.</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6</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Main stem versus every delta channel</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6</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17_channels_and_lakes.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108960" cy="164592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The Kobuk does not reach Hotham Inlet as one channel. It splits, and SWORD facc DROPS downstream as it does: 31,315 km2 in the single stem, 15,162 km2 in one delta arm.</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595360" y="3200400"/>
          <a:ext cx="3108960" cy="914400"/>
        </p:xfrm>
        <a:graphic>
          <a:graphicData uri="http://schemas.openxmlformats.org/drawingml/2006/table">
            <a:tbl>
              <a:tblPr/>
              <a:tblGrid>
                <a:gridCol w="1280160"/>
                <a:gridCol w="1005840"/>
                <a:gridCol w="822960"/>
              </a:tblGrid>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median WSE</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range</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29184">
                <a:tc>
                  <a:txBody>
                    <a:bodyPr/>
                    <a:lstStyle/>
                    <a:p>
                      <a:pPr indent="0" marL="0">
                        <a:buNone/>
                      </a:pPr>
                      <a:r>
                        <a:rPr lang="en-US" sz="1000" b="1" dirty="0">
                          <a:solidFill>
                            <a:srgbClr val="20303C"/>
                          </a:solidFill>
                          <a:latin typeface="Calibri" pitchFamily="34" charset="0"/>
                          <a:ea typeface="Calibri" pitchFamily="34" charset="-122"/>
                          <a:cs typeface="Calibri" pitchFamily="34" charset="-120"/>
                        </a:rPr>
                        <a:t>Main stem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2.97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6.18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29184">
                <a:tc>
                  <a:txBody>
                    <a:bodyPr/>
                    <a:lstStyle/>
                    <a:p>
                      <a:pPr indent="0" marL="0">
                        <a:buNone/>
                      </a:pPr>
                      <a:r>
                        <a:rPr lang="en-US" sz="1000" b="1" dirty="0">
                          <a:solidFill>
                            <a:srgbClr val="20303C"/>
                          </a:solidFill>
                          <a:latin typeface="Calibri" pitchFamily="34" charset="0"/>
                          <a:ea typeface="Calibri" pitchFamily="34" charset="-122"/>
                          <a:cs typeface="Calibri" pitchFamily="34" charset="-120"/>
                        </a:rPr>
                        <a:t>Delta arms</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0.70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1.94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29184">
                <a:tc>
                  <a:txBody>
                    <a:bodyPr/>
                    <a:lstStyle/>
                    <a:p>
                      <a:pPr indent="0" marL="0">
                        <a:buNone/>
                      </a:pPr>
                      <a:r>
                        <a:rPr lang="en-US" sz="1000" b="1" dirty="0">
                          <a:solidFill>
                            <a:srgbClr val="20303C"/>
                          </a:solidFill>
                          <a:latin typeface="Calibri" pitchFamily="34" charset="0"/>
                          <a:ea typeface="Calibri" pitchFamily="34" charset="-122"/>
                          <a:cs typeface="Calibri" pitchFamily="34" charset="-120"/>
                        </a:rPr>
                        <a:t>Hotham ch. A</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0.77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2.08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29184">
                <a:tc>
                  <a:txBody>
                    <a:bodyPr/>
                    <a:lstStyle/>
                    <a:p>
                      <a:pPr indent="0" marL="0">
                        <a:buNone/>
                      </a:pPr>
                      <a:r>
                        <a:rPr lang="en-US" sz="1000" b="1" dirty="0">
                          <a:solidFill>
                            <a:srgbClr val="20303C"/>
                          </a:solidFill>
                          <a:latin typeface="Calibri" pitchFamily="34" charset="0"/>
                          <a:ea typeface="Calibri" pitchFamily="34" charset="-122"/>
                          <a:cs typeface="Calibri" pitchFamily="34" charset="-120"/>
                        </a:rPr>
                        <a:t>Hotham ch. B</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0.55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1.40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0" name="Text 6"/>
          <p:cNvSpPr/>
          <p:nvPr/>
        </p:nvSpPr>
        <p:spPr>
          <a:xfrm>
            <a:off x="8595360" y="5120640"/>
            <a:ext cx="3108960" cy="137160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Water level and seasonal range both collapse across the delta — the signature of flow splitting into a backwater-controlled receiving basin.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7</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Hotham Inlet and Selawik Lake themselves</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7</a:t>
            </a:r>
            <a:endParaRPr lang="en-US" sz="1900" dirty="0"/>
          </a:p>
        </p:txBody>
      </p:sp>
      <p:sp>
        <p:nvSpPr>
          <p:cNvPr id="6" name="Text 4"/>
          <p:cNvSpPr/>
          <p:nvPr/>
        </p:nvSpPr>
        <p:spPr>
          <a:xfrm>
            <a:off x="502920" y="1371600"/>
            <a:ext cx="11155680" cy="9144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These were deliberately excluded earlier. SWORD types the reaches crossing the inlet and the lake as 3 (lake on river) and 5 (unreliable topology), which breaks a one-dimensional long profile. But SWOT observes them perfectly well, so here they are the subject rather than the nuisance.</a:t>
            </a:r>
            <a:endParaRPr lang="en-US" sz="1300" dirty="0"/>
          </a:p>
        </p:txBody>
      </p:sp>
      <p:sp>
        <p:nvSpPr>
          <p:cNvPr id="7" name="Shape 5"/>
          <p:cNvSpPr/>
          <p:nvPr/>
        </p:nvSpPr>
        <p:spPr>
          <a:xfrm>
            <a:off x="502920" y="2423160"/>
            <a:ext cx="3611880" cy="3794760"/>
          </a:xfrm>
          <a:prstGeom prst="roundRect">
            <a:avLst>
              <a:gd name="adj" fmla="val 1519"/>
            </a:avLst>
          </a:prstGeom>
          <a:solidFill>
            <a:srgbClr val="F2F6F8"/>
          </a:solidFill>
          <a:ln w="9525">
            <a:solidFill>
              <a:srgbClr val="2E8BA8"/>
            </a:solidFill>
            <a:prstDash val="solid"/>
          </a:ln>
        </p:spPr>
      </p:sp>
      <p:sp>
        <p:nvSpPr>
          <p:cNvPr id="8" name="Text 6"/>
          <p:cNvSpPr/>
          <p:nvPr/>
        </p:nvSpPr>
        <p:spPr>
          <a:xfrm>
            <a:off x="822960" y="2651760"/>
            <a:ext cx="3017520" cy="365760"/>
          </a:xfrm>
          <a:prstGeom prst="rect">
            <a:avLst/>
          </a:prstGeom>
          <a:noFill/>
          <a:ln/>
        </p:spPr>
        <p:txBody>
          <a:bodyPr wrap="square" lIns="0" tIns="0" rIns="0" bIns="0" rtlCol="0" anchor="ctr"/>
          <a:lstStyle/>
          <a:p>
            <a:pPr indent="0" marL="0">
              <a:buNone/>
            </a:pPr>
            <a:r>
              <a:rPr lang="en-US" sz="1600" b="1" dirty="0">
                <a:solidFill>
                  <a:srgbClr val="0B2F4A"/>
                </a:solidFill>
                <a:latin typeface="Georgia" pitchFamily="34" charset="0"/>
                <a:ea typeface="Georgia" pitchFamily="34" charset="-122"/>
                <a:cs typeface="Georgia" pitchFamily="34" charset="-120"/>
              </a:rPr>
              <a:t>What exists</a:t>
            </a:r>
            <a:endParaRPr lang="en-US" sz="1600" dirty="0"/>
          </a:p>
        </p:txBody>
      </p:sp>
      <p:sp>
        <p:nvSpPr>
          <p:cNvPr id="9" name="Text 7"/>
          <p:cNvSpPr/>
          <p:nvPr/>
        </p:nvSpPr>
        <p:spPr>
          <a:xfrm>
            <a:off x="822960" y="3108960"/>
            <a:ext cx="3017520" cy="2926080"/>
          </a:xfrm>
          <a:prstGeom prst="rect">
            <a:avLst/>
          </a:prstGeom>
          <a:noFill/>
          <a:ln/>
        </p:spPr>
        <p:txBody>
          <a:bodyPr wrap="square" lIns="0" tIns="0" rIns="0" bIns="0" rtlCol="0" anchor="t"/>
          <a:lstStyle/>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27 lake-flagged SWORD reaches across the inlet and lake</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1,871 quality-passed observations on the channel reaches</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14 PLD prior lakes in the delta with SWOT water level, 1,276 records</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Hydrocron serves these as feature=PriorLake</a:t>
            </a:r>
            <a:endParaRPr lang="en-US" sz="1100" dirty="0"/>
          </a:p>
        </p:txBody>
      </p:sp>
      <p:sp>
        <p:nvSpPr>
          <p:cNvPr id="10" name="Shape 8"/>
          <p:cNvSpPr/>
          <p:nvPr/>
        </p:nvSpPr>
        <p:spPr>
          <a:xfrm>
            <a:off x="4343400" y="2423160"/>
            <a:ext cx="3611880" cy="3794760"/>
          </a:xfrm>
          <a:prstGeom prst="roundRect">
            <a:avLst>
              <a:gd name="adj" fmla="val 1519"/>
            </a:avLst>
          </a:prstGeom>
          <a:solidFill>
            <a:srgbClr val="EAF4EE"/>
          </a:solidFill>
          <a:ln w="9525">
            <a:solidFill>
              <a:srgbClr val="1B7A4B"/>
            </a:solidFill>
            <a:prstDash val="solid"/>
          </a:ln>
        </p:spPr>
      </p:sp>
      <p:sp>
        <p:nvSpPr>
          <p:cNvPr id="11" name="Text 9"/>
          <p:cNvSpPr/>
          <p:nvPr/>
        </p:nvSpPr>
        <p:spPr>
          <a:xfrm>
            <a:off x="4663440" y="2651760"/>
            <a:ext cx="3017520" cy="365760"/>
          </a:xfrm>
          <a:prstGeom prst="rect">
            <a:avLst/>
          </a:prstGeom>
          <a:noFill/>
          <a:ln/>
        </p:spPr>
        <p:txBody>
          <a:bodyPr wrap="square" lIns="0" tIns="0" rIns="0" bIns="0" rtlCol="0" anchor="ctr"/>
          <a:lstStyle/>
          <a:p>
            <a:pPr indent="0" marL="0">
              <a:buNone/>
            </a:pPr>
            <a:r>
              <a:rPr lang="en-US" sz="1600" b="1" dirty="0">
                <a:solidFill>
                  <a:srgbClr val="1B7A4B"/>
                </a:solidFill>
                <a:latin typeface="Georgia" pitchFamily="34" charset="0"/>
                <a:ea typeface="Georgia" pitchFamily="34" charset="-122"/>
                <a:cs typeface="Georgia" pitchFamily="34" charset="-120"/>
              </a:rPr>
              <a:t>What it shows</a:t>
            </a:r>
            <a:endParaRPr lang="en-US" sz="1600" dirty="0"/>
          </a:p>
        </p:txBody>
      </p:sp>
      <p:sp>
        <p:nvSpPr>
          <p:cNvPr id="12" name="Text 10"/>
          <p:cNvSpPr/>
          <p:nvPr/>
        </p:nvSpPr>
        <p:spPr>
          <a:xfrm>
            <a:off x="4663440" y="3108960"/>
            <a:ext cx="3017520" cy="64008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Both basins track Kobuk stage essentially instantaneously:</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663440" y="3840480"/>
          <a:ext cx="3017520" cy="914400"/>
        </p:xfrm>
        <a:graphic>
          <a:graphicData uri="http://schemas.openxmlformats.org/drawingml/2006/table">
            <a:tbl>
              <a:tblPr/>
              <a:tblGrid>
                <a:gridCol w="1371600"/>
                <a:gridCol w="1645920"/>
              </a:tblGrid>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0.85 at lag 0</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Selawik Lake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0.87 at lag 0</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4" name="Text 11"/>
          <p:cNvSpPr/>
          <p:nvPr/>
        </p:nvSpPr>
        <p:spPr>
          <a:xfrm>
            <a:off x="4663440" y="4709160"/>
            <a:ext cx="3017520" cy="137160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Correlation collapses by 2 weeks (0.14 and 0.26), i.e. the response is sub-weekly. They are hydraulically connected, not storage-buffered.</a:t>
            </a:r>
            <a:endParaRPr lang="en-US" sz="1100" dirty="0"/>
          </a:p>
        </p:txBody>
      </p:sp>
      <p:sp>
        <p:nvSpPr>
          <p:cNvPr id="15" name="Shape 12"/>
          <p:cNvSpPr/>
          <p:nvPr/>
        </p:nvSpPr>
        <p:spPr>
          <a:xfrm>
            <a:off x="8183880" y="2423160"/>
            <a:ext cx="3520440" cy="3794760"/>
          </a:xfrm>
          <a:prstGeom prst="roundRect">
            <a:avLst>
              <a:gd name="adj" fmla="val 1558"/>
            </a:avLst>
          </a:prstGeom>
          <a:solidFill>
            <a:srgbClr val="FBEEE9"/>
          </a:solidFill>
          <a:ln w="9525">
            <a:solidFill>
              <a:srgbClr val="B4442E"/>
            </a:solidFill>
            <a:prstDash val="solid"/>
          </a:ln>
        </p:spPr>
      </p:sp>
      <p:sp>
        <p:nvSpPr>
          <p:cNvPr id="16" name="Text 13"/>
          <p:cNvSpPr/>
          <p:nvPr/>
        </p:nvSpPr>
        <p:spPr>
          <a:xfrm>
            <a:off x="8503920" y="2651760"/>
            <a:ext cx="2926080" cy="365760"/>
          </a:xfrm>
          <a:prstGeom prst="rect">
            <a:avLst/>
          </a:prstGeom>
          <a:noFill/>
          <a:ln/>
        </p:spPr>
        <p:txBody>
          <a:bodyPr wrap="square" lIns="0" tIns="0" rIns="0" bIns="0" rtlCol="0" anchor="ctr"/>
          <a:lstStyle/>
          <a:p>
            <a:pPr indent="0" marL="0">
              <a:buNone/>
            </a:pPr>
            <a:r>
              <a:rPr lang="en-US" sz="1600" b="1" dirty="0">
                <a:solidFill>
                  <a:srgbClr val="B4442E"/>
                </a:solidFill>
                <a:latin typeface="Georgia" pitchFamily="34" charset="0"/>
                <a:ea typeface="Georgia" pitchFamily="34" charset="-122"/>
                <a:cs typeface="Georgia" pitchFamily="34" charset="-120"/>
              </a:rPr>
              <a:t>What is still missing</a:t>
            </a:r>
            <a:endParaRPr lang="en-US" sz="1600" dirty="0"/>
          </a:p>
        </p:txBody>
      </p:sp>
      <p:sp>
        <p:nvSpPr>
          <p:cNvPr id="17" name="Text 14"/>
          <p:cNvSpPr/>
          <p:nvPr/>
        </p:nvSpPr>
        <p:spPr>
          <a:xfrm>
            <a:off x="8503920" y="3108960"/>
            <a:ext cx="2926080" cy="2926080"/>
          </a:xfrm>
          <a:prstGeom prst="rect">
            <a:avLst/>
          </a:prstGeom>
          <a:noFill/>
          <a:ln/>
        </p:spPr>
        <p:txBody>
          <a:bodyPr wrap="square" lIns="0" tIns="0" rIns="0" bIns="0" rtlCol="0" anchor="t"/>
          <a:lstStyle/>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Selawik Lake and Hotham Inlet are NOT in the PLD subset I obtained — the 14 lakes cap at 0.57 km2</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Part of that r = 0.85 is shared seasonality, not proof of forcing</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No bathymetry, so no volume or residence time</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No salinity, so the freshwater/marine boundary is unconstrained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8</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Every station, all at once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8</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9_virtual_gauges.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63040"/>
            <a:ext cx="3108960" cy="128016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Twelve virtual gauges, four per river, spaced along each one. Eight sit where no gauge has ever been installed.</a:t>
            </a:r>
            <a:endParaRPr lang="en-US" sz="1250" dirty="0"/>
          </a:p>
        </p:txBody>
      </p:sp>
      <p:sp>
        <p:nvSpPr>
          <p:cNvPr id="9" name="Text 6"/>
          <p:cNvSpPr/>
          <p:nvPr/>
        </p:nvSpPr>
        <p:spPr>
          <a:xfrm>
            <a:off x="8595360" y="2834640"/>
            <a:ext cx="3108960" cy="137160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The Kobuk traces follow the USGS discharge curve (grey) closely. The Selawik traces are visibly flatter and smoother.</a:t>
            </a:r>
            <a:endParaRPr lang="en-US" sz="1200" dirty="0"/>
          </a:p>
        </p:txBody>
      </p:sp>
      <p:sp>
        <p:nvSpPr>
          <p:cNvPr id="10" name="Text 7"/>
          <p:cNvSpPr/>
          <p:nvPr/>
        </p:nvSpPr>
        <p:spPr>
          <a:xfrm>
            <a:off x="8595360" y="4297680"/>
            <a:ext cx="3108960" cy="640080"/>
          </a:xfrm>
          <a:prstGeom prst="rect">
            <a:avLst/>
          </a:prstGeom>
          <a:noFill/>
          <a:ln/>
        </p:spPr>
        <p:txBody>
          <a:bodyPr wrap="square" lIns="0" tIns="0" rIns="0" bIns="0" rtlCol="0" anchor="ctr"/>
          <a:lstStyle/>
          <a:p>
            <a:pPr indent="0" marL="0">
              <a:buNone/>
            </a:pPr>
            <a:r>
              <a:rPr lang="en-US" sz="3200" b="1" dirty="0">
                <a:solidFill>
                  <a:srgbClr val="E8A33D"/>
                </a:solidFill>
                <a:latin typeface="Georgia" pitchFamily="34" charset="0"/>
                <a:ea typeface="Georgia" pitchFamily="34" charset="-122"/>
                <a:cs typeface="Georgia" pitchFamily="34" charset="-120"/>
              </a:rPr>
              <a:t>2.4 cm/km</a:t>
            </a:r>
            <a:endParaRPr lang="en-US" sz="3200" dirty="0"/>
          </a:p>
        </p:txBody>
      </p:sp>
      <p:sp>
        <p:nvSpPr>
          <p:cNvPr id="11" name="Text 8"/>
          <p:cNvSpPr/>
          <p:nvPr/>
        </p:nvSpPr>
        <p:spPr>
          <a:xfrm>
            <a:off x="8595360" y="491947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Selawik gradient:</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4.0 m over 166 km</a:t>
            </a:r>
            <a:endParaRPr lang="en-US" sz="1100" dirty="0"/>
          </a:p>
        </p:txBody>
      </p:sp>
      <p:sp>
        <p:nvSpPr>
          <p:cNvPr id="12" name="Text 9"/>
          <p:cNvSpPr/>
          <p:nvPr/>
        </p:nvSpPr>
        <p:spPr>
          <a:xfrm>
            <a:off x="8595360" y="5577840"/>
            <a:ext cx="3108960" cy="548640"/>
          </a:xfrm>
          <a:prstGeom prst="rect">
            <a:avLst/>
          </a:prstGeom>
          <a:noFill/>
          <a:ln/>
        </p:spPr>
        <p:txBody>
          <a:bodyPr wrap="square" lIns="0" tIns="0" rIns="0" bIns="0" rtlCol="0" anchor="t"/>
          <a:lstStyle/>
          <a:p>
            <a:pPr indent="0" marL="0">
              <a:lnSpc>
                <a:spcPts val="1800"/>
              </a:lnSpc>
              <a:buNone/>
            </a:pPr>
            <a:r>
              <a:rPr lang="en-US" sz="1150" dirty="0">
                <a:solidFill>
                  <a:srgbClr val="5A7284"/>
                </a:solidFill>
                <a:latin typeface="Calibri" pitchFamily="34" charset="0"/>
                <a:ea typeface="Calibri" pitchFamily="34" charset="-122"/>
                <a:cs typeface="Calibri" pitchFamily="34" charset="-120"/>
              </a:rPr>
              <a:t>That is why it is backwater-controlled.</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SYNTHESIS</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 area, end to end</a:t>
            </a:r>
            <a:endParaRPr lang="en-US" sz="2800" dirty="0"/>
          </a:p>
        </p:txBody>
      </p:sp>
      <p:sp>
        <p:nvSpPr>
          <p:cNvPr id="4" name="Shape 2"/>
          <p:cNvSpPr/>
          <p:nvPr/>
        </p:nvSpPr>
        <p:spPr>
          <a:xfrm>
            <a:off x="548640" y="1426464"/>
            <a:ext cx="384048" cy="384048"/>
          </a:xfrm>
          <a:prstGeom prst="ellipse">
            <a:avLst/>
          </a:prstGeom>
          <a:solidFill>
            <a:srgbClr val="2E8BA8"/>
          </a:solidFill>
          <a:ln/>
        </p:spPr>
      </p:sp>
      <p:sp>
        <p:nvSpPr>
          <p:cNvPr id="5" name="Text 3"/>
          <p:cNvSpPr/>
          <p:nvPr/>
        </p:nvSpPr>
        <p:spPr>
          <a:xfrm>
            <a:off x="548640" y="14264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1</a:t>
            </a:r>
            <a:endParaRPr lang="en-US" sz="1300" dirty="0"/>
          </a:p>
        </p:txBody>
      </p:sp>
      <p:sp>
        <p:nvSpPr>
          <p:cNvPr id="6" name="Text 4"/>
          <p:cNvSpPr/>
          <p:nvPr/>
        </p:nvSpPr>
        <p:spPr>
          <a:xfrm>
            <a:off x="1097280" y="1399032"/>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Snowmelt, mid-May</a:t>
            </a:r>
            <a:endParaRPr lang="en-US" sz="1300" dirty="0"/>
          </a:p>
        </p:txBody>
      </p:sp>
      <p:sp>
        <p:nvSpPr>
          <p:cNvPr id="7" name="Text 5"/>
          <p:cNvSpPr/>
          <p:nvPr/>
        </p:nvSpPr>
        <p:spPr>
          <a:xfrm>
            <a:off x="3840480" y="1399032"/>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The Selawik peaks at day 141-145 every observed year and drains into Selawik Lake.</a:t>
            </a:r>
            <a:endParaRPr lang="en-US" sz="1150" dirty="0"/>
          </a:p>
        </p:txBody>
      </p:sp>
      <p:sp>
        <p:nvSpPr>
          <p:cNvPr id="8" name="Shape 6"/>
          <p:cNvSpPr/>
          <p:nvPr/>
        </p:nvSpPr>
        <p:spPr>
          <a:xfrm>
            <a:off x="548640" y="2231136"/>
            <a:ext cx="384048" cy="384048"/>
          </a:xfrm>
          <a:prstGeom prst="ellipse">
            <a:avLst/>
          </a:prstGeom>
          <a:solidFill>
            <a:srgbClr val="2E8BA8"/>
          </a:solidFill>
          <a:ln/>
        </p:spPr>
      </p:sp>
      <p:sp>
        <p:nvSpPr>
          <p:cNvPr id="9" name="Text 7"/>
          <p:cNvSpPr/>
          <p:nvPr/>
        </p:nvSpPr>
        <p:spPr>
          <a:xfrm>
            <a:off x="548640" y="22311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2</a:t>
            </a:r>
            <a:endParaRPr lang="en-US" sz="1300" dirty="0"/>
          </a:p>
        </p:txBody>
      </p:sp>
      <p:sp>
        <p:nvSpPr>
          <p:cNvPr id="10" name="Text 8"/>
          <p:cNvSpPr/>
          <p:nvPr/>
        </p:nvSpPr>
        <p:spPr>
          <a:xfrm>
            <a:off x="1097280" y="2203704"/>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Rain, late August</a:t>
            </a:r>
            <a:endParaRPr lang="en-US" sz="1300" dirty="0"/>
          </a:p>
        </p:txBody>
      </p:sp>
      <p:sp>
        <p:nvSpPr>
          <p:cNvPr id="11" name="Text 9"/>
          <p:cNvSpPr/>
          <p:nvPr/>
        </p:nvSpPr>
        <p:spPr>
          <a:xfrm>
            <a:off x="3840480" y="2203704"/>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The Kobuk and Noatak peak at day 236-251, roughly 100 days later.</a:t>
            </a:r>
            <a:endParaRPr lang="en-US" sz="1150" dirty="0"/>
          </a:p>
        </p:txBody>
      </p:sp>
      <p:sp>
        <p:nvSpPr>
          <p:cNvPr id="12" name="Shape 10"/>
          <p:cNvSpPr/>
          <p:nvPr/>
        </p:nvSpPr>
        <p:spPr>
          <a:xfrm>
            <a:off x="548640" y="3035808"/>
            <a:ext cx="384048" cy="384048"/>
          </a:xfrm>
          <a:prstGeom prst="ellipse">
            <a:avLst/>
          </a:prstGeom>
          <a:solidFill>
            <a:srgbClr val="2E8BA8"/>
          </a:solidFill>
          <a:ln/>
        </p:spPr>
      </p:sp>
      <p:sp>
        <p:nvSpPr>
          <p:cNvPr id="13" name="Text 11"/>
          <p:cNvSpPr/>
          <p:nvPr/>
        </p:nvSpPr>
        <p:spPr>
          <a:xfrm>
            <a:off x="54864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3</a:t>
            </a:r>
            <a:endParaRPr lang="en-US" sz="1300" dirty="0"/>
          </a:p>
        </p:txBody>
      </p:sp>
      <p:sp>
        <p:nvSpPr>
          <p:cNvPr id="14" name="Text 12"/>
          <p:cNvSpPr/>
          <p:nvPr/>
        </p:nvSpPr>
        <p:spPr>
          <a:xfrm>
            <a:off x="1097280" y="3008376"/>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Through the delta</a:t>
            </a:r>
            <a:endParaRPr lang="en-US" sz="1300" dirty="0"/>
          </a:p>
        </p:txBody>
      </p:sp>
      <p:sp>
        <p:nvSpPr>
          <p:cNvPr id="15" name="Text 13"/>
          <p:cNvSpPr/>
          <p:nvPr/>
        </p:nvSpPr>
        <p:spPr>
          <a:xfrm>
            <a:off x="3840480" y="3008376"/>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The Kobuk splits; facc falls from 31,315 to 15,162 km2 and stage drops 3.0 m to 0.7 m.</a:t>
            </a:r>
            <a:endParaRPr lang="en-US" sz="1150" dirty="0"/>
          </a:p>
        </p:txBody>
      </p:sp>
      <p:sp>
        <p:nvSpPr>
          <p:cNvPr id="16" name="Shape 14"/>
          <p:cNvSpPr/>
          <p:nvPr/>
        </p:nvSpPr>
        <p:spPr>
          <a:xfrm>
            <a:off x="548640" y="3840480"/>
            <a:ext cx="384048" cy="384048"/>
          </a:xfrm>
          <a:prstGeom prst="ellipse">
            <a:avLst/>
          </a:prstGeom>
          <a:solidFill>
            <a:srgbClr val="2E8BA8"/>
          </a:solidFill>
          <a:ln/>
        </p:spPr>
      </p:sp>
      <p:sp>
        <p:nvSpPr>
          <p:cNvPr id="17" name="Text 15"/>
          <p:cNvSpPr/>
          <p:nvPr/>
        </p:nvSpPr>
        <p:spPr>
          <a:xfrm>
            <a:off x="548640" y="3840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4</a:t>
            </a:r>
            <a:endParaRPr lang="en-US" sz="1300" dirty="0"/>
          </a:p>
        </p:txBody>
      </p:sp>
      <p:sp>
        <p:nvSpPr>
          <p:cNvPr id="18" name="Text 16"/>
          <p:cNvSpPr/>
          <p:nvPr/>
        </p:nvSpPr>
        <p:spPr>
          <a:xfrm>
            <a:off x="1097280" y="3813048"/>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Into the inlet</a:t>
            </a:r>
            <a:endParaRPr lang="en-US" sz="1300" dirty="0"/>
          </a:p>
        </p:txBody>
      </p:sp>
      <p:sp>
        <p:nvSpPr>
          <p:cNvPr id="19" name="Text 17"/>
          <p:cNvSpPr/>
          <p:nvPr/>
        </p:nvSpPr>
        <p:spPr>
          <a:xfrm>
            <a:off x="3840480" y="3813048"/>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Hotham Inlet and Selawik Lake follow river stage within a week (r = 0.85, 0.87).</a:t>
            </a:r>
            <a:endParaRPr lang="en-US" sz="1150" dirty="0"/>
          </a:p>
        </p:txBody>
      </p:sp>
      <p:sp>
        <p:nvSpPr>
          <p:cNvPr id="20" name="Shape 18"/>
          <p:cNvSpPr/>
          <p:nvPr/>
        </p:nvSpPr>
        <p:spPr>
          <a:xfrm>
            <a:off x="548640" y="4645152"/>
            <a:ext cx="384048" cy="384048"/>
          </a:xfrm>
          <a:prstGeom prst="ellipse">
            <a:avLst/>
          </a:prstGeom>
          <a:solidFill>
            <a:srgbClr val="2E8BA8"/>
          </a:solidFill>
          <a:ln/>
        </p:spPr>
      </p:sp>
      <p:sp>
        <p:nvSpPr>
          <p:cNvPr id="21" name="Text 19"/>
          <p:cNvSpPr/>
          <p:nvPr/>
        </p:nvSpPr>
        <p:spPr>
          <a:xfrm>
            <a:off x="548640" y="46451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5</a:t>
            </a:r>
            <a:endParaRPr lang="en-US" sz="1300" dirty="0"/>
          </a:p>
        </p:txBody>
      </p:sp>
      <p:sp>
        <p:nvSpPr>
          <p:cNvPr id="22" name="Text 20"/>
          <p:cNvSpPr/>
          <p:nvPr/>
        </p:nvSpPr>
        <p:spPr>
          <a:xfrm>
            <a:off x="1097280" y="4617720"/>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Out to the sound</a:t>
            </a:r>
            <a:endParaRPr lang="en-US" sz="1300" dirty="0"/>
          </a:p>
        </p:txBody>
      </p:sp>
      <p:sp>
        <p:nvSpPr>
          <p:cNvPr id="23" name="Text 21"/>
          <p:cNvSpPr/>
          <p:nvPr/>
        </p:nvSpPr>
        <p:spPr>
          <a:xfrm>
            <a:off x="3840480" y="4617720"/>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Kobuk discharge leads inner-sound chlorophyll by ~2 weeks, surviving a sediment control.</a:t>
            </a:r>
            <a:endParaRPr lang="en-US" sz="1150" dirty="0"/>
          </a:p>
        </p:txBody>
      </p:sp>
      <p:sp>
        <p:nvSpPr>
          <p:cNvPr id="24" name="Shape 22"/>
          <p:cNvSpPr/>
          <p:nvPr/>
        </p:nvSpPr>
        <p:spPr>
          <a:xfrm>
            <a:off x="548640" y="5449824"/>
            <a:ext cx="384048" cy="384048"/>
          </a:xfrm>
          <a:prstGeom prst="ellipse">
            <a:avLst/>
          </a:prstGeom>
          <a:solidFill>
            <a:srgbClr val="B4442E"/>
          </a:solidFill>
          <a:ln/>
        </p:spPr>
      </p:sp>
      <p:sp>
        <p:nvSpPr>
          <p:cNvPr id="25" name="Text 23"/>
          <p:cNvSpPr/>
          <p:nvPr/>
        </p:nvSpPr>
        <p:spPr>
          <a:xfrm>
            <a:off x="548640" y="54498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6</a:t>
            </a:r>
            <a:endParaRPr lang="en-US" sz="1300" dirty="0"/>
          </a:p>
        </p:txBody>
      </p:sp>
      <p:sp>
        <p:nvSpPr>
          <p:cNvPr id="26" name="Text 24"/>
          <p:cNvSpPr/>
          <p:nvPr/>
        </p:nvSpPr>
        <p:spPr>
          <a:xfrm>
            <a:off x="1097280" y="5422392"/>
            <a:ext cx="2651760" cy="457200"/>
          </a:xfrm>
          <a:prstGeom prst="rect">
            <a:avLst/>
          </a:prstGeom>
          <a:noFill/>
          <a:ln/>
        </p:spPr>
        <p:txBody>
          <a:bodyPr wrap="square" lIns="0" tIns="0" rIns="0" bIns="0" rtlCol="0" anchor="t"/>
          <a:lstStyle/>
          <a:p>
            <a:pPr indent="0" marL="0">
              <a:buNone/>
            </a:pPr>
            <a:r>
              <a:rPr lang="en-US" sz="1300" b="1" dirty="0">
                <a:solidFill>
                  <a:srgbClr val="B4442E"/>
                </a:solidFill>
                <a:latin typeface="Calibri" pitchFamily="34" charset="0"/>
                <a:ea typeface="Calibri" pitchFamily="34" charset="-122"/>
                <a:cs typeface="Calibri" pitchFamily="34" charset="-120"/>
              </a:rPr>
              <a:t>But the blooms</a:t>
            </a:r>
            <a:endParaRPr lang="en-US" sz="1300" dirty="0"/>
          </a:p>
        </p:txBody>
      </p:sp>
      <p:sp>
        <p:nvSpPr>
          <p:cNvPr id="27" name="Text 25"/>
          <p:cNvSpPr/>
          <p:nvPr/>
        </p:nvSpPr>
        <p:spPr>
          <a:xfrm>
            <a:off x="3840480" y="5422392"/>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The documented toxic blooms are advected in through the Bering Strait. River flow is not their cause.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18872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What this can and cannot tell you</a:t>
            </a:r>
            <a:endParaRPr lang="en-US" sz="3200" dirty="0"/>
          </a:p>
        </p:txBody>
      </p:sp>
      <p:sp>
        <p:nvSpPr>
          <p:cNvPr id="3" name="Text 1"/>
          <p:cNvSpPr/>
          <p:nvPr/>
        </p:nvSpPr>
        <p:spPr>
          <a:xfrm>
            <a:off x="731520" y="2103120"/>
            <a:ext cx="10607040" cy="914400"/>
          </a:xfrm>
          <a:prstGeom prst="rect">
            <a:avLst/>
          </a:prstGeom>
          <a:noFill/>
          <a:ln/>
        </p:spPr>
        <p:txBody>
          <a:bodyPr wrap="square" lIns="0" tIns="0" rIns="0" bIns="0" rtlCol="0" anchor="ctr"/>
          <a:lstStyle/>
          <a:p>
            <a:pPr indent="0" marL="0">
              <a:lnSpc>
                <a:spcPts val="2200"/>
              </a:lnSpc>
              <a:buNone/>
            </a:pPr>
            <a:r>
              <a:rPr lang="en-US" sz="1450" b="1" dirty="0">
                <a:solidFill>
                  <a:srgbClr val="1B7A4B"/>
                </a:solidFill>
                <a:latin typeface="Calibri" pitchFamily="34" charset="0"/>
                <a:ea typeface="Calibri" pitchFamily="34" charset="-122"/>
                <a:cs typeface="Calibri" pitchFamily="34" charset="-120"/>
              </a:rPr>
              <a:t>Can.  </a:t>
            </a:r>
            <a:pPr indent="0" marL="0">
              <a:lnSpc>
                <a:spcPts val="2200"/>
              </a:lnSpc>
              <a:buNone/>
            </a:pPr>
            <a:r>
              <a:rPr lang="en-US" sz="1450" dirty="0">
                <a:solidFill>
                  <a:srgbClr val="CFE0EA"/>
                </a:solidFill>
                <a:latin typeface="Calibri" pitchFamily="34" charset="0"/>
                <a:ea typeface="Calibri" pitchFamily="34" charset="-122"/>
                <a:cs typeface="Calibri" pitchFamily="34" charset="-120"/>
              </a:rPr>
              <a:t>When each river delivers water, how much water level changes and where, how the delta splits it, and how fast the inlet and lake respond. For two of the three rivers, nothing else on Earth provides this.</a:t>
            </a:r>
            <a:endParaRPr lang="en-US" sz="1450" dirty="0"/>
          </a:p>
        </p:txBody>
      </p:sp>
      <p:sp>
        <p:nvSpPr>
          <p:cNvPr id="4" name="Text 2"/>
          <p:cNvSpPr/>
          <p:nvPr/>
        </p:nvSpPr>
        <p:spPr>
          <a:xfrm>
            <a:off x="731520" y="3200400"/>
            <a:ext cx="10607040" cy="1005840"/>
          </a:xfrm>
          <a:prstGeom prst="rect">
            <a:avLst/>
          </a:prstGeom>
          <a:noFill/>
          <a:ln/>
        </p:spPr>
        <p:txBody>
          <a:bodyPr wrap="square" lIns="0" tIns="0" rIns="0" bIns="0" rtlCol="0" anchor="ctr"/>
          <a:lstStyle/>
          <a:p>
            <a:pPr indent="0" marL="0">
              <a:lnSpc>
                <a:spcPts val="2200"/>
              </a:lnSpc>
              <a:buNone/>
            </a:pPr>
            <a:r>
              <a:rPr lang="en-US" sz="1450" b="1" dirty="0">
                <a:solidFill>
                  <a:srgbClr val="E8A33D"/>
                </a:solidFill>
                <a:latin typeface="Calibri" pitchFamily="34" charset="0"/>
                <a:ea typeface="Calibri" pitchFamily="34" charset="-122"/>
                <a:cs typeface="Calibri" pitchFamily="34" charset="-120"/>
              </a:rPr>
              <a:t>Cannot.  </a:t>
            </a:r>
            <a:pPr indent="0" marL="0">
              <a:lnSpc>
                <a:spcPts val="2200"/>
              </a:lnSpc>
              <a:buNone/>
            </a:pPr>
            <a:r>
              <a:rPr lang="en-US" sz="1450" dirty="0">
                <a:solidFill>
                  <a:srgbClr val="CFE0EA"/>
                </a:solidFill>
                <a:latin typeface="Calibri" pitchFamily="34" charset="0"/>
                <a:ea typeface="Calibri" pitchFamily="34" charset="-122"/>
                <a:cs typeface="Calibri" pitchFamily="34" charset="-120"/>
              </a:rPr>
              <a:t>Absolute freshwater flux (SWOT discharge is 2.9x low), flow-wave celerity (three estimators, three failures), attribution from SWOT alone (n = 28-39), or the cause of the harmful algal blooms.</a:t>
            </a:r>
            <a:endParaRPr lang="en-US" sz="1450" dirty="0"/>
          </a:p>
        </p:txBody>
      </p:sp>
      <p:sp>
        <p:nvSpPr>
          <p:cNvPr id="5" name="Shape 3"/>
          <p:cNvSpPr/>
          <p:nvPr/>
        </p:nvSpPr>
        <p:spPr>
          <a:xfrm>
            <a:off x="731520" y="4480560"/>
            <a:ext cx="1371600" cy="41148"/>
          </a:xfrm>
          <a:prstGeom prst="rect">
            <a:avLst/>
          </a:prstGeom>
          <a:solidFill>
            <a:srgbClr val="E8A33D"/>
          </a:solidFill>
          <a:ln/>
        </p:spPr>
      </p:sp>
      <p:sp>
        <p:nvSpPr>
          <p:cNvPr id="6" name="Text 4"/>
          <p:cNvSpPr/>
          <p:nvPr/>
        </p:nvSpPr>
        <p:spPr>
          <a:xfrm>
            <a:off x="731520" y="4800600"/>
            <a:ext cx="10607040" cy="731520"/>
          </a:xfrm>
          <a:prstGeom prst="rect">
            <a:avLst/>
          </a:prstGeom>
          <a:noFill/>
          <a:ln/>
        </p:spPr>
        <p:txBody>
          <a:bodyPr wrap="square" lIns="0" tIns="0" rIns="0" bIns="0" rtlCol="0" anchor="ctr"/>
          <a:lstStyle/>
          <a:p>
            <a:pPr indent="0" marL="0">
              <a:buNone/>
            </a:pPr>
            <a:r>
              <a:rPr lang="en-US" sz="1300" dirty="0">
                <a:solidFill>
                  <a:srgbClr val="2E8BA8"/>
                </a:solidFill>
                <a:latin typeface="Calibri" pitchFamily="34" charset="0"/>
                <a:ea typeface="Calibri" pitchFamily="34" charset="-122"/>
                <a:cs typeface="Calibri" pitchFamily="34" charset="-120"/>
              </a:rPr>
              <a:t>All data public and unauthenticated: PO.DAAC Hydrocron, SWORD v17c and HarP on Zenodo, USGS NWIS, NOAA CoastWatch ERDDAP.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Kotzebue Sound: sequential walkthrough</dc:title>
  <dc:subject>PptxGenJS Presentation</dc:subject>
  <dc:creator>PptxGenJS</dc:creator>
  <cp:lastModifiedBy>PptxGenJS</cp:lastModifiedBy>
  <cp:revision>1</cp:revision>
  <dcterms:created xsi:type="dcterms:W3CDTF">2026-09-20T17:00:11Z</dcterms:created>
  <dcterms:modified xsi:type="dcterms:W3CDTF">2026-09-20T17:00:11Z</dcterms:modified>
</cp:coreProperties>
</file>