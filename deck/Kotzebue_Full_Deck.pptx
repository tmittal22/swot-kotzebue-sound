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F4A"/>
        </a:solidFill>
      </p:bgPr>
    </p:bg>
    <p:spTree>
      <p:nvGrpSpPr>
        <p:cNvPr id="1" name=""/>
        <p:cNvGrpSpPr/>
        <p:nvPr/>
      </p:nvGrpSpPr>
      <p:grpSpPr>
        <a:xfrm>
          <a:off x="0" y="0"/>
          <a:ext cx="0" cy="0"/>
          <a:chOff x="0" y="0"/>
          <a:chExt cx="0" cy="0"/>
        </a:xfrm>
      </p:grpSpPr>
      <p:sp>
        <p:nvSpPr>
          <p:cNvPr id="2" name="Text 0"/>
          <p:cNvSpPr/>
          <p:nvPr/>
        </p:nvSpPr>
        <p:spPr>
          <a:xfrm>
            <a:off x="731520" y="1554480"/>
            <a:ext cx="10607040" cy="86868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Kotzebue Sound from orbit</a:t>
            </a:r>
            <a:endParaRPr lang="en-US" sz="4400" dirty="0"/>
          </a:p>
        </p:txBody>
      </p:sp>
      <p:sp>
        <p:nvSpPr>
          <p:cNvPr id="3" name="Text 1"/>
          <p:cNvSpPr/>
          <p:nvPr/>
        </p:nvSpPr>
        <p:spPr>
          <a:xfrm>
            <a:off x="731520" y="2468880"/>
            <a:ext cx="10424160" cy="457200"/>
          </a:xfrm>
          <a:prstGeom prst="rect">
            <a:avLst/>
          </a:prstGeom>
          <a:noFill/>
          <a:ln/>
        </p:spPr>
        <p:txBody>
          <a:bodyPr wrap="square" lIns="0" tIns="0" rIns="0" bIns="0" rtlCol="0" anchor="ctr"/>
          <a:lstStyle/>
          <a:p>
            <a:pPr indent="0" marL="0">
              <a:buNone/>
            </a:pPr>
            <a:r>
              <a:rPr lang="en-US" sz="1700" dirty="0">
                <a:solidFill>
                  <a:srgbClr val="AECBDB"/>
                </a:solidFill>
                <a:latin typeface="Calibri" pitchFamily="34" charset="0"/>
                <a:ea typeface="Calibri" pitchFamily="34" charset="-122"/>
                <a:cs typeface="Calibri" pitchFamily="34" charset="-120"/>
              </a:rPr>
              <a:t>SWOT satellite altimetry over three Arctic rivers, two of which have never been gauged</a:t>
            </a:r>
            <a:endParaRPr lang="en-US" sz="1700" dirty="0"/>
          </a:p>
        </p:txBody>
      </p:sp>
      <p:sp>
        <p:nvSpPr>
          <p:cNvPr id="4" name="Shape 2"/>
          <p:cNvSpPr/>
          <p:nvPr/>
        </p:nvSpPr>
        <p:spPr>
          <a:xfrm>
            <a:off x="731520" y="3108960"/>
            <a:ext cx="1371600" cy="41148"/>
          </a:xfrm>
          <a:prstGeom prst="rect">
            <a:avLst/>
          </a:prstGeom>
          <a:solidFill>
            <a:srgbClr val="E8A33D"/>
          </a:solidFill>
          <a:ln/>
        </p:spPr>
      </p:sp>
      <p:sp>
        <p:nvSpPr>
          <p:cNvPr id="5" name="Text 3"/>
          <p:cNvSpPr/>
          <p:nvPr/>
        </p:nvSpPr>
        <p:spPr>
          <a:xfrm>
            <a:off x="731520" y="3429000"/>
            <a:ext cx="9875520" cy="914400"/>
          </a:xfrm>
          <a:prstGeom prst="rect">
            <a:avLst/>
          </a:prstGeom>
          <a:noFill/>
          <a:ln/>
        </p:spPr>
        <p:txBody>
          <a:bodyPr wrap="square" lIns="0" tIns="0" rIns="0" bIns="0" rtlCol="0" anchor="t"/>
          <a:lstStyle/>
          <a:p>
            <a:pPr indent="0" marL="0">
              <a:lnSpc>
                <a:spcPts val="1800"/>
              </a:lnSpc>
              <a:buNone/>
            </a:pPr>
            <a:r>
              <a:rPr lang="en-US" sz="1450" dirty="0">
                <a:solidFill>
                  <a:srgbClr val="AECBDB"/>
                </a:solidFill>
                <a:latin typeface="Calibri" pitchFamily="34" charset="0"/>
                <a:ea typeface="Calibri" pitchFamily="34" charset="-122"/>
                <a:cs typeface="Calibri" pitchFamily="34" charset="-120"/>
              </a:rPr>
              <a:t>A complete walkthrough: how the data are named and cleaned, what every figure shows and what it means, where the analysis succeeds, and the three places it fails.</a:t>
            </a:r>
            <a:endParaRPr lang="en-US" sz="1450" dirty="0"/>
          </a:p>
        </p:txBody>
      </p:sp>
      <p:sp>
        <p:nvSpPr>
          <p:cNvPr id="6" name="Text 4"/>
          <p:cNvSpPr/>
          <p:nvPr/>
        </p:nvSpPr>
        <p:spPr>
          <a:xfrm>
            <a:off x="731520" y="5760720"/>
            <a:ext cx="10607040" cy="320040"/>
          </a:xfrm>
          <a:prstGeom prst="rect">
            <a:avLst/>
          </a:prstGeom>
          <a:noFill/>
          <a:ln/>
        </p:spPr>
        <p:txBody>
          <a:bodyPr wrap="square" lIns="0" tIns="0" rIns="0" bIns="0" rtlCol="0" anchor="ctr"/>
          <a:lstStyle/>
          <a:p>
            <a:pPr indent="0" marL="0">
              <a:buNone/>
            </a:pPr>
            <a:r>
              <a:rPr lang="en-US" sz="1300" dirty="0">
                <a:solidFill>
                  <a:srgbClr val="2E8BA8"/>
                </a:solidFill>
                <a:latin typeface="Calibri" pitchFamily="34" charset="0"/>
                <a:ea typeface="Calibri" pitchFamily="34" charset="-122"/>
                <a:cs typeface="Calibri" pitchFamily="34" charset="-120"/>
              </a:rPr>
              <a:t>github.com/tmittal22/swot-kotzebue-sound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MOTIVATION</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The question, and why it was unanswerable</a:t>
            </a:r>
            <a:endParaRPr lang="en-US" sz="2700" dirty="0"/>
          </a:p>
        </p:txBody>
      </p:sp>
      <p:sp>
        <p:nvSpPr>
          <p:cNvPr id="4" name="Text 2"/>
          <p:cNvSpPr/>
          <p:nvPr/>
        </p:nvSpPr>
        <p:spPr>
          <a:xfrm>
            <a:off x="548640" y="1371600"/>
            <a:ext cx="6492240" cy="2377440"/>
          </a:xfrm>
          <a:prstGeom prst="rect">
            <a:avLst/>
          </a:prstGeom>
          <a:noFill/>
          <a:ln/>
        </p:spPr>
        <p:txBody>
          <a:bodyPr wrap="square" lIns="0" tIns="0" rIns="0" bIns="0" rtlCol="0" anchor="t"/>
          <a:lstStyle/>
          <a:p>
            <a:pPr marL="342900" indent="-342900">
              <a:lnSpc>
                <a:spcPts val="1800"/>
              </a:lnSpc>
              <a:buSzPct val="100000"/>
              <a:buChar char="•"/>
            </a:pPr>
            <a:r>
              <a:rPr lang="en-US" sz="1400" dirty="0">
                <a:solidFill>
                  <a:srgbClr val="20303C"/>
                </a:solidFill>
                <a:latin typeface="Calibri" pitchFamily="34" charset="0"/>
                <a:ea typeface="Calibri" pitchFamily="34" charset="-122"/>
                <a:cs typeface="Calibri" pitchFamily="34" charset="-120"/>
              </a:rPr>
              <a:t>Kotzebue Sound has become a focus of harmful algal bloom concern in the Pacific Arctic.</a:t>
            </a:r>
            <a:endParaRPr lang="en-US" sz="1400" dirty="0"/>
          </a:p>
          <a:p>
            <a:pPr marL="342900" indent="-342900">
              <a:lnSpc>
                <a:spcPts val="1800"/>
              </a:lnSpc>
              <a:buSzPct val="100000"/>
              <a:buChar char="•"/>
            </a:pPr>
            <a:r>
              <a:rPr lang="en-US" sz="1400" dirty="0">
                <a:solidFill>
                  <a:srgbClr val="20303C"/>
                </a:solidFill>
                <a:latin typeface="Calibri" pitchFamily="34" charset="0"/>
                <a:ea typeface="Calibri" pitchFamily="34" charset="-122"/>
                <a:cs typeface="Calibri" pitchFamily="34" charset="-120"/>
              </a:rPr>
              <a:t>Freshwater timing plausibly matters: stratification, terrestrial nutrient delivery, and flushing of the lagoon complex.</a:t>
            </a:r>
            <a:endParaRPr lang="en-US" sz="1400" dirty="0"/>
          </a:p>
          <a:p>
            <a:pPr marL="342900" indent="-342900">
              <a:lnSpc>
                <a:spcPts val="1800"/>
              </a:lnSpc>
              <a:buSzPct val="100000"/>
              <a:buChar char="•"/>
            </a:pPr>
            <a:r>
              <a:rPr lang="en-US" sz="1400" dirty="0">
                <a:solidFill>
                  <a:srgbClr val="20303C"/>
                </a:solidFill>
                <a:latin typeface="Calibri" pitchFamily="34" charset="0"/>
                <a:ea typeface="Calibri" pitchFamily="34" charset="-122"/>
                <a:cs typeface="Calibri" pitchFamily="34" charset="-120"/>
              </a:rPr>
              <a:t>So: when does each river deliver its water, and does that overlap the bloom window?</a:t>
            </a:r>
            <a:endParaRPr lang="en-US" sz="1400" dirty="0"/>
          </a:p>
          <a:p>
            <a:pPr marL="342900" indent="-342900">
              <a:lnSpc>
                <a:spcPts val="1800"/>
              </a:lnSpc>
              <a:buSzPct val="100000"/>
              <a:buChar char="•"/>
            </a:pPr>
            <a:r>
              <a:rPr lang="en-US" sz="1400" dirty="0">
                <a:solidFill>
                  <a:srgbClr val="20303C"/>
                </a:solidFill>
                <a:latin typeface="Calibri" pitchFamily="34" charset="0"/>
                <a:ea typeface="Calibri" pitchFamily="34" charset="-122"/>
                <a:cs typeface="Calibri" pitchFamily="34" charset="-120"/>
              </a:rPr>
              <a:t>Until SWOT this was unanswerable, because the rivers are not gauged.</a:t>
            </a:r>
            <a:endParaRPr lang="en-US" sz="1400" dirty="0"/>
          </a:p>
        </p:txBody>
      </p:sp>
      <p:sp>
        <p:nvSpPr>
          <p:cNvPr id="5" name="Text 3"/>
          <p:cNvSpPr/>
          <p:nvPr/>
        </p:nvSpPr>
        <p:spPr>
          <a:xfrm>
            <a:off x="548640" y="4023360"/>
            <a:ext cx="2103120" cy="603504"/>
          </a:xfrm>
          <a:prstGeom prst="rect">
            <a:avLst/>
          </a:prstGeom>
          <a:noFill/>
          <a:ln/>
        </p:spPr>
        <p:txBody>
          <a:bodyPr wrap="square" lIns="0" tIns="0" rIns="0" bIns="0" rtlCol="0" anchor="ctr"/>
          <a:lstStyle/>
          <a:p>
            <a:pPr indent="0" marL="0">
              <a:buNone/>
            </a:pPr>
            <a:r>
              <a:rPr lang="en-US" sz="2900" b="1" dirty="0">
                <a:solidFill>
                  <a:srgbClr val="2E8BA8"/>
                </a:solidFill>
                <a:latin typeface="Georgia" pitchFamily="34" charset="0"/>
                <a:ea typeface="Georgia" pitchFamily="34" charset="-122"/>
                <a:cs typeface="Georgia" pitchFamily="34" charset="-120"/>
              </a:rPr>
              <a:t>3</a:t>
            </a:r>
            <a:endParaRPr lang="en-US" sz="2900" dirty="0"/>
          </a:p>
        </p:txBody>
      </p:sp>
      <p:sp>
        <p:nvSpPr>
          <p:cNvPr id="6" name="Text 4"/>
          <p:cNvSpPr/>
          <p:nvPr/>
        </p:nvSpPr>
        <p:spPr>
          <a:xfrm>
            <a:off x="548640" y="4608576"/>
            <a:ext cx="210312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active NWIS gauges in the</a:t>
            </a:r>
            <a:endParaRPr lang="en-US" sz="1050" dirty="0"/>
          </a:p>
          <a:p>
            <a:pPr indent="0" marL="0">
              <a:buNone/>
            </a:pPr>
            <a:r>
              <a:rPr lang="en-US" sz="1050" dirty="0">
                <a:solidFill>
                  <a:srgbClr val="5A7284"/>
                </a:solidFill>
                <a:latin typeface="Calibri" pitchFamily="34" charset="0"/>
                <a:ea typeface="Calibri" pitchFamily="34" charset="-122"/>
                <a:cs typeface="Calibri" pitchFamily="34" charset="-120"/>
              </a:rPr>
              <a:t>whole domain</a:t>
            </a:r>
            <a:endParaRPr lang="en-US" sz="1050" dirty="0"/>
          </a:p>
        </p:txBody>
      </p:sp>
      <p:sp>
        <p:nvSpPr>
          <p:cNvPr id="7" name="Text 5"/>
          <p:cNvSpPr/>
          <p:nvPr/>
        </p:nvSpPr>
        <p:spPr>
          <a:xfrm>
            <a:off x="2926080" y="4023360"/>
            <a:ext cx="2103120" cy="603504"/>
          </a:xfrm>
          <a:prstGeom prst="rect">
            <a:avLst/>
          </a:prstGeom>
          <a:noFill/>
          <a:ln/>
        </p:spPr>
        <p:txBody>
          <a:bodyPr wrap="square" lIns="0" tIns="0" rIns="0" bIns="0" rtlCol="0" anchor="ctr"/>
          <a:lstStyle/>
          <a:p>
            <a:pPr indent="0" marL="0">
              <a:buNone/>
            </a:pPr>
            <a:r>
              <a:rPr lang="en-US" sz="2900" b="1" dirty="0">
                <a:solidFill>
                  <a:srgbClr val="2E8BA8"/>
                </a:solidFill>
                <a:latin typeface="Georgia" pitchFamily="34" charset="0"/>
                <a:ea typeface="Georgia" pitchFamily="34" charset="-122"/>
                <a:cs typeface="Georgia" pitchFamily="34" charset="-120"/>
              </a:rPr>
              <a:t>1</a:t>
            </a:r>
            <a:endParaRPr lang="en-US" sz="2900" dirty="0"/>
          </a:p>
        </p:txBody>
      </p:sp>
      <p:sp>
        <p:nvSpPr>
          <p:cNvPr id="8" name="Text 6"/>
          <p:cNvSpPr/>
          <p:nvPr/>
        </p:nvSpPr>
        <p:spPr>
          <a:xfrm>
            <a:off x="2926080" y="4608576"/>
            <a:ext cx="210312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on a major river</a:t>
            </a:r>
            <a:endParaRPr lang="en-US" sz="1050" dirty="0"/>
          </a:p>
          <a:p>
            <a:pPr indent="0" marL="0">
              <a:buNone/>
            </a:pPr>
            <a:r>
              <a:rPr lang="en-US" sz="1050" dirty="0">
                <a:solidFill>
                  <a:srgbClr val="5A7284"/>
                </a:solidFill>
                <a:latin typeface="Calibri" pitchFamily="34" charset="0"/>
                <a:ea typeface="Calibri" pitchFamily="34" charset="-122"/>
                <a:cs typeface="Calibri" pitchFamily="34" charset="-120"/>
              </a:rPr>
              <a:t>(Kobuk at Kiana)</a:t>
            </a:r>
            <a:endParaRPr lang="en-US" sz="1050" dirty="0"/>
          </a:p>
        </p:txBody>
      </p:sp>
      <p:sp>
        <p:nvSpPr>
          <p:cNvPr id="9" name="Text 7"/>
          <p:cNvSpPr/>
          <p:nvPr/>
        </p:nvSpPr>
        <p:spPr>
          <a:xfrm>
            <a:off x="5303520" y="4023360"/>
            <a:ext cx="2103120" cy="603504"/>
          </a:xfrm>
          <a:prstGeom prst="rect">
            <a:avLst/>
          </a:prstGeom>
          <a:noFill/>
          <a:ln/>
        </p:spPr>
        <p:txBody>
          <a:bodyPr wrap="square" lIns="0" tIns="0" rIns="0" bIns="0" rtlCol="0" anchor="ctr"/>
          <a:lstStyle/>
          <a:p>
            <a:pPr indent="0" marL="0">
              <a:buNone/>
            </a:pPr>
            <a:r>
              <a:rPr lang="en-US" sz="2900" b="1" dirty="0">
                <a:solidFill>
                  <a:srgbClr val="E8A33D"/>
                </a:solidFill>
                <a:latin typeface="Georgia" pitchFamily="34" charset="0"/>
                <a:ea typeface="Georgia" pitchFamily="34" charset="-122"/>
                <a:cs typeface="Georgia" pitchFamily="34" charset="-120"/>
              </a:rPr>
              <a:t>0</a:t>
            </a:r>
            <a:endParaRPr lang="en-US" sz="2900" dirty="0"/>
          </a:p>
        </p:txBody>
      </p:sp>
      <p:sp>
        <p:nvSpPr>
          <p:cNvPr id="10" name="Text 8"/>
          <p:cNvSpPr/>
          <p:nvPr/>
        </p:nvSpPr>
        <p:spPr>
          <a:xfrm>
            <a:off x="5303520" y="4608576"/>
            <a:ext cx="210312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on the Selawik or Noatak,</a:t>
            </a:r>
            <a:endParaRPr lang="en-US" sz="1050" dirty="0"/>
          </a:p>
          <a:p>
            <a:pPr indent="0" marL="0">
              <a:buNone/>
            </a:pPr>
            <a:r>
              <a:rPr lang="en-US" sz="1050" dirty="0">
                <a:solidFill>
                  <a:srgbClr val="5A7284"/>
                </a:solidFill>
                <a:latin typeface="Calibri" pitchFamily="34" charset="0"/>
                <a:ea typeface="Calibri" pitchFamily="34" charset="-122"/>
                <a:cs typeface="Calibri" pitchFamily="34" charset="-120"/>
              </a:rPr>
              <a:t>ever</a:t>
            </a:r>
            <a:endParaRPr lang="en-US" sz="1050" dirty="0"/>
          </a:p>
        </p:txBody>
      </p:sp>
      <p:sp>
        <p:nvSpPr>
          <p:cNvPr id="11" name="Shape 9"/>
          <p:cNvSpPr/>
          <p:nvPr/>
        </p:nvSpPr>
        <p:spPr>
          <a:xfrm>
            <a:off x="7525512" y="1307592"/>
            <a:ext cx="4242816" cy="2871216"/>
          </a:xfrm>
          <a:prstGeom prst="roundRect">
            <a:avLst>
              <a:gd name="adj" fmla="val 1911"/>
            </a:avLst>
          </a:prstGeom>
          <a:solidFill>
            <a:srgbClr val="F2F6F8"/>
          </a:solidFill>
          <a:ln w="9525">
            <a:solidFill>
              <a:srgbClr val="2E8BA8"/>
            </a:solidFill>
            <a:prstDash val="solid"/>
          </a:ln>
        </p:spPr>
      </p:sp>
      <p:pic>
        <p:nvPicPr>
          <p:cNvPr id="12" name="Image 0" descr="/media/tmittal/extradrive1/swot_kotzebue/figs/fig06_satellite_basemap.png">    </p:cNvPr>
          <p:cNvPicPr>
            <a:picLocks noChangeAspect="1"/>
          </p:cNvPicPr>
          <p:nvPr/>
        </p:nvPicPr>
        <p:blipFill>
          <a:blip r:embed="rId1"/>
          <a:srcRect l="0" r="0" t="0" b="0"/>
          <a:stretch/>
        </p:blipFill>
        <p:spPr>
          <a:xfrm>
            <a:off x="7589520" y="1371600"/>
            <a:ext cx="4114800" cy="2743200"/>
          </a:xfrm>
          <a:prstGeom prst="rect">
            <a:avLst/>
          </a:prstGeom>
        </p:spPr>
      </p:pic>
      <p:sp>
        <p:nvSpPr>
          <p:cNvPr id="13" name="Text 10"/>
          <p:cNvSpPr/>
          <p:nvPr/>
        </p:nvSpPr>
        <p:spPr>
          <a:xfrm>
            <a:off x="7589520" y="4297680"/>
            <a:ext cx="4114800" cy="1645920"/>
          </a:xfrm>
          <a:prstGeom prst="rect">
            <a:avLst/>
          </a:prstGeom>
          <a:noFill/>
          <a:ln/>
        </p:spPr>
        <p:txBody>
          <a:bodyPr wrap="square" lIns="0" tIns="0" rIns="0" bIns="0" rtlCol="0" anchor="t"/>
          <a:lstStyle/>
          <a:p>
            <a:pPr indent="0" marL="0">
              <a:lnSpc>
                <a:spcPts val="1800"/>
              </a:lnSpc>
              <a:buNone/>
            </a:pPr>
            <a:r>
              <a:rPr lang="en-US" sz="1200" dirty="0">
                <a:solidFill>
                  <a:srgbClr val="20303C"/>
                </a:solidFill>
                <a:latin typeface="Calibri" pitchFamily="34" charset="0"/>
                <a:ea typeface="Calibri" pitchFamily="34" charset="-122"/>
                <a:cs typeface="Calibri" pitchFamily="34" charset="-120"/>
              </a:rPr>
              <a:t>Gleason et al. (2026) find Arctic, multi-channel and ungauged rivers are exactly where global river models fail. That is the argument for treating this basin observationally rather than through a model.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PROVENANCE</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The two papers this follows</a:t>
            </a:r>
            <a:endParaRPr lang="en-US" sz="2700" dirty="0"/>
          </a:p>
        </p:txBody>
      </p:sp>
      <p:sp>
        <p:nvSpPr>
          <p:cNvPr id="4" name="Shape 2"/>
          <p:cNvSpPr/>
          <p:nvPr/>
        </p:nvSpPr>
        <p:spPr>
          <a:xfrm>
            <a:off x="548640" y="1371600"/>
            <a:ext cx="5394960" cy="3108960"/>
          </a:xfrm>
          <a:prstGeom prst="roundRect">
            <a:avLst>
              <a:gd name="adj" fmla="val 1765"/>
            </a:avLst>
          </a:prstGeom>
          <a:solidFill>
            <a:srgbClr val="F2F6F8"/>
          </a:solidFill>
          <a:ln w="10795">
            <a:solidFill>
              <a:srgbClr val="2E8BA8"/>
            </a:solidFill>
            <a:prstDash val="solid"/>
          </a:ln>
        </p:spPr>
      </p:sp>
      <p:sp>
        <p:nvSpPr>
          <p:cNvPr id="5" name="Text 3"/>
          <p:cNvSpPr/>
          <p:nvPr/>
        </p:nvSpPr>
        <p:spPr>
          <a:xfrm>
            <a:off x="868680" y="1572768"/>
            <a:ext cx="4754880" cy="347472"/>
          </a:xfrm>
          <a:prstGeom prst="rect">
            <a:avLst/>
          </a:prstGeom>
          <a:noFill/>
          <a:ln/>
        </p:spPr>
        <p:txBody>
          <a:bodyPr wrap="square" lIns="0" tIns="0" rIns="0" bIns="0" rtlCol="0" anchor="ctr"/>
          <a:lstStyle/>
          <a:p>
            <a:pPr indent="0" marL="0">
              <a:buNone/>
            </a:pPr>
            <a:r>
              <a:rPr lang="en-US" sz="1500" b="1" dirty="0">
                <a:solidFill>
                  <a:srgbClr val="0B2F4A"/>
                </a:solidFill>
                <a:latin typeface="Georgia" pitchFamily="34" charset="0"/>
                <a:ea typeface="Georgia" pitchFamily="34" charset="-122"/>
                <a:cs typeface="Georgia" pitchFamily="34" charset="-120"/>
              </a:rPr>
              <a:t>Thurman et al. 2025, GRL</a:t>
            </a:r>
            <a:endParaRPr lang="en-US" sz="1500" dirty="0"/>
          </a:p>
        </p:txBody>
      </p:sp>
      <p:sp>
        <p:nvSpPr>
          <p:cNvPr id="6" name="Text 4"/>
          <p:cNvSpPr/>
          <p:nvPr/>
        </p:nvSpPr>
        <p:spPr>
          <a:xfrm>
            <a:off x="868680" y="1828800"/>
            <a:ext cx="4754880" cy="274320"/>
          </a:xfrm>
          <a:prstGeom prst="rect">
            <a:avLst/>
          </a:prstGeom>
          <a:noFill/>
          <a:ln/>
        </p:spPr>
        <p:txBody>
          <a:bodyPr wrap="square" lIns="0" tIns="0" rIns="0" bIns="0" rtlCol="0" anchor="t"/>
          <a:lstStyle/>
          <a:p>
            <a:pPr indent="0" marL="0">
              <a:lnSpc>
                <a:spcPts val="1800"/>
              </a:lnSpc>
              <a:buNone/>
            </a:pPr>
            <a:r>
              <a:rPr lang="en-US" sz="1050" dirty="0">
                <a:solidFill>
                  <a:srgbClr val="2E8BA8"/>
                </a:solidFill>
                <a:latin typeface="Calibri" pitchFamily="34" charset="0"/>
                <a:ea typeface="Calibri" pitchFamily="34" charset="-122"/>
                <a:cs typeface="Calibri" pitchFamily="34" charset="-120"/>
              </a:rPr>
              <a:t>10.1029/2024GL113875</a:t>
            </a:r>
            <a:endParaRPr lang="en-US" sz="1050" dirty="0"/>
          </a:p>
        </p:txBody>
      </p:sp>
      <p:sp>
        <p:nvSpPr>
          <p:cNvPr id="7" name="Text 5"/>
          <p:cNvSpPr/>
          <p:nvPr/>
        </p:nvSpPr>
        <p:spPr>
          <a:xfrm>
            <a:off x="868680" y="2194560"/>
            <a:ext cx="4754880" cy="2103120"/>
          </a:xfrm>
          <a:prstGeom prst="rect">
            <a:avLst/>
          </a:prstGeom>
          <a:noFill/>
          <a:ln/>
        </p:spPr>
        <p:txBody>
          <a:bodyPr wrap="square" lIns="0" tIns="0" rIns="0" bIns="0" rtlCol="0" anchor="t"/>
          <a:lstStyle/>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Spatial hydrographs: subtract a reference long profile from node WSE</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Wave length from runs of nodes above their own 90th percentile</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Celerity from a SWOT peak plus a gauge peak</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Explicitly did NOT use discharge — it was not yet available</a:t>
            </a:r>
            <a:endParaRPr lang="en-US" sz="1100" dirty="0"/>
          </a:p>
        </p:txBody>
      </p:sp>
      <p:sp>
        <p:nvSpPr>
          <p:cNvPr id="8" name="Shape 6"/>
          <p:cNvSpPr/>
          <p:nvPr/>
        </p:nvSpPr>
        <p:spPr>
          <a:xfrm>
            <a:off x="6263640" y="1371600"/>
            <a:ext cx="5394960" cy="3108960"/>
          </a:xfrm>
          <a:prstGeom prst="roundRect">
            <a:avLst>
              <a:gd name="adj" fmla="val 1765"/>
            </a:avLst>
          </a:prstGeom>
          <a:solidFill>
            <a:srgbClr val="F2F6F8"/>
          </a:solidFill>
          <a:ln w="10795">
            <a:solidFill>
              <a:srgbClr val="2E8BA8"/>
            </a:solidFill>
            <a:prstDash val="solid"/>
          </a:ln>
        </p:spPr>
      </p:sp>
      <p:sp>
        <p:nvSpPr>
          <p:cNvPr id="9" name="Text 7"/>
          <p:cNvSpPr/>
          <p:nvPr/>
        </p:nvSpPr>
        <p:spPr>
          <a:xfrm>
            <a:off x="6583680" y="1572768"/>
            <a:ext cx="4754880" cy="347472"/>
          </a:xfrm>
          <a:prstGeom prst="rect">
            <a:avLst/>
          </a:prstGeom>
          <a:noFill/>
          <a:ln/>
        </p:spPr>
        <p:txBody>
          <a:bodyPr wrap="square" lIns="0" tIns="0" rIns="0" bIns="0" rtlCol="0" anchor="ctr"/>
          <a:lstStyle/>
          <a:p>
            <a:pPr indent="0" marL="0">
              <a:buNone/>
            </a:pPr>
            <a:r>
              <a:rPr lang="en-US" sz="1500" b="1" dirty="0">
                <a:solidFill>
                  <a:srgbClr val="0B2F4A"/>
                </a:solidFill>
                <a:latin typeface="Georgia" pitchFamily="34" charset="0"/>
                <a:ea typeface="Georgia" pitchFamily="34" charset="-122"/>
                <a:cs typeface="Georgia" pitchFamily="34" charset="-120"/>
              </a:rPr>
              <a:t>Gleason et al. 2026, GRL</a:t>
            </a:r>
            <a:endParaRPr lang="en-US" sz="1500" dirty="0"/>
          </a:p>
        </p:txBody>
      </p:sp>
      <p:sp>
        <p:nvSpPr>
          <p:cNvPr id="10" name="Text 8"/>
          <p:cNvSpPr/>
          <p:nvPr/>
        </p:nvSpPr>
        <p:spPr>
          <a:xfrm>
            <a:off x="6583680" y="1828800"/>
            <a:ext cx="4754880" cy="274320"/>
          </a:xfrm>
          <a:prstGeom prst="rect">
            <a:avLst/>
          </a:prstGeom>
          <a:noFill/>
          <a:ln/>
        </p:spPr>
        <p:txBody>
          <a:bodyPr wrap="square" lIns="0" tIns="0" rIns="0" bIns="0" rtlCol="0" anchor="t"/>
          <a:lstStyle/>
          <a:p>
            <a:pPr indent="0" marL="0">
              <a:lnSpc>
                <a:spcPts val="1800"/>
              </a:lnSpc>
              <a:buNone/>
            </a:pPr>
            <a:r>
              <a:rPr lang="en-US" sz="1050" dirty="0">
                <a:solidFill>
                  <a:srgbClr val="2E8BA8"/>
                </a:solidFill>
                <a:latin typeface="Calibri" pitchFamily="34" charset="0"/>
                <a:ea typeface="Calibri" pitchFamily="34" charset="-122"/>
                <a:cs typeface="Calibri" pitchFamily="34" charset="-120"/>
              </a:rPr>
              <a:t>10.1029/2026GL124323</a:t>
            </a:r>
            <a:endParaRPr lang="en-US" sz="1050" dirty="0"/>
          </a:p>
        </p:txBody>
      </p:sp>
      <p:sp>
        <p:nvSpPr>
          <p:cNvPr id="11" name="Text 9"/>
          <p:cNvSpPr/>
          <p:nvPr/>
        </p:nvSpPr>
        <p:spPr>
          <a:xfrm>
            <a:off x="6583680" y="2194560"/>
            <a:ext cx="4754880" cy="2103120"/>
          </a:xfrm>
          <a:prstGeom prst="rect">
            <a:avLst/>
          </a:prstGeom>
          <a:noFill/>
          <a:ln/>
        </p:spPr>
        <p:txBody>
          <a:bodyPr wrap="square" lIns="0" tIns="0" rIns="0" bIns="0" rtlCol="0" anchor="t"/>
          <a:lstStyle/>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68,347 reaches, ~38% of global discharge</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Uses SWOT observations as the standard for judging MODELS</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Models struggle in developed, multi-channel, arid and Arctic basins</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Neither paper claims SWOT discharge is accurate</a:t>
            </a:r>
            <a:endParaRPr lang="en-US" sz="1100" dirty="0"/>
          </a:p>
        </p:txBody>
      </p:sp>
      <p:sp>
        <p:nvSpPr>
          <p:cNvPr id="12" name="Text 10"/>
          <p:cNvSpPr/>
          <p:nvPr/>
        </p:nvSpPr>
        <p:spPr>
          <a:xfrm>
            <a:off x="548640" y="4754880"/>
            <a:ext cx="11155680" cy="731520"/>
          </a:xfrm>
          <a:prstGeom prst="rect">
            <a:avLst/>
          </a:prstGeom>
          <a:noFill/>
          <a:ln/>
        </p:spPr>
        <p:txBody>
          <a:bodyPr wrap="square" lIns="0" tIns="0" rIns="0" bIns="0" rtlCol="0" anchor="t"/>
          <a:lstStyle/>
          <a:p>
            <a:pPr indent="0" marL="0">
              <a:lnSpc>
                <a:spcPts val="1800"/>
              </a:lnSpc>
              <a:buNone/>
            </a:pPr>
            <a:r>
              <a:rPr lang="en-US" sz="1150" dirty="0">
                <a:solidFill>
                  <a:srgbClr val="5A7284"/>
                </a:solidFill>
                <a:latin typeface="Calibri" pitchFamily="34" charset="0"/>
                <a:ea typeface="Calibri" pitchFamily="34" charset="-122"/>
                <a:cs typeface="Calibri" pitchFamily="34" charset="-120"/>
              </a:rPr>
              <a:t>Thurman read in full via Scholar Gateway (Wiley returns HTTP 403 to automated fetches). Gleason is not yet in the full-text corpus, so those notes come from the abstract and 74 references via OpenAlex, and say so.</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Where every number comes from</a:t>
            </a:r>
            <a:endParaRPr lang="en-US" sz="2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55680" cy="914400"/>
        </p:xfrm>
        <a:graphic>
          <a:graphicData uri="http://schemas.openxmlformats.org/drawingml/2006/table">
            <a:tbl>
              <a:tblPr/>
              <a:tblGrid>
                <a:gridCol w="2377440"/>
                <a:gridCol w="3749040"/>
                <a:gridCol w="3566160"/>
                <a:gridCol w="1463040"/>
              </a:tblGrid>
              <a:tr h="34747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Product</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Gives</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Auth</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r>
              <a:tr h="347472">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PO.DAAC Hydrocron</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SWOT L2_HR_RiverSP Version D</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reach + node WSE, width, slope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47472">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PO.DAAC Hydrocron</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SWOT L2_HR_RiverSP 2.0 + L4 SoS</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discharge estimates</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47472">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PO.DAAC Hydrocron</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SWOT L2_HR_LakeSP PriorLake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lake water level</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47472">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Zenodo 22259077</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SWORD v17c + v17b/v16 table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network topology, IDs</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47472">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Zenodo 14205131</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HarP intersected SWORD-PLD</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PLD lake IDs</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47472">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USGS NWIS</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daily + 15-min records</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the one validation gauge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47472">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NOAA CoastWatch</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VIIRS chl, nLw(671), Kd(PAR)</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bloom season, turbidity</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5" name="Text 2"/>
          <p:cNvSpPr/>
          <p:nvPr/>
        </p:nvSpPr>
        <p:spPr>
          <a:xfrm>
            <a:off x="548640" y="4343400"/>
            <a:ext cx="11155680" cy="731520"/>
          </a:xfrm>
          <a:prstGeom prst="rect">
            <a:avLst/>
          </a:prstGeom>
          <a:noFill/>
          <a:ln/>
        </p:spPr>
        <p:txBody>
          <a:bodyPr wrap="square" lIns="0" tIns="0" rIns="0" bIns="0" rtlCol="0" anchor="t"/>
          <a:lstStyle/>
          <a:p>
            <a:pPr indent="0" marL="0">
              <a:lnSpc>
                <a:spcPts val="1800"/>
              </a:lnSpc>
              <a:buNone/>
            </a:pPr>
            <a:r>
              <a:rPr lang="en-US" sz="1200" dirty="0">
                <a:solidFill>
                  <a:srgbClr val="E8A33D"/>
                </a:solidFill>
                <a:latin typeface="Calibri" pitchFamily="34" charset="0"/>
                <a:ea typeface="Calibri" pitchFamily="34" charset="-122"/>
                <a:cs typeface="Calibri" pitchFamily="34" charset="-120"/>
              </a:rPr>
              <a:t>Not used: SWOT L2_HR_Raster and PIXC — the true gridded imagery. Those need an Earthdata Login, which this analysis deliberately avoided so the whole pipeline runs with no credentials.</a:t>
            </a:r>
            <a:endParaRPr lang="en-US" sz="1200" dirty="0"/>
          </a:p>
        </p:txBody>
      </p:sp>
      <p:sp>
        <p:nvSpPr>
          <p:cNvPr id="6" name="Text 3"/>
          <p:cNvSpPr/>
          <p:nvPr/>
        </p:nvSpPr>
        <p:spPr>
          <a:xfrm>
            <a:off x="548640" y="5212080"/>
            <a:ext cx="2377440" cy="603504"/>
          </a:xfrm>
          <a:prstGeom prst="rect">
            <a:avLst/>
          </a:prstGeom>
          <a:noFill/>
          <a:ln/>
        </p:spPr>
        <p:txBody>
          <a:bodyPr wrap="square" lIns="0" tIns="0" rIns="0" bIns="0" rtlCol="0" anchor="ctr"/>
          <a:lstStyle/>
          <a:p>
            <a:pPr indent="0" marL="0">
              <a:buNone/>
            </a:pPr>
            <a:r>
              <a:rPr lang="en-US" sz="2900" b="1" dirty="0">
                <a:solidFill>
                  <a:srgbClr val="2E8BA8"/>
                </a:solidFill>
                <a:latin typeface="Georgia" pitchFamily="34" charset="0"/>
                <a:ea typeface="Georgia" pitchFamily="34" charset="-122"/>
                <a:cs typeface="Georgia" pitchFamily="34" charset="-120"/>
              </a:rPr>
              <a:t>50,115</a:t>
            </a:r>
            <a:endParaRPr lang="en-US" sz="2900" dirty="0"/>
          </a:p>
        </p:txBody>
      </p:sp>
      <p:sp>
        <p:nvSpPr>
          <p:cNvPr id="7" name="Text 4"/>
          <p:cNvSpPr/>
          <p:nvPr/>
        </p:nvSpPr>
        <p:spPr>
          <a:xfrm>
            <a:off x="548640" y="5797296"/>
            <a:ext cx="237744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reach observations</a:t>
            </a:r>
            <a:endParaRPr lang="en-US" sz="1050" dirty="0"/>
          </a:p>
        </p:txBody>
      </p:sp>
      <p:sp>
        <p:nvSpPr>
          <p:cNvPr id="8" name="Text 5"/>
          <p:cNvSpPr/>
          <p:nvPr/>
        </p:nvSpPr>
        <p:spPr>
          <a:xfrm>
            <a:off x="3017520" y="5212080"/>
            <a:ext cx="2377440" cy="603504"/>
          </a:xfrm>
          <a:prstGeom prst="rect">
            <a:avLst/>
          </a:prstGeom>
          <a:noFill/>
          <a:ln/>
        </p:spPr>
        <p:txBody>
          <a:bodyPr wrap="square" lIns="0" tIns="0" rIns="0" bIns="0" rtlCol="0" anchor="ctr"/>
          <a:lstStyle/>
          <a:p>
            <a:pPr indent="0" marL="0">
              <a:buNone/>
            </a:pPr>
            <a:r>
              <a:rPr lang="en-US" sz="2900" b="1" dirty="0">
                <a:solidFill>
                  <a:srgbClr val="2E8BA8"/>
                </a:solidFill>
                <a:latin typeface="Georgia" pitchFamily="34" charset="0"/>
                <a:ea typeface="Georgia" pitchFamily="34" charset="-122"/>
                <a:cs typeface="Georgia" pitchFamily="34" charset="-120"/>
              </a:rPr>
              <a:t>2.28 M</a:t>
            </a:r>
            <a:endParaRPr lang="en-US" sz="2900" dirty="0"/>
          </a:p>
        </p:txBody>
      </p:sp>
      <p:sp>
        <p:nvSpPr>
          <p:cNvPr id="9" name="Text 6"/>
          <p:cNvSpPr/>
          <p:nvPr/>
        </p:nvSpPr>
        <p:spPr>
          <a:xfrm>
            <a:off x="3017520" y="5797296"/>
            <a:ext cx="237744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node observations</a:t>
            </a:r>
            <a:endParaRPr lang="en-US" sz="1050" dirty="0"/>
          </a:p>
        </p:txBody>
      </p:sp>
      <p:sp>
        <p:nvSpPr>
          <p:cNvPr id="10" name="Text 7"/>
          <p:cNvSpPr/>
          <p:nvPr/>
        </p:nvSpPr>
        <p:spPr>
          <a:xfrm>
            <a:off x="5486400" y="5212080"/>
            <a:ext cx="2377440" cy="603504"/>
          </a:xfrm>
          <a:prstGeom prst="rect">
            <a:avLst/>
          </a:prstGeom>
          <a:noFill/>
          <a:ln/>
        </p:spPr>
        <p:txBody>
          <a:bodyPr wrap="square" lIns="0" tIns="0" rIns="0" bIns="0" rtlCol="0" anchor="ctr"/>
          <a:lstStyle/>
          <a:p>
            <a:pPr indent="0" marL="0">
              <a:buNone/>
            </a:pPr>
            <a:r>
              <a:rPr lang="en-US" sz="2900" b="1" dirty="0">
                <a:solidFill>
                  <a:srgbClr val="2E8BA8"/>
                </a:solidFill>
                <a:latin typeface="Georgia" pitchFamily="34" charset="0"/>
                <a:ea typeface="Georgia" pitchFamily="34" charset="-122"/>
                <a:cs typeface="Georgia" pitchFamily="34" charset="-120"/>
              </a:rPr>
              <a:t>1,276</a:t>
            </a:r>
            <a:endParaRPr lang="en-US" sz="2900" dirty="0"/>
          </a:p>
        </p:txBody>
      </p:sp>
      <p:sp>
        <p:nvSpPr>
          <p:cNvPr id="11" name="Text 8"/>
          <p:cNvSpPr/>
          <p:nvPr/>
        </p:nvSpPr>
        <p:spPr>
          <a:xfrm>
            <a:off x="5486400" y="5797296"/>
            <a:ext cx="237744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PLD lake records</a:t>
            </a:r>
            <a:endParaRPr lang="en-US" sz="1050" dirty="0"/>
          </a:p>
        </p:txBody>
      </p:sp>
      <p:sp>
        <p:nvSpPr>
          <p:cNvPr id="12" name="Text 9"/>
          <p:cNvSpPr/>
          <p:nvPr/>
        </p:nvSpPr>
        <p:spPr>
          <a:xfrm>
            <a:off x="7955280" y="5212080"/>
            <a:ext cx="3200400" cy="603504"/>
          </a:xfrm>
          <a:prstGeom prst="rect">
            <a:avLst/>
          </a:prstGeom>
          <a:noFill/>
          <a:ln/>
        </p:spPr>
        <p:txBody>
          <a:bodyPr wrap="square" lIns="0" tIns="0" rIns="0" bIns="0" rtlCol="0" anchor="ctr"/>
          <a:lstStyle/>
          <a:p>
            <a:pPr indent="0" marL="0">
              <a:buNone/>
            </a:pPr>
            <a:r>
              <a:rPr lang="en-US" sz="2900" b="1" dirty="0">
                <a:solidFill>
                  <a:srgbClr val="2E8BA8"/>
                </a:solidFill>
                <a:latin typeface="Georgia" pitchFamily="34" charset="0"/>
                <a:ea typeface="Georgia" pitchFamily="34" charset="-122"/>
                <a:cs typeface="Georgia" pitchFamily="34" charset="-120"/>
              </a:rPr>
              <a:t>583 MB</a:t>
            </a:r>
            <a:endParaRPr lang="en-US" sz="2900" dirty="0"/>
          </a:p>
        </p:txBody>
      </p:sp>
      <p:sp>
        <p:nvSpPr>
          <p:cNvPr id="13" name="Text 10"/>
          <p:cNvSpPr/>
          <p:nvPr/>
        </p:nvSpPr>
        <p:spPr>
          <a:xfrm>
            <a:off x="7955280" y="5797296"/>
            <a:ext cx="320040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range-fetched from a</a:t>
            </a:r>
            <a:endParaRPr lang="en-US" sz="1050" dirty="0"/>
          </a:p>
          <a:p>
            <a:pPr indent="0" marL="0">
              <a:buNone/>
            </a:pPr>
            <a:r>
              <a:rPr lang="en-US" sz="1050" dirty="0">
                <a:solidFill>
                  <a:srgbClr val="5A7284"/>
                </a:solidFill>
                <a:latin typeface="Calibri" pitchFamily="34" charset="0"/>
                <a:ea typeface="Calibri" pitchFamily="34" charset="-122"/>
                <a:cs typeface="Calibri" pitchFamily="34" charset="-120"/>
              </a:rPr>
              <a:t>3.9 GB archive in 90 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CONVENTIONS</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How everything is named</a:t>
            </a:r>
            <a:endParaRPr lang="en-US" sz="2700" dirty="0"/>
          </a:p>
        </p:txBody>
      </p:sp>
      <p:sp>
        <p:nvSpPr>
          <p:cNvPr id="4" name="Text 2"/>
          <p:cNvSpPr/>
          <p:nvPr/>
        </p:nvSpPr>
        <p:spPr>
          <a:xfrm>
            <a:off x="502920" y="1280160"/>
            <a:ext cx="11155680" cy="365760"/>
          </a:xfrm>
          <a:prstGeom prst="rect">
            <a:avLst/>
          </a:prstGeom>
          <a:noFill/>
          <a:ln/>
        </p:spPr>
        <p:txBody>
          <a:bodyPr wrap="square" lIns="0" tIns="0" rIns="0" bIns="0" rtlCol="0" anchor="t"/>
          <a:lstStyle/>
          <a:p>
            <a:pPr indent="0" marL="0">
              <a:lnSpc>
                <a:spcPts val="1800"/>
              </a:lnSpc>
              <a:buNone/>
            </a:pPr>
            <a:r>
              <a:rPr lang="en-US" sz="1300" dirty="0">
                <a:solidFill>
                  <a:srgbClr val="20303C"/>
                </a:solidFill>
                <a:latin typeface="Calibri" pitchFamily="34" charset="0"/>
                <a:ea typeface="Calibri" pitchFamily="34" charset="-122"/>
                <a:cs typeface="Calibri" pitchFamily="34" charset="-120"/>
              </a:rPr>
              <a:t>Every identifier in this project is structured, not arbitrary. Reading them saves a lot of lookups.</a:t>
            </a:r>
            <a:endParaRPr lang="en-US" sz="1300" dirty="0"/>
          </a:p>
        </p:txBody>
      </p:sp>
      <p:sp>
        <p:nvSpPr>
          <p:cNvPr id="5" name="Shape 3"/>
          <p:cNvSpPr/>
          <p:nvPr/>
        </p:nvSpPr>
        <p:spPr>
          <a:xfrm>
            <a:off x="502920" y="1783080"/>
            <a:ext cx="5486400" cy="2286000"/>
          </a:xfrm>
          <a:prstGeom prst="roundRect">
            <a:avLst>
              <a:gd name="adj" fmla="val 2400"/>
            </a:avLst>
          </a:prstGeom>
          <a:solidFill>
            <a:srgbClr val="F2F6F8"/>
          </a:solidFill>
          <a:ln w="10795">
            <a:solidFill>
              <a:srgbClr val="2E8BA8"/>
            </a:solidFill>
            <a:prstDash val="solid"/>
          </a:ln>
        </p:spPr>
      </p:sp>
      <p:sp>
        <p:nvSpPr>
          <p:cNvPr id="6" name="Text 4"/>
          <p:cNvSpPr/>
          <p:nvPr/>
        </p:nvSpPr>
        <p:spPr>
          <a:xfrm>
            <a:off x="822960" y="1984248"/>
            <a:ext cx="4846320" cy="347472"/>
          </a:xfrm>
          <a:prstGeom prst="rect">
            <a:avLst/>
          </a:prstGeom>
          <a:noFill/>
          <a:ln/>
        </p:spPr>
        <p:txBody>
          <a:bodyPr wrap="square" lIns="0" tIns="0" rIns="0" bIns="0" rtlCol="0" anchor="ctr"/>
          <a:lstStyle/>
          <a:p>
            <a:pPr indent="0" marL="0">
              <a:buNone/>
            </a:pPr>
            <a:r>
              <a:rPr lang="en-US" sz="1500" b="1" dirty="0">
                <a:solidFill>
                  <a:srgbClr val="0B2F4A"/>
                </a:solidFill>
                <a:latin typeface="Georgia" pitchFamily="34" charset="0"/>
                <a:ea typeface="Georgia" pitchFamily="34" charset="-122"/>
                <a:cs typeface="Georgia" pitchFamily="34" charset="-120"/>
              </a:rPr>
              <a:t>SWORD reach and node IDs</a:t>
            </a:r>
            <a:endParaRPr lang="en-US" sz="1500" dirty="0"/>
          </a:p>
        </p:txBody>
      </p:sp>
      <p:sp>
        <p:nvSpPr>
          <p:cNvPr id="7" name="Text 5"/>
          <p:cNvSpPr/>
          <p:nvPr/>
        </p:nvSpPr>
        <p:spPr>
          <a:xfrm>
            <a:off x="822960" y="2240280"/>
            <a:ext cx="4846320" cy="274320"/>
          </a:xfrm>
          <a:prstGeom prst="rect">
            <a:avLst/>
          </a:prstGeom>
          <a:noFill/>
          <a:ln/>
        </p:spPr>
        <p:txBody>
          <a:bodyPr wrap="square" lIns="0" tIns="0" rIns="0" bIns="0" rtlCol="0" anchor="ctr"/>
          <a:lstStyle/>
          <a:p>
            <a:pPr indent="0" marL="0">
              <a:buNone/>
            </a:pPr>
            <a:r>
              <a:rPr lang="en-US" sz="1200" b="1" dirty="0">
                <a:solidFill>
                  <a:srgbClr val="0B2F4A"/>
                </a:solidFill>
                <a:latin typeface="Consolas" pitchFamily="34" charset="0"/>
                <a:ea typeface="Consolas" pitchFamily="34" charset="-122"/>
                <a:cs typeface="Consolas" pitchFamily="34" charset="-120"/>
              </a:rPr>
              <a:t>reach_id = C BBBBB RRRR T</a:t>
            </a:r>
            <a:endParaRPr lang="en-US" sz="1200" dirty="0"/>
          </a:p>
        </p:txBody>
      </p:sp>
      <p:sp>
        <p:nvSpPr>
          <p:cNvPr id="8" name="Text 6"/>
          <p:cNvSpPr/>
          <p:nvPr/>
        </p:nvSpPr>
        <p:spPr>
          <a:xfrm>
            <a:off x="822960" y="2560320"/>
            <a:ext cx="4846320" cy="1417320"/>
          </a:xfrm>
          <a:prstGeom prst="rect">
            <a:avLst/>
          </a:prstGeom>
          <a:noFill/>
          <a:ln/>
        </p:spPr>
        <p:txBody>
          <a:bodyPr wrap="square" lIns="0" tIns="0" rIns="0" bIns="0" rtlCol="0" anchor="t"/>
          <a:lstStyle/>
          <a:p>
            <a:pPr marL="342900" indent="-342900">
              <a:lnSpc>
                <a:spcPts val="1800"/>
              </a:lnSpc>
              <a:buSzPct val="100000"/>
              <a:buChar char="•"/>
            </a:pPr>
            <a:r>
              <a:rPr lang="en-US" sz="1000" dirty="0">
                <a:solidFill>
                  <a:srgbClr val="20303C"/>
                </a:solidFill>
                <a:latin typeface="Calibri" pitchFamily="34" charset="0"/>
                <a:ea typeface="Calibri" pitchFamily="34" charset="-122"/>
                <a:cs typeface="Calibri" pitchFamily="34" charset="-120"/>
              </a:rPr>
              <a:t>C  continent (8 = Arctic North America; all our reaches start 813)</a:t>
            </a:r>
            <a:endParaRPr lang="en-US" sz="1000" dirty="0"/>
          </a:p>
          <a:p>
            <a:pPr marL="342900" indent="-342900">
              <a:lnSpc>
                <a:spcPts val="1800"/>
              </a:lnSpc>
              <a:buSzPct val="100000"/>
              <a:buChar char="•"/>
            </a:pPr>
            <a:r>
              <a:rPr lang="en-US" sz="1000" dirty="0">
                <a:solidFill>
                  <a:srgbClr val="20303C"/>
                </a:solidFill>
                <a:latin typeface="Calibri" pitchFamily="34" charset="0"/>
                <a:ea typeface="Calibri" pitchFamily="34" charset="-122"/>
                <a:cs typeface="Calibri" pitchFamily="34" charset="-120"/>
              </a:rPr>
              <a:t>BBBBB  Pfafstetter level-6 basin</a:t>
            </a:r>
            <a:endParaRPr lang="en-US" sz="1000" dirty="0"/>
          </a:p>
          <a:p>
            <a:pPr marL="342900" indent="-342900">
              <a:lnSpc>
                <a:spcPts val="1800"/>
              </a:lnSpc>
              <a:buSzPct val="100000"/>
              <a:buChar char="•"/>
            </a:pPr>
            <a:r>
              <a:rPr lang="en-US" sz="1000" dirty="0">
                <a:solidFill>
                  <a:srgbClr val="20303C"/>
                </a:solidFill>
                <a:latin typeface="Calibri" pitchFamily="34" charset="0"/>
                <a:ea typeface="Calibri" pitchFamily="34" charset="-122"/>
                <a:cs typeface="Calibri" pitchFamily="34" charset="-120"/>
              </a:rPr>
              <a:t>RRRR  reach number, increasing upstream</a:t>
            </a:r>
            <a:endParaRPr lang="en-US" sz="1000" dirty="0"/>
          </a:p>
          <a:p>
            <a:pPr marL="342900" indent="-342900">
              <a:lnSpc>
                <a:spcPts val="1800"/>
              </a:lnSpc>
              <a:buSzPct val="100000"/>
              <a:buChar char="•"/>
            </a:pPr>
            <a:r>
              <a:rPr lang="en-US" sz="1000" dirty="0">
                <a:solidFill>
                  <a:srgbClr val="20303C"/>
                </a:solidFill>
                <a:latin typeface="Calibri" pitchFamily="34" charset="0"/>
                <a:ea typeface="Calibri" pitchFamily="34" charset="-122"/>
                <a:cs typeface="Calibri" pitchFamily="34" charset="-120"/>
              </a:rPr>
              <a:t>T  type: 1 river, 3 lake-on-river, 4 dam, 5 unreliable topology, 6 ghost</a:t>
            </a:r>
            <a:endParaRPr lang="en-US" sz="1000" dirty="0"/>
          </a:p>
        </p:txBody>
      </p:sp>
      <p:sp>
        <p:nvSpPr>
          <p:cNvPr id="9" name="Shape 7"/>
          <p:cNvSpPr/>
          <p:nvPr/>
        </p:nvSpPr>
        <p:spPr>
          <a:xfrm>
            <a:off x="6217920" y="1783080"/>
            <a:ext cx="5440680" cy="2286000"/>
          </a:xfrm>
          <a:prstGeom prst="roundRect">
            <a:avLst>
              <a:gd name="adj" fmla="val 2400"/>
            </a:avLst>
          </a:prstGeom>
          <a:solidFill>
            <a:srgbClr val="F2F6F8"/>
          </a:solidFill>
          <a:ln w="10795">
            <a:solidFill>
              <a:srgbClr val="2E8BA8"/>
            </a:solidFill>
            <a:prstDash val="solid"/>
          </a:ln>
        </p:spPr>
      </p:sp>
      <p:sp>
        <p:nvSpPr>
          <p:cNvPr id="10" name="Text 8"/>
          <p:cNvSpPr/>
          <p:nvPr/>
        </p:nvSpPr>
        <p:spPr>
          <a:xfrm>
            <a:off x="6537960" y="1984248"/>
            <a:ext cx="4800600" cy="347472"/>
          </a:xfrm>
          <a:prstGeom prst="rect">
            <a:avLst/>
          </a:prstGeom>
          <a:noFill/>
          <a:ln/>
        </p:spPr>
        <p:txBody>
          <a:bodyPr wrap="square" lIns="0" tIns="0" rIns="0" bIns="0" rtlCol="0" anchor="ctr"/>
          <a:lstStyle/>
          <a:p>
            <a:pPr indent="0" marL="0">
              <a:buNone/>
            </a:pPr>
            <a:r>
              <a:rPr lang="en-US" sz="1500" b="1" dirty="0">
                <a:solidFill>
                  <a:srgbClr val="0B2F4A"/>
                </a:solidFill>
                <a:latin typeface="Georgia" pitchFamily="34" charset="0"/>
                <a:ea typeface="Georgia" pitchFamily="34" charset="-122"/>
                <a:cs typeface="Georgia" pitchFamily="34" charset="-120"/>
              </a:rPr>
              <a:t>Nodes, lakes, passes</a:t>
            </a:r>
            <a:endParaRPr lang="en-US" sz="1500" dirty="0"/>
          </a:p>
        </p:txBody>
      </p:sp>
      <p:sp>
        <p:nvSpPr>
          <p:cNvPr id="11" name="Text 9"/>
          <p:cNvSpPr/>
          <p:nvPr/>
        </p:nvSpPr>
        <p:spPr>
          <a:xfrm>
            <a:off x="6537960" y="2240280"/>
            <a:ext cx="4800600" cy="1737360"/>
          </a:xfrm>
          <a:prstGeom prst="rect">
            <a:avLst/>
          </a:prstGeom>
          <a:noFill/>
          <a:ln/>
        </p:spPr>
        <p:txBody>
          <a:bodyPr wrap="square" lIns="0" tIns="0" rIns="0" bIns="0" rtlCol="0" anchor="t"/>
          <a:lstStyle/>
          <a:p>
            <a:pPr marL="342900" indent="-342900">
              <a:lnSpc>
                <a:spcPts val="1800"/>
              </a:lnSpc>
              <a:buSzPct val="100000"/>
              <a:buChar char="•"/>
            </a:pPr>
            <a:r>
              <a:rPr lang="en-US" sz="1000" dirty="0">
                <a:solidFill>
                  <a:srgbClr val="20303C"/>
                </a:solidFill>
                <a:latin typeface="Calibri" pitchFamily="34" charset="0"/>
                <a:ea typeface="Calibri" pitchFamily="34" charset="-122"/>
                <a:cs typeface="Calibri" pitchFamily="34" charset="-120"/>
              </a:rPr>
              <a:t>node_id = C BBBBB RRRR NNN T — reach ID with a 3-digit node index, ~200 m spacing</a:t>
            </a:r>
            <a:endParaRPr lang="en-US" sz="1000" dirty="0"/>
          </a:p>
          <a:p>
            <a:pPr marL="342900" indent="-342900">
              <a:lnSpc>
                <a:spcPts val="1800"/>
              </a:lnSpc>
              <a:buSzPct val="100000"/>
              <a:buChar char="•"/>
            </a:pPr>
            <a:r>
              <a:rPr lang="en-US" sz="1000" dirty="0">
                <a:solidFill>
                  <a:srgbClr val="20303C"/>
                </a:solidFill>
                <a:latin typeface="Calibri" pitchFamily="34" charset="0"/>
                <a:ea typeface="Calibri" pitchFamily="34" charset="-122"/>
                <a:cs typeface="Calibri" pitchFamily="34" charset="-120"/>
              </a:rPr>
              <a:t>PLD lake_id = C BB NNNNNN T, a different database (prior lakes, not rivers)</a:t>
            </a:r>
            <a:endParaRPr lang="en-US" sz="1000" dirty="0"/>
          </a:p>
          <a:p>
            <a:pPr marL="342900" indent="-342900">
              <a:lnSpc>
                <a:spcPts val="1800"/>
              </a:lnSpc>
              <a:buSzPct val="100000"/>
              <a:buChar char="•"/>
            </a:pPr>
            <a:r>
              <a:rPr lang="en-US" sz="1000" dirty="0">
                <a:solidFill>
                  <a:srgbClr val="20303C"/>
                </a:solidFill>
                <a:latin typeface="Calibri" pitchFamily="34" charset="0"/>
                <a:ea typeface="Calibri" pitchFamily="34" charset="-122"/>
                <a:cs typeface="Calibri" pitchFamily="34" charset="-120"/>
              </a:rPr>
              <a:t>cycle_id = which 21-day repeat; pass_id = which ground track. Together they name one overpass.</a:t>
            </a:r>
            <a:endParaRPr lang="en-US" sz="1000" dirty="0"/>
          </a:p>
          <a:p>
            <a:pPr marL="342900" indent="-342900">
              <a:lnSpc>
                <a:spcPts val="1800"/>
              </a:lnSpc>
              <a:buSzPct val="100000"/>
              <a:buChar char="•"/>
            </a:pPr>
            <a:r>
              <a:rPr lang="en-US" sz="1000" dirty="0">
                <a:solidFill>
                  <a:srgbClr val="20303C"/>
                </a:solidFill>
                <a:latin typeface="Calibri" pitchFamily="34" charset="0"/>
                <a:ea typeface="Calibri" pitchFamily="34" charset="-122"/>
                <a:cs typeface="Calibri" pitchFamily="34" charset="-120"/>
              </a:rPr>
              <a:t>dist_out = distance along the network to that river’s own outlet, in metres</a:t>
            </a:r>
            <a:endParaRPr lang="en-US" sz="1000" dirty="0"/>
          </a:p>
        </p:txBody>
      </p:sp>
      <p:sp>
        <p:nvSpPr>
          <p:cNvPr id="12" name="Shape 10"/>
          <p:cNvSpPr/>
          <p:nvPr/>
        </p:nvSpPr>
        <p:spPr>
          <a:xfrm>
            <a:off x="502920" y="4251960"/>
            <a:ext cx="11155680" cy="1965960"/>
          </a:xfrm>
          <a:prstGeom prst="roundRect">
            <a:avLst>
              <a:gd name="adj" fmla="val 2791"/>
            </a:avLst>
          </a:prstGeom>
          <a:solidFill>
            <a:srgbClr val="FBF3E8"/>
          </a:solidFill>
          <a:ln w="10795">
            <a:solidFill>
              <a:srgbClr val="E8A33D"/>
            </a:solidFill>
            <a:prstDash val="solid"/>
          </a:ln>
        </p:spPr>
      </p:sp>
      <p:sp>
        <p:nvSpPr>
          <p:cNvPr id="13" name="Text 11"/>
          <p:cNvSpPr/>
          <p:nvPr/>
        </p:nvSpPr>
        <p:spPr>
          <a:xfrm>
            <a:off x="822960" y="4453128"/>
            <a:ext cx="10515600" cy="347472"/>
          </a:xfrm>
          <a:prstGeom prst="rect">
            <a:avLst/>
          </a:prstGeom>
          <a:noFill/>
          <a:ln/>
        </p:spPr>
        <p:txBody>
          <a:bodyPr wrap="square" lIns="0" tIns="0" rIns="0" bIns="0" rtlCol="0" anchor="ctr"/>
          <a:lstStyle/>
          <a:p>
            <a:pPr indent="0" marL="0">
              <a:buNone/>
            </a:pPr>
            <a:r>
              <a:rPr lang="en-US" sz="1500" b="1" dirty="0">
                <a:solidFill>
                  <a:srgbClr val="0B2F4A"/>
                </a:solidFill>
                <a:latin typeface="Georgia" pitchFamily="34" charset="0"/>
                <a:ea typeface="Georgia" pitchFamily="34" charset="-122"/>
                <a:cs typeface="Georgia" pitchFamily="34" charset="-120"/>
              </a:rPr>
              <a:t>Two naming traps that bit this project</a:t>
            </a:r>
            <a:endParaRPr lang="en-US" sz="1500" dirty="0"/>
          </a:p>
        </p:txBody>
      </p:sp>
      <p:sp>
        <p:nvSpPr>
          <p:cNvPr id="14" name="Text 12"/>
          <p:cNvSpPr/>
          <p:nvPr/>
        </p:nvSpPr>
        <p:spPr>
          <a:xfrm>
            <a:off x="822960" y="4709160"/>
            <a:ext cx="10515600" cy="1371600"/>
          </a:xfrm>
          <a:prstGeom prst="rect">
            <a:avLst/>
          </a:prstGeom>
          <a:noFill/>
          <a:ln/>
        </p:spPr>
        <p:txBody>
          <a:bodyPr wrap="square" lIns="0" tIns="0" rIns="0" bIns="0" rtlCol="0" anchor="t"/>
          <a:lstStyle/>
          <a:p>
            <a:pPr marL="342900" indent="-342900">
              <a:lnSpc>
                <a:spcPts val="1800"/>
              </a:lnSpc>
              <a:buSzPct val="100000"/>
              <a:buChar char="•"/>
            </a:pPr>
            <a:r>
              <a:rPr lang="en-US" sz="1150" dirty="0">
                <a:solidFill>
                  <a:srgbClr val="20303C"/>
                </a:solidFill>
                <a:latin typeface="Calibri" pitchFamily="34" charset="0"/>
                <a:ea typeface="Calibri" pitchFamily="34" charset="-122"/>
                <a:cs typeface="Calibri" pitchFamily="34" charset="-120"/>
              </a:rPr>
              <a:t>dist_out is measured to EACH river’s own outlet, so different rivers reuse the same values. Smoothing a globally sorted array silently blended Kobuk and Noatak nodes — caught only by a monotonicity check.</a:t>
            </a:r>
            <a:endParaRPr lang="en-US" sz="1150" dirty="0"/>
          </a:p>
          <a:p>
            <a:pPr marL="342900" indent="-342900">
              <a:lnSpc>
                <a:spcPts val="1800"/>
              </a:lnSpc>
              <a:buSzPct val="100000"/>
              <a:buChar char="•"/>
            </a:pPr>
            <a:r>
              <a:rPr lang="en-US" sz="1150" dirty="0">
                <a:solidFill>
                  <a:srgbClr val="20303C"/>
                </a:solidFill>
                <a:latin typeface="Calibri" pitchFamily="34" charset="0"/>
                <a:ea typeface="Calibri" pitchFamily="34" charset="-122"/>
                <a:cs typeface="Calibri" pitchFamily="34" charset="-120"/>
              </a:rPr>
              <a:t>Version D uses SWORD v17b IDs; Version 2.0 uses v16. The same physical reach has two different numbers, and querying the wrong collection returns "feature not found" rather than an error you can interpret.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PRODUCTS</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Which SWOT product answers which question</a:t>
            </a:r>
            <a:endParaRPr lang="en-US" sz="2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55680" cy="914400"/>
        </p:xfrm>
        <a:graphic>
          <a:graphicData uri="http://schemas.openxmlformats.org/drawingml/2006/table">
            <a:tbl>
              <a:tblPr/>
              <a:tblGrid>
                <a:gridCol w="2286000"/>
                <a:gridCol w="2560320"/>
                <a:gridCol w="4206240"/>
                <a:gridCol w="2103120"/>
              </a:tblGrid>
              <a:tr h="4114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Product</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Geometry</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Good for</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Used here?</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r>
              <a:tr h="411480">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RiverSP Reach</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~10 km river segment</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time series, discharge, seasonality</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yes — the backbone</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411480">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RiverSP Node</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~200 m along centreline</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long profiles, spatial hydrographs, 2-D fields</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yes — 2.28 M records</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411480">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LakeSP PriorLake</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a mapped lake polygon</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lake and reservoir level</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yes — 14 delta lakes</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411480">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L4 SoS discharge</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reach, model-inverted</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discharge where no gauge exists</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yes — shape only</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411480">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L2_HR_Raster</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100 / 250 m grid</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true imagery, inundation extent</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NO — needs login</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411480">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L2_HR_PIXC</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10-60 m pixel cloud</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the underlying retrieval</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NO — needs login</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5" name="Text 2"/>
          <p:cNvSpPr/>
          <p:nvPr/>
        </p:nvSpPr>
        <p:spPr>
          <a:xfrm>
            <a:off x="502920" y="4297680"/>
            <a:ext cx="11155680" cy="822960"/>
          </a:xfrm>
          <a:prstGeom prst="rect">
            <a:avLst/>
          </a:prstGeom>
          <a:noFill/>
          <a:ln/>
        </p:spPr>
        <p:txBody>
          <a:bodyPr wrap="square" lIns="0" tIns="0" rIns="0" bIns="0" rtlCol="0" anchor="t"/>
          <a:lstStyle/>
          <a:p>
            <a:pPr indent="0" marL="0">
              <a:lnSpc>
                <a:spcPts val="1800"/>
              </a:lnSpc>
              <a:buNone/>
            </a:pPr>
            <a:r>
              <a:rPr lang="en-US" sz="1250" dirty="0">
                <a:solidFill>
                  <a:srgbClr val="2E8BA8"/>
                </a:solidFill>
                <a:latin typeface="Calibri" pitchFamily="34" charset="0"/>
                <a:ea typeface="Calibri" pitchFamily="34" charset="-122"/>
                <a:cs typeface="Calibri" pitchFamily="34" charset="-120"/>
              </a:rPr>
              <a:t>A reach value is a weighted aggregate of its nodes, so reach and node products are not independent. Anything claimed at reach level should be visible at node level too, and the 2-D figures later are the check on that.</a:t>
            </a:r>
            <a:endParaRPr lang="en-US" sz="1250" dirty="0"/>
          </a:p>
        </p:txBody>
      </p:sp>
      <p:sp>
        <p:nvSpPr>
          <p:cNvPr id="6" name="Shape 3"/>
          <p:cNvSpPr/>
          <p:nvPr/>
        </p:nvSpPr>
        <p:spPr>
          <a:xfrm>
            <a:off x="438912" y="5148072"/>
            <a:ext cx="11283696" cy="1316736"/>
          </a:xfrm>
          <a:prstGeom prst="roundRect">
            <a:avLst>
              <a:gd name="adj" fmla="val 4167"/>
            </a:avLst>
          </a:prstGeom>
          <a:solidFill>
            <a:srgbClr val="F2F6F8"/>
          </a:solidFill>
          <a:ln w="9525">
            <a:solidFill>
              <a:srgbClr val="2E8BA8"/>
            </a:solidFill>
            <a:prstDash val="solid"/>
          </a:ln>
        </p:spPr>
      </p:sp>
      <p:pic>
        <p:nvPicPr>
          <p:cNvPr id="7" name="Image 0" descr="/media/tmittal/extradrive1/swot_kotzebue/figs/fig08_swot_swaths.png">    </p:cNvPr>
          <p:cNvPicPr>
            <a:picLocks noChangeAspect="1"/>
          </p:cNvPicPr>
          <p:nvPr/>
        </p:nvPicPr>
        <p:blipFill>
          <a:blip r:embed="rId1"/>
          <a:srcRect l="0" r="0" t="0" b="0"/>
          <a:stretch/>
        </p:blipFill>
        <p:spPr>
          <a:xfrm>
            <a:off x="502920" y="5212080"/>
            <a:ext cx="11155680" cy="11887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METHOD</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How the data are cleaned</a:t>
            </a:r>
            <a:endParaRPr lang="en-US" sz="2700" dirty="0"/>
          </a:p>
        </p:txBody>
      </p:sp>
      <p:sp>
        <p:nvSpPr>
          <p:cNvPr id="4" name="Text 2"/>
          <p:cNvSpPr/>
          <p:nvPr/>
        </p:nvSpPr>
        <p:spPr>
          <a:xfrm>
            <a:off x="502920" y="1280160"/>
            <a:ext cx="11155680" cy="457200"/>
          </a:xfrm>
          <a:prstGeom prst="rect">
            <a:avLst/>
          </a:prstGeom>
          <a:noFill/>
          <a:ln/>
        </p:spPr>
        <p:txBody>
          <a:bodyPr wrap="square" lIns="0" tIns="0" rIns="0" bIns="0" rtlCol="0" anchor="t"/>
          <a:lstStyle/>
          <a:p>
            <a:pPr indent="0" marL="0">
              <a:lnSpc>
                <a:spcPts val="1800"/>
              </a:lnSpc>
              <a:buNone/>
            </a:pPr>
            <a:r>
              <a:rPr lang="en-US" sz="1300" dirty="0">
                <a:solidFill>
                  <a:srgbClr val="20303C"/>
                </a:solidFill>
                <a:latin typeface="Calibri" pitchFamily="34" charset="0"/>
                <a:ea typeface="Calibri" pitchFamily="34" charset="-122"/>
                <a:cs typeface="Calibri" pitchFamily="34" charset="-120"/>
              </a:rPr>
              <a:t>Raw SWOT vector data are not usable as delivered. Five filters, applied in order, each one added because a specific artefact appeared.</a:t>
            </a:r>
            <a:endParaRPr lang="en-US" sz="1300" dirty="0"/>
          </a:p>
        </p:txBody>
      </p:sp>
      <p:sp>
        <p:nvSpPr>
          <p:cNvPr id="5" name="Shape 3"/>
          <p:cNvSpPr/>
          <p:nvPr/>
        </p:nvSpPr>
        <p:spPr>
          <a:xfrm>
            <a:off x="548640" y="1901952"/>
            <a:ext cx="384048" cy="384048"/>
          </a:xfrm>
          <a:prstGeom prst="ellipse">
            <a:avLst/>
          </a:prstGeom>
          <a:solidFill>
            <a:srgbClr val="2E8BA8"/>
          </a:solidFill>
          <a:ln/>
        </p:spPr>
      </p:sp>
      <p:sp>
        <p:nvSpPr>
          <p:cNvPr id="6" name="Text 4"/>
          <p:cNvSpPr/>
          <p:nvPr/>
        </p:nvSpPr>
        <p:spPr>
          <a:xfrm>
            <a:off x="548640" y="1901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7" name="Text 5"/>
          <p:cNvSpPr/>
          <p:nvPr/>
        </p:nvSpPr>
        <p:spPr>
          <a:xfrm>
            <a:off x="1097280" y="1865376"/>
            <a:ext cx="2286000" cy="411480"/>
          </a:xfrm>
          <a:prstGeom prst="rect">
            <a:avLst/>
          </a:prstGeom>
          <a:noFill/>
          <a:ln/>
        </p:spPr>
        <p:txBody>
          <a:bodyPr wrap="square" lIns="0" tIns="0" rIns="0" bIns="0" rtlCol="0" anchor="t"/>
          <a:lstStyle/>
          <a:p>
            <a:pPr indent="0" marL="0">
              <a:buNone/>
            </a:pPr>
            <a:r>
              <a:rPr lang="en-US" sz="1100" b="1" dirty="0">
                <a:solidFill>
                  <a:srgbClr val="0B2F4A"/>
                </a:solidFill>
                <a:latin typeface="Consolas" pitchFamily="34" charset="0"/>
                <a:ea typeface="Consolas" pitchFamily="34" charset="-122"/>
                <a:cs typeface="Consolas" pitchFamily="34" charset="-120"/>
              </a:rPr>
              <a:t>reach_q / node_q ≤ 1</a:t>
            </a:r>
            <a:endParaRPr lang="en-US" sz="1100" dirty="0"/>
          </a:p>
        </p:txBody>
      </p:sp>
      <p:sp>
        <p:nvSpPr>
          <p:cNvPr id="8" name="Text 6"/>
          <p:cNvSpPr/>
          <p:nvPr/>
        </p:nvSpPr>
        <p:spPr>
          <a:xfrm>
            <a:off x="3520440" y="1883664"/>
            <a:ext cx="1737360" cy="36576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product quality flag</a:t>
            </a:r>
            <a:endParaRPr lang="en-US" sz="1050" dirty="0"/>
          </a:p>
        </p:txBody>
      </p:sp>
      <p:sp>
        <p:nvSpPr>
          <p:cNvPr id="9" name="Text 7"/>
          <p:cNvSpPr/>
          <p:nvPr/>
        </p:nvSpPr>
        <p:spPr>
          <a:xfrm>
            <a:off x="5394960" y="1865376"/>
            <a:ext cx="6309360" cy="77724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Admitting 2 returns WSE from −5.2 to +11.2 m on a reach whose bed sits near 2 m.</a:t>
            </a:r>
            <a:endParaRPr lang="en-US" sz="1050" dirty="0"/>
          </a:p>
        </p:txBody>
      </p:sp>
      <p:sp>
        <p:nvSpPr>
          <p:cNvPr id="10" name="Shape 8"/>
          <p:cNvSpPr/>
          <p:nvPr/>
        </p:nvSpPr>
        <p:spPr>
          <a:xfrm>
            <a:off x="548640" y="2770632"/>
            <a:ext cx="384048" cy="384048"/>
          </a:xfrm>
          <a:prstGeom prst="ellipse">
            <a:avLst/>
          </a:prstGeom>
          <a:solidFill>
            <a:srgbClr val="2E8BA8"/>
          </a:solidFill>
          <a:ln/>
        </p:spPr>
      </p:sp>
      <p:sp>
        <p:nvSpPr>
          <p:cNvPr id="11" name="Text 9"/>
          <p:cNvSpPr/>
          <p:nvPr/>
        </p:nvSpPr>
        <p:spPr>
          <a:xfrm>
            <a:off x="548640"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12" name="Text 10"/>
          <p:cNvSpPr/>
          <p:nvPr/>
        </p:nvSpPr>
        <p:spPr>
          <a:xfrm>
            <a:off x="1097280" y="2734056"/>
            <a:ext cx="2286000" cy="411480"/>
          </a:xfrm>
          <a:prstGeom prst="rect">
            <a:avLst/>
          </a:prstGeom>
          <a:noFill/>
          <a:ln/>
        </p:spPr>
        <p:txBody>
          <a:bodyPr wrap="square" lIns="0" tIns="0" rIns="0" bIns="0" rtlCol="0" anchor="t"/>
          <a:lstStyle/>
          <a:p>
            <a:pPr indent="0" marL="0">
              <a:buNone/>
            </a:pPr>
            <a:r>
              <a:rPr lang="en-US" sz="1100" b="1" dirty="0">
                <a:solidFill>
                  <a:srgbClr val="0B2F4A"/>
                </a:solidFill>
                <a:latin typeface="Consolas" pitchFamily="34" charset="0"/>
                <a:ea typeface="Consolas" pitchFamily="34" charset="-122"/>
                <a:cs typeface="Consolas" pitchFamily="34" charset="-120"/>
              </a:rPr>
              <a:t>ice_clim_f = 0</a:t>
            </a:r>
            <a:endParaRPr lang="en-US" sz="1100" dirty="0"/>
          </a:p>
        </p:txBody>
      </p:sp>
      <p:sp>
        <p:nvSpPr>
          <p:cNvPr id="13" name="Text 11"/>
          <p:cNvSpPr/>
          <p:nvPr/>
        </p:nvSpPr>
        <p:spPr>
          <a:xfrm>
            <a:off x="3520440" y="2752344"/>
            <a:ext cx="1737360" cy="36576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ice-covered epochs</a:t>
            </a:r>
            <a:endParaRPr lang="en-US" sz="1050" dirty="0"/>
          </a:p>
        </p:txBody>
      </p:sp>
      <p:sp>
        <p:nvSpPr>
          <p:cNvPr id="14" name="Text 12"/>
          <p:cNvSpPr/>
          <p:nvPr/>
        </p:nvSpPr>
        <p:spPr>
          <a:xfrm>
            <a:off x="5394960" y="2734056"/>
            <a:ext cx="6309360" cy="77724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KaRIn returns off river ice are not a water surface. NOTE: this flag is a fixed climatology, so it is a seasonal mask, not an ice detector.</a:t>
            </a:r>
            <a:endParaRPr lang="en-US" sz="1050" dirty="0"/>
          </a:p>
        </p:txBody>
      </p:sp>
      <p:sp>
        <p:nvSpPr>
          <p:cNvPr id="15" name="Shape 13"/>
          <p:cNvSpPr/>
          <p:nvPr/>
        </p:nvSpPr>
        <p:spPr>
          <a:xfrm>
            <a:off x="548640" y="3639312"/>
            <a:ext cx="384048" cy="384048"/>
          </a:xfrm>
          <a:prstGeom prst="ellipse">
            <a:avLst/>
          </a:prstGeom>
          <a:solidFill>
            <a:srgbClr val="2E8BA8"/>
          </a:solidFill>
          <a:ln/>
        </p:spPr>
      </p:sp>
      <p:sp>
        <p:nvSpPr>
          <p:cNvPr id="16" name="Text 14"/>
          <p:cNvSpPr/>
          <p:nvPr/>
        </p:nvSpPr>
        <p:spPr>
          <a:xfrm>
            <a:off x="548640" y="3639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17" name="Text 15"/>
          <p:cNvSpPr/>
          <p:nvPr/>
        </p:nvSpPr>
        <p:spPr>
          <a:xfrm>
            <a:off x="1097280" y="3602736"/>
            <a:ext cx="2286000" cy="411480"/>
          </a:xfrm>
          <a:prstGeom prst="rect">
            <a:avLst/>
          </a:prstGeom>
          <a:noFill/>
          <a:ln/>
        </p:spPr>
        <p:txBody>
          <a:bodyPr wrap="square" lIns="0" tIns="0" rIns="0" bIns="0" rtlCol="0" anchor="t"/>
          <a:lstStyle/>
          <a:p>
            <a:pPr indent="0" marL="0">
              <a:buNone/>
            </a:pPr>
            <a:r>
              <a:rPr lang="en-US" sz="1100" b="1" dirty="0">
                <a:solidFill>
                  <a:srgbClr val="0B2F4A"/>
                </a:solidFill>
                <a:latin typeface="Consolas" pitchFamily="34" charset="0"/>
                <a:ea typeface="Consolas" pitchFamily="34" charset="-122"/>
                <a:cs typeface="Consolas" pitchFamily="34" charset="-120"/>
              </a:rPr>
              <a:t>dark_frac ≤ 0.5</a:t>
            </a:r>
            <a:endParaRPr lang="en-US" sz="1100" dirty="0"/>
          </a:p>
        </p:txBody>
      </p:sp>
      <p:sp>
        <p:nvSpPr>
          <p:cNvPr id="18" name="Text 16"/>
          <p:cNvSpPr/>
          <p:nvPr/>
        </p:nvSpPr>
        <p:spPr>
          <a:xfrm>
            <a:off x="3520440" y="3621024"/>
            <a:ext cx="1737360" cy="36576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dark-water fraction</a:t>
            </a:r>
            <a:endParaRPr lang="en-US" sz="1050" dirty="0"/>
          </a:p>
        </p:txBody>
      </p:sp>
      <p:sp>
        <p:nvSpPr>
          <p:cNvPr id="19" name="Text 17"/>
          <p:cNvSpPr/>
          <p:nvPr/>
        </p:nvSpPr>
        <p:spPr>
          <a:xfrm>
            <a:off x="5394960" y="3602736"/>
            <a:ext cx="6309360" cy="77724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Specular or vegetated returns bias heights; profiles showed metre-scale spikes.</a:t>
            </a:r>
            <a:endParaRPr lang="en-US" sz="1050" dirty="0"/>
          </a:p>
        </p:txBody>
      </p:sp>
      <p:sp>
        <p:nvSpPr>
          <p:cNvPr id="20" name="Shape 18"/>
          <p:cNvSpPr/>
          <p:nvPr/>
        </p:nvSpPr>
        <p:spPr>
          <a:xfrm>
            <a:off x="548640" y="4507992"/>
            <a:ext cx="384048" cy="384048"/>
          </a:xfrm>
          <a:prstGeom prst="ellipse">
            <a:avLst/>
          </a:prstGeom>
          <a:solidFill>
            <a:srgbClr val="2E8BA8"/>
          </a:solidFill>
          <a:ln/>
        </p:spPr>
      </p:sp>
      <p:sp>
        <p:nvSpPr>
          <p:cNvPr id="21" name="Text 19"/>
          <p:cNvSpPr/>
          <p:nvPr/>
        </p:nvSpPr>
        <p:spPr>
          <a:xfrm>
            <a:off x="548640" y="45079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4</a:t>
            </a:r>
            <a:endParaRPr lang="en-US" sz="1300" dirty="0"/>
          </a:p>
        </p:txBody>
      </p:sp>
      <p:sp>
        <p:nvSpPr>
          <p:cNvPr id="22" name="Text 20"/>
          <p:cNvSpPr/>
          <p:nvPr/>
        </p:nvSpPr>
        <p:spPr>
          <a:xfrm>
            <a:off x="1097280" y="4471416"/>
            <a:ext cx="2286000" cy="411480"/>
          </a:xfrm>
          <a:prstGeom prst="rect">
            <a:avLst/>
          </a:prstGeom>
          <a:noFill/>
          <a:ln/>
        </p:spPr>
        <p:txBody>
          <a:bodyPr wrap="square" lIns="0" tIns="0" rIns="0" bIns="0" rtlCol="0" anchor="t"/>
          <a:lstStyle/>
          <a:p>
            <a:pPr indent="0" marL="0">
              <a:buNone/>
            </a:pPr>
            <a:r>
              <a:rPr lang="en-US" sz="1100" b="1" dirty="0">
                <a:solidFill>
                  <a:srgbClr val="0B2F4A"/>
                </a:solidFill>
                <a:latin typeface="Consolas" pitchFamily="34" charset="0"/>
                <a:ea typeface="Consolas" pitchFamily="34" charset="-122"/>
                <a:cs typeface="Consolas" pitchFamily="34" charset="-120"/>
              </a:rPr>
              <a:t>width ≥ 80 m</a:t>
            </a:r>
            <a:endParaRPr lang="en-US" sz="1100" dirty="0"/>
          </a:p>
        </p:txBody>
      </p:sp>
      <p:sp>
        <p:nvSpPr>
          <p:cNvPr id="23" name="Text 21"/>
          <p:cNvSpPr/>
          <p:nvPr/>
        </p:nvSpPr>
        <p:spPr>
          <a:xfrm>
            <a:off x="3520440" y="4489704"/>
            <a:ext cx="1737360" cy="36576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channel too narrow</a:t>
            </a:r>
            <a:endParaRPr lang="en-US" sz="1050" dirty="0"/>
          </a:p>
        </p:txBody>
      </p:sp>
      <p:sp>
        <p:nvSpPr>
          <p:cNvPr id="24" name="Text 22"/>
          <p:cNvSpPr/>
          <p:nvPr/>
        </p:nvSpPr>
        <p:spPr>
          <a:xfrm>
            <a:off x="5394960" y="4471416"/>
            <a:ext cx="6309360" cy="77724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SWOT is specified for rivers wider than 50-100 m. The upper Noatak narrows below that.</a:t>
            </a:r>
            <a:endParaRPr lang="en-US" sz="1050" dirty="0"/>
          </a:p>
        </p:txBody>
      </p:sp>
      <p:sp>
        <p:nvSpPr>
          <p:cNvPr id="25" name="Shape 23"/>
          <p:cNvSpPr/>
          <p:nvPr/>
        </p:nvSpPr>
        <p:spPr>
          <a:xfrm>
            <a:off x="548640" y="5376672"/>
            <a:ext cx="384048" cy="384048"/>
          </a:xfrm>
          <a:prstGeom prst="ellipse">
            <a:avLst/>
          </a:prstGeom>
          <a:solidFill>
            <a:srgbClr val="2E8BA8"/>
          </a:solidFill>
          <a:ln/>
        </p:spPr>
      </p:sp>
      <p:sp>
        <p:nvSpPr>
          <p:cNvPr id="26" name="Text 24"/>
          <p:cNvSpPr/>
          <p:nvPr/>
        </p:nvSpPr>
        <p:spPr>
          <a:xfrm>
            <a:off x="548640" y="53766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5</a:t>
            </a:r>
            <a:endParaRPr lang="en-US" sz="1300" dirty="0"/>
          </a:p>
        </p:txBody>
      </p:sp>
      <p:sp>
        <p:nvSpPr>
          <p:cNvPr id="27" name="Text 25"/>
          <p:cNvSpPr/>
          <p:nvPr/>
        </p:nvSpPr>
        <p:spPr>
          <a:xfrm>
            <a:off x="1097280" y="5340096"/>
            <a:ext cx="2286000" cy="411480"/>
          </a:xfrm>
          <a:prstGeom prst="rect">
            <a:avLst/>
          </a:prstGeom>
          <a:noFill/>
          <a:ln/>
        </p:spPr>
        <p:txBody>
          <a:bodyPr wrap="square" lIns="0" tIns="0" rIns="0" bIns="0" rtlCol="0" anchor="t"/>
          <a:lstStyle/>
          <a:p>
            <a:pPr indent="0" marL="0">
              <a:buNone/>
            </a:pPr>
            <a:r>
              <a:rPr lang="en-US" sz="1100" b="1" dirty="0">
                <a:solidFill>
                  <a:srgbClr val="0B2F4A"/>
                </a:solidFill>
                <a:latin typeface="Consolas" pitchFamily="34" charset="0"/>
                <a:ea typeface="Consolas" pitchFamily="34" charset="-122"/>
                <a:cs typeface="Consolas" pitchFamily="34" charset="-120"/>
              </a:rPr>
              <a:t>|η| ≤ max(1 m, 4σ)</a:t>
            </a:r>
            <a:endParaRPr lang="en-US" sz="1100" dirty="0"/>
          </a:p>
        </p:txBody>
      </p:sp>
      <p:sp>
        <p:nvSpPr>
          <p:cNvPr id="28" name="Text 26"/>
          <p:cNvSpPr/>
          <p:nvPr/>
        </p:nvSpPr>
        <p:spPr>
          <a:xfrm>
            <a:off x="3520440" y="5358384"/>
            <a:ext cx="1737360" cy="36576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per-feature outliers</a:t>
            </a:r>
            <a:endParaRPr lang="en-US" sz="1050" dirty="0"/>
          </a:p>
        </p:txBody>
      </p:sp>
      <p:sp>
        <p:nvSpPr>
          <p:cNvPr id="29" name="Text 27"/>
          <p:cNvSpPr/>
          <p:nvPr/>
        </p:nvSpPr>
        <p:spPr>
          <a:xfrm>
            <a:off x="5394960" y="5340096"/>
            <a:ext cx="6309360" cy="77724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Robust MAD-based rejection against each feature’s own spread, with a floor so real floods survive.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METHOD</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Why those thresholds, and not others</a:t>
            </a:r>
            <a:endParaRPr lang="en-US" sz="2700" dirty="0"/>
          </a:p>
        </p:txBody>
      </p:sp>
      <p:sp>
        <p:nvSpPr>
          <p:cNvPr id="4" name="Text 2"/>
          <p:cNvSpPr/>
          <p:nvPr/>
        </p:nvSpPr>
        <p:spPr>
          <a:xfrm>
            <a:off x="502920" y="1280160"/>
            <a:ext cx="11155680" cy="502920"/>
          </a:xfrm>
          <a:prstGeom prst="rect">
            <a:avLst/>
          </a:prstGeom>
          <a:noFill/>
          <a:ln/>
        </p:spPr>
        <p:txBody>
          <a:bodyPr wrap="square" lIns="0" tIns="0" rIns="0" bIns="0" rtlCol="0" anchor="t"/>
          <a:lstStyle/>
          <a:p>
            <a:pPr indent="0" marL="0">
              <a:lnSpc>
                <a:spcPts val="1800"/>
              </a:lnSpc>
              <a:buNone/>
            </a:pPr>
            <a:r>
              <a:rPr lang="en-US" sz="1300" dirty="0">
                <a:solidFill>
                  <a:srgbClr val="20303C"/>
                </a:solidFill>
                <a:latin typeface="Calibri" pitchFamily="34" charset="0"/>
                <a:ea typeface="Calibri" pitchFamily="34" charset="-122"/>
                <a:cs typeface="Calibri" pitchFamily="34" charset="-120"/>
              </a:rPr>
              <a:t>A filter you cannot justify is a free parameter. So the entire validation was rerun under relaxed settings — if the thresholds were arbitrary, skill would be insensitive to them.</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6035040" cy="914400"/>
        </p:xfrm>
        <a:graphic>
          <a:graphicData uri="http://schemas.openxmlformats.org/drawingml/2006/table">
            <a:tbl>
              <a:tblPr/>
              <a:tblGrid>
                <a:gridCol w="1097280"/>
                <a:gridCol w="1371600"/>
                <a:gridCol w="731520"/>
                <a:gridCol w="1463040"/>
                <a:gridCol w="137160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reach_q</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ice filter</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 vs gauge</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residual RMS</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r>
              <a:tr h="420624">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 1</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ice-free</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84</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b="1" dirty="0">
                          <a:solidFill>
                            <a:srgbClr val="1B7A4B"/>
                          </a:solidFill>
                          <a:latin typeface="Calibri" pitchFamily="34" charset="0"/>
                          <a:ea typeface="Calibri" pitchFamily="34" charset="-122"/>
                          <a:cs typeface="Calibri" pitchFamily="34" charset="-120"/>
                        </a:rPr>
                        <a:t>0.980</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b="1" dirty="0">
                          <a:solidFill>
                            <a:srgbClr val="1B7A4B"/>
                          </a:solidFill>
                          <a:latin typeface="Calibri" pitchFamily="34" charset="0"/>
                          <a:ea typeface="Calibri" pitchFamily="34" charset="-122"/>
                          <a:cs typeface="Calibri" pitchFamily="34" charset="-120"/>
                        </a:rPr>
                        <a:t>0.21 m</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420624">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 1</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ice kept</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112</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0.776</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0.70 m</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420624">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 2</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ice-free</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132</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0.617</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1.34 m</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420624">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 3</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ice kept</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163</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B4442E"/>
                          </a:solidFill>
                          <a:latin typeface="Calibri" pitchFamily="34" charset="0"/>
                          <a:ea typeface="Calibri" pitchFamily="34" charset="-122"/>
                          <a:cs typeface="Calibri" pitchFamily="34" charset="-120"/>
                        </a:rPr>
                        <a:t>0.581</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B4442E"/>
                          </a:solidFill>
                          <a:latin typeface="Calibri" pitchFamily="34" charset="0"/>
                          <a:ea typeface="Calibri" pitchFamily="34" charset="-122"/>
                          <a:cs typeface="Calibri" pitchFamily="34" charset="-120"/>
                        </a:rPr>
                        <a:t>1.36 m</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6" name="Text 3"/>
          <p:cNvSpPr/>
          <p:nvPr/>
        </p:nvSpPr>
        <p:spPr>
          <a:xfrm>
            <a:off x="502920" y="4114800"/>
            <a:ext cx="6035040" cy="914400"/>
          </a:xfrm>
          <a:prstGeom prst="rect">
            <a:avLst/>
          </a:prstGeom>
          <a:noFill/>
          <a:ln/>
        </p:spPr>
        <p:txBody>
          <a:bodyPr wrap="square" lIns="0" tIns="0" rIns="0" bIns="0" rtlCol="0" anchor="t"/>
          <a:lstStyle/>
          <a:p>
            <a:pPr indent="0" marL="0">
              <a:lnSpc>
                <a:spcPts val="1800"/>
              </a:lnSpc>
              <a:buNone/>
            </a:pPr>
            <a:r>
              <a:rPr lang="en-US" sz="1250" dirty="0">
                <a:solidFill>
                  <a:srgbClr val="2E8BA8"/>
                </a:solidFill>
                <a:latin typeface="Calibri" pitchFamily="34" charset="0"/>
                <a:ea typeface="Calibri" pitchFamily="34" charset="-122"/>
                <a:cs typeface="Calibri" pitchFamily="34" charset="-120"/>
              </a:rPr>
              <a:t>Both filters are load-bearing. The naive "use everything" choice drops r from 0.98 to 0.58 and inflates the residual sixfold.</a:t>
            </a:r>
            <a:endParaRPr lang="en-US" sz="1250" dirty="0"/>
          </a:p>
        </p:txBody>
      </p:sp>
      <p:sp>
        <p:nvSpPr>
          <p:cNvPr id="7" name="Shape 4"/>
          <p:cNvSpPr/>
          <p:nvPr/>
        </p:nvSpPr>
        <p:spPr>
          <a:xfrm>
            <a:off x="6858000" y="1965960"/>
            <a:ext cx="4846320" cy="3566160"/>
          </a:xfrm>
          <a:prstGeom prst="roundRect">
            <a:avLst>
              <a:gd name="adj" fmla="val 1538"/>
            </a:avLst>
          </a:prstGeom>
          <a:solidFill>
            <a:srgbClr val="FBEEE9"/>
          </a:solidFill>
          <a:ln w="10795">
            <a:solidFill>
              <a:srgbClr val="B4442E"/>
            </a:solidFill>
            <a:prstDash val="solid"/>
          </a:ln>
        </p:spPr>
      </p:sp>
      <p:sp>
        <p:nvSpPr>
          <p:cNvPr id="8" name="Text 5"/>
          <p:cNvSpPr/>
          <p:nvPr/>
        </p:nvSpPr>
        <p:spPr>
          <a:xfrm>
            <a:off x="7178040" y="2167128"/>
            <a:ext cx="4206240" cy="347472"/>
          </a:xfrm>
          <a:prstGeom prst="rect">
            <a:avLst/>
          </a:prstGeom>
          <a:noFill/>
          <a:ln/>
        </p:spPr>
        <p:txBody>
          <a:bodyPr wrap="square" lIns="0" tIns="0" rIns="0" bIns="0" rtlCol="0" anchor="ctr"/>
          <a:lstStyle/>
          <a:p>
            <a:pPr indent="0" marL="0">
              <a:buNone/>
            </a:pPr>
            <a:r>
              <a:rPr lang="en-US" sz="1500" b="1" dirty="0">
                <a:solidFill>
                  <a:srgbClr val="0B2F4A"/>
                </a:solidFill>
                <a:latin typeface="Georgia" pitchFamily="34" charset="0"/>
                <a:ea typeface="Georgia" pitchFamily="34" charset="-122"/>
                <a:cs typeface="Georgia" pitchFamily="34" charset="-120"/>
              </a:rPr>
              <a:t>The physical argument</a:t>
            </a:r>
            <a:endParaRPr lang="en-US" sz="1500" dirty="0"/>
          </a:p>
        </p:txBody>
      </p:sp>
      <p:sp>
        <p:nvSpPr>
          <p:cNvPr id="9" name="Text 6"/>
          <p:cNvSpPr/>
          <p:nvPr/>
        </p:nvSpPr>
        <p:spPr>
          <a:xfrm>
            <a:off x="7178040" y="2468880"/>
            <a:ext cx="4206240" cy="2377440"/>
          </a:xfrm>
          <a:prstGeom prst="rect">
            <a:avLst/>
          </a:prstGeom>
          <a:noFill/>
          <a:ln/>
        </p:spPr>
        <p:txBody>
          <a:bodyPr wrap="square" lIns="0" tIns="0" rIns="0" bIns="0" rtlCol="0" anchor="t"/>
          <a:lstStyle/>
          <a:p>
            <a:pPr indent="0" marL="0">
              <a:lnSpc>
                <a:spcPts val="1800"/>
              </a:lnSpc>
              <a:buNone/>
            </a:pPr>
            <a:r>
              <a:rPr lang="en-US" sz="1150" dirty="0">
                <a:solidFill>
                  <a:srgbClr val="20303C"/>
                </a:solidFill>
                <a:latin typeface="Calibri" pitchFamily="34" charset="0"/>
                <a:ea typeface="Calibri" pitchFamily="34" charset="-122"/>
                <a:cs typeface="Calibri" pitchFamily="34" charset="-120"/>
              </a:rPr>
              <a:t>reach_q = 2 is not "slightly worse data". At the Kiana reach it returns water-surface elevations from −5.2 m to +11.2 m. The river bed there sits near 2 m and the gauged seasonal stage range is about 4 m. Below sea level and 11 m in the air are not extreme flows — they are retrieval failures, and averaging them in corrupts everything downstream.</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DATA VERSIONS</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Two product versions, and which to trust</a:t>
            </a:r>
            <a:endParaRPr lang="en-US" sz="2700" dirty="0"/>
          </a:p>
        </p:txBody>
      </p:sp>
      <p:sp>
        <p:nvSpPr>
          <p:cNvPr id="4" name="Shape 2"/>
          <p:cNvSpPr/>
          <p:nvPr/>
        </p:nvSpPr>
        <p:spPr>
          <a:xfrm>
            <a:off x="438912" y="1216152"/>
            <a:ext cx="790041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18_version_comparison.png">    </p:cNvPr>
          <p:cNvPicPr>
            <a:picLocks noChangeAspect="1"/>
          </p:cNvPicPr>
          <p:nvPr/>
        </p:nvPicPr>
        <p:blipFill>
          <a:blip r:embed="rId1"/>
          <a:srcRect l="0" r="0" t="0" b="0"/>
          <a:stretch/>
        </p:blipFill>
        <p:spPr>
          <a:xfrm>
            <a:off x="502920" y="1280160"/>
            <a:ext cx="777240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Version D (SWORD v17b) matched against Version 2.0 (SWORD v16) on identical reaches within 30 minutes, n = 4,849. Panels: agreement, difference distribution, per-variable correlation, per-river bias, record length, and the trade table.</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Elevation is version-stable to a fraction of a centimetre, so every WSE result here is version-independent. Width is not (8.1% median difference), which is why no width-based conclusion is drawn anywhere.</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503920" y="1371600"/>
          <a:ext cx="3200400" cy="914400"/>
        </p:xfrm>
        <a:graphic>
          <a:graphicData uri="http://schemas.openxmlformats.org/drawingml/2006/table">
            <a:tbl>
              <a:tblPr/>
              <a:tblGrid>
                <a:gridCol w="914400"/>
                <a:gridCol w="1371600"/>
                <a:gridCol w="914400"/>
              </a:tblGrid>
              <a:tr h="384048">
                <a:tc>
                  <a:txBody>
                    <a:bodyPr/>
                    <a:lstStyle/>
                    <a:p>
                      <a:pPr indent="0" marL="0">
                        <a:buNone/>
                      </a:pPr>
                      <a:r>
                        <a:rPr lang="en-US" sz="1100" b="1" dirty="0">
                          <a:solidFill>
                            <a:srgbClr val="20303C"/>
                          </a:solidFill>
                          <a:latin typeface="Calibri" pitchFamily="34" charset="0"/>
                          <a:ea typeface="Calibri" pitchFamily="34" charset="-122"/>
                          <a:cs typeface="Calibri" pitchFamily="34" charset="-120"/>
                        </a:rPr>
                        <a:t>WSE</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r = 0.999996</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0.08%</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84048">
                <a:tc>
                  <a:txBody>
                    <a:bodyPr/>
                    <a:lstStyle/>
                    <a:p>
                      <a:pPr indent="0" marL="0">
                        <a:buNone/>
                      </a:pPr>
                      <a:r>
                        <a:rPr lang="en-US" sz="1100" b="1" dirty="0">
                          <a:solidFill>
                            <a:srgbClr val="20303C"/>
                          </a:solidFill>
                          <a:latin typeface="Calibri" pitchFamily="34" charset="0"/>
                          <a:ea typeface="Calibri" pitchFamily="34" charset="-122"/>
                          <a:cs typeface="Calibri" pitchFamily="34" charset="-120"/>
                        </a:rPr>
                        <a:t>slope</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r = 0.937</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84048">
                <a:tc>
                  <a:txBody>
                    <a:bodyPr/>
                    <a:lstStyle/>
                    <a:p>
                      <a:pPr indent="0" marL="0">
                        <a:buNone/>
                      </a:pPr>
                      <a:r>
                        <a:rPr lang="en-US" sz="1100" b="1" dirty="0">
                          <a:solidFill>
                            <a:srgbClr val="20303C"/>
                          </a:solidFill>
                          <a:latin typeface="Calibri" pitchFamily="34" charset="0"/>
                          <a:ea typeface="Calibri" pitchFamily="34" charset="-122"/>
                          <a:cs typeface="Calibri" pitchFamily="34" charset="-120"/>
                        </a:rPr>
                        <a:t>width</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r = 0.963</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b="1" dirty="0">
                          <a:solidFill>
                            <a:srgbClr val="B4442E"/>
                          </a:solidFill>
                          <a:latin typeface="Calibri" pitchFamily="34" charset="0"/>
                          <a:ea typeface="Calibri" pitchFamily="34" charset="-122"/>
                          <a:cs typeface="Calibri" pitchFamily="34" charset="-120"/>
                        </a:rPr>
                        <a:t>8.1%</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13" name="Text 9"/>
          <p:cNvSpPr/>
          <p:nvPr/>
        </p:nvSpPr>
        <p:spPr>
          <a:xfrm>
            <a:off x="8503920" y="2834640"/>
            <a:ext cx="3200400" cy="1645920"/>
          </a:xfrm>
          <a:prstGeom prst="rect">
            <a:avLst/>
          </a:prstGeom>
          <a:noFill/>
          <a:ln/>
        </p:spPr>
        <p:txBody>
          <a:bodyPr wrap="square" lIns="0" tIns="0" rIns="0" bIns="0" rtlCol="0" anchor="t"/>
          <a:lstStyle/>
          <a:p>
            <a:pPr indent="0" marL="0">
              <a:lnSpc>
                <a:spcPts val="1800"/>
              </a:lnSpc>
              <a:buNone/>
            </a:pPr>
            <a:r>
              <a:rPr lang="en-US" sz="1150" dirty="0">
                <a:solidFill>
                  <a:srgbClr val="20303C"/>
                </a:solidFill>
                <a:latin typeface="Calibri" pitchFamily="34" charset="0"/>
                <a:ea typeface="Calibri" pitchFamily="34" charset="-122"/>
                <a:cs typeface="Calibri" pitchFamily="34" charset="-120"/>
              </a:rPr>
              <a:t>The practical trade: Version D runs to Sep 2026 and is the backbone here. Version 2.0 stops in 2025 but is the ONLY version carrying SoS discharge, so it is used for that alone.</a:t>
            </a:r>
            <a:endParaRPr lang="en-US" sz="1150" dirty="0"/>
          </a:p>
        </p:txBody>
      </p:sp>
      <p:sp>
        <p:nvSpPr>
          <p:cNvPr id="14" name="Text 10"/>
          <p:cNvSpPr/>
          <p:nvPr/>
        </p:nvSpPr>
        <p:spPr>
          <a:xfrm>
            <a:off x="8503920" y="4480560"/>
            <a:ext cx="3200400" cy="1005840"/>
          </a:xfrm>
          <a:prstGeom prst="rect">
            <a:avLst/>
          </a:prstGeom>
          <a:noFill/>
          <a:ln/>
        </p:spPr>
        <p:txBody>
          <a:bodyPr wrap="square" lIns="0" tIns="0" rIns="0" bIns="0" rtlCol="0" anchor="t"/>
          <a:lstStyle/>
          <a:p>
            <a:pPr indent="0" marL="0">
              <a:lnSpc>
                <a:spcPts val="1800"/>
              </a:lnSpc>
              <a:buNone/>
            </a:pPr>
            <a:r>
              <a:rPr lang="en-US" sz="1100" dirty="0">
                <a:solidFill>
                  <a:srgbClr val="5A7284"/>
                </a:solidFill>
                <a:latin typeface="Calibri" pitchFamily="34" charset="0"/>
                <a:ea typeface="Calibri" pitchFamily="34" charset="-122"/>
                <a:cs typeface="Calibri" pitchFamily="34" charset="-120"/>
              </a:rPr>
              <a:t>The official v17b→v16 reach translation table maps all 162 domain reaches, which is what makes this comparison possible at all.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DATA VERSIONS</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SWORD: which version, and at what resolution</a:t>
            </a:r>
            <a:endParaRPr lang="en-US" sz="2700" dirty="0"/>
          </a:p>
        </p:txBody>
      </p:sp>
      <p:sp>
        <p:nvSpPr>
          <p:cNvPr id="4" name="Text 2"/>
          <p:cNvSpPr/>
          <p:nvPr/>
        </p:nvSpPr>
        <p:spPr>
          <a:xfrm>
            <a:off x="502920" y="1234440"/>
            <a:ext cx="11155680" cy="457200"/>
          </a:xfrm>
          <a:prstGeom prst="rect">
            <a:avLst/>
          </a:prstGeom>
          <a:noFill/>
          <a:ln/>
        </p:spPr>
        <p:txBody>
          <a:bodyPr wrap="square" lIns="0" tIns="0" rIns="0" bIns="0" rtlCol="0" anchor="t"/>
          <a:lstStyle/>
          <a:p>
            <a:pPr indent="0" marL="0">
              <a:lnSpc>
                <a:spcPts val="1800"/>
              </a:lnSpc>
              <a:buNone/>
            </a:pPr>
            <a:r>
              <a:rPr lang="en-US" sz="1300" dirty="0">
                <a:solidFill>
                  <a:srgbClr val="20303C"/>
                </a:solidFill>
                <a:latin typeface="Calibri" pitchFamily="34" charset="0"/>
                <a:ea typeface="Calibri" pitchFamily="34" charset="-122"/>
                <a:cs typeface="Calibri" pitchFamily="34" charset="-120"/>
              </a:rPr>
              <a:t>SWORD is the river database SWOT is defined on. Every reach and node ID in this project comes from it, so its version and resolution set the ceiling on everything else.</a:t>
            </a:r>
            <a:endParaRPr lang="en-US" sz="1300" dirty="0"/>
          </a:p>
        </p:txBody>
      </p:sp>
      <p:sp>
        <p:nvSpPr>
          <p:cNvPr id="5" name="Text 3"/>
          <p:cNvSpPr/>
          <p:nvPr/>
        </p:nvSpPr>
        <p:spPr>
          <a:xfrm>
            <a:off x="502920" y="1664208"/>
            <a:ext cx="5486400" cy="292608"/>
          </a:xfrm>
          <a:prstGeom prst="rect">
            <a:avLst/>
          </a:prstGeom>
          <a:noFill/>
          <a:ln/>
        </p:spPr>
        <p:txBody>
          <a:bodyPr wrap="square" lIns="0" tIns="0" rIns="0" bIns="0" rtlCol="0" anchor="ctr"/>
          <a:lstStyle/>
          <a:p>
            <a:pPr indent="0" marL="0">
              <a:buNone/>
            </a:pPr>
            <a:r>
              <a:rPr lang="en-US" sz="1400" b="1" dirty="0">
                <a:solidFill>
                  <a:srgbClr val="0B2F4A"/>
                </a:solidFill>
                <a:latin typeface="Georgia" pitchFamily="34" charset="0"/>
                <a:ea typeface="Georgia" pitchFamily="34" charset="-122"/>
                <a:cs typeface="Georgia" pitchFamily="34" charset="-120"/>
              </a:rPr>
              <a:t>Resolution tiers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975104"/>
          <a:ext cx="11155680" cy="914400"/>
        </p:xfrm>
        <a:graphic>
          <a:graphicData uri="http://schemas.openxmlformats.org/drawingml/2006/table">
            <a:tbl>
              <a:tblPr/>
              <a:tblGrid>
                <a:gridCol w="2194560"/>
                <a:gridCol w="2194560"/>
                <a:gridCol w="3108960"/>
                <a:gridCol w="365760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spacing</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count (N. America)</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carries SWOT data?</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r>
              <a:tr h="329184">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centrelines</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b="1" dirty="0">
                          <a:solidFill>
                            <a:srgbClr val="20303C"/>
                          </a:solidFill>
                          <a:latin typeface="Calibri" pitchFamily="34" charset="0"/>
                          <a:ea typeface="Calibri" pitchFamily="34" charset="-122"/>
                          <a:cs typeface="Calibri" pitchFamily="34" charset="-120"/>
                        </a:rPr>
                        <a:t>~32 m</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10,349,756</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B4442E"/>
                          </a:solidFill>
                          <a:latin typeface="Calibri" pitchFamily="34" charset="0"/>
                          <a:ea typeface="Calibri" pitchFamily="34" charset="-122"/>
                          <a:cs typeface="Calibri" pitchFamily="34" charset="-120"/>
                        </a:rPr>
                        <a:t>NO — geometry only</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29184">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nodes</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~199 m</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1,705,705</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yes — used here</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29184">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reaches</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~10.1 km</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38,696</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yes — used here</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7" name="Text 4"/>
          <p:cNvSpPr/>
          <p:nvPr/>
        </p:nvSpPr>
        <p:spPr>
          <a:xfrm>
            <a:off x="502920" y="3337560"/>
            <a:ext cx="11155680" cy="777240"/>
          </a:xfrm>
          <a:prstGeom prst="rect">
            <a:avLst/>
          </a:prstGeom>
          <a:noFill/>
          <a:ln/>
        </p:spPr>
        <p:txBody>
          <a:bodyPr wrap="square" lIns="0" tIns="0" rIns="0" bIns="0" rtlCol="0" anchor="t"/>
          <a:lstStyle/>
          <a:p>
            <a:pPr indent="0" marL="0">
              <a:lnSpc>
                <a:spcPts val="1800"/>
              </a:lnSpc>
              <a:buNone/>
            </a:pPr>
            <a:r>
              <a:rPr lang="en-US" sz="1150" dirty="0">
                <a:solidFill>
                  <a:srgbClr val="2E8BA8"/>
                </a:solidFill>
                <a:latin typeface="Calibri" pitchFamily="34" charset="0"/>
                <a:ea typeface="Calibri" pitchFamily="34" charset="-122"/>
                <a:cs typeface="Calibri" pitchFamily="34" charset="-120"/>
              </a:rPr>
              <a:t>The highest-resolution SWORD layer is the 32 m centreline — but it is geometry, not measurement. SWOT’s vector product delivers water-surface elevation at node (200 m) and reach (10 km) scale only. For metre-scale WSE you need L2_HR_PIXC (10-60 m pixel cloud), which requires an Earthdata Login and is not used here.</a:t>
            </a:r>
            <a:endParaRPr lang="en-US" sz="1150" dirty="0"/>
          </a:p>
        </p:txBody>
      </p:sp>
      <p:sp>
        <p:nvSpPr>
          <p:cNvPr id="8" name="Text 5"/>
          <p:cNvSpPr/>
          <p:nvPr/>
        </p:nvSpPr>
        <p:spPr>
          <a:xfrm>
            <a:off x="502920" y="4224528"/>
            <a:ext cx="5486400" cy="292608"/>
          </a:xfrm>
          <a:prstGeom prst="rect">
            <a:avLst/>
          </a:prstGeom>
          <a:noFill/>
          <a:ln/>
        </p:spPr>
        <p:txBody>
          <a:bodyPr wrap="square" lIns="0" tIns="0" rIns="0" bIns="0" rtlCol="0" anchor="ctr"/>
          <a:lstStyle/>
          <a:p>
            <a:pPr indent="0" marL="0">
              <a:buNone/>
            </a:pPr>
            <a:r>
              <a:rPr lang="en-US" sz="1400" b="1" dirty="0">
                <a:solidFill>
                  <a:srgbClr val="0B2F4A"/>
                </a:solidFill>
                <a:latin typeface="Georgia" pitchFamily="34" charset="0"/>
                <a:ea typeface="Georgia" pitchFamily="34" charset="-122"/>
                <a:cs typeface="Georgia" pitchFamily="34" charset="-120"/>
              </a:rPr>
              <a:t>Version lineage</a:t>
            </a:r>
            <a:endParaRPr lang="en-US" sz="14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02920" y="4535424"/>
          <a:ext cx="11155680" cy="914400"/>
        </p:xfrm>
        <a:graphic>
          <a:graphicData uri="http://schemas.openxmlformats.org/drawingml/2006/table">
            <a:tbl>
              <a:tblPr/>
              <a:tblGrid>
                <a:gridCol w="1645920"/>
                <a:gridCol w="2011680"/>
                <a:gridCol w="4206240"/>
                <a:gridCol w="329184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SWORD</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released</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paired SWOT product</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role here</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r>
              <a:tr h="329184">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v16</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Aug 2023</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RiverSP Version 2.0 + L4 SoS</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discharge only</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29184">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v17b</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2025</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RiverSP Version D (current)</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the observations</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29184">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v17c</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2 Sep 2026</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none yet — database only</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b="1" dirty="0">
                          <a:solidFill>
                            <a:srgbClr val="1B7A4B"/>
                          </a:solidFill>
                          <a:latin typeface="Calibri" pitchFamily="34" charset="0"/>
                          <a:ea typeface="Calibri" pitchFamily="34" charset="-122"/>
                          <a:cs typeface="Calibri" pitchFamily="34" charset="-120"/>
                        </a:rPr>
                        <a:t>topology + IDs</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10" name="Text 6"/>
          <p:cNvSpPr/>
          <p:nvPr/>
        </p:nvSpPr>
        <p:spPr>
          <a:xfrm>
            <a:off x="502920" y="5852160"/>
            <a:ext cx="11155680" cy="731520"/>
          </a:xfrm>
          <a:prstGeom prst="rect">
            <a:avLst/>
          </a:prstGeom>
          <a:noFill/>
          <a:ln/>
        </p:spPr>
        <p:txBody>
          <a:bodyPr wrap="square" lIns="0" tIns="0" rIns="0" bIns="0" rtlCol="0" anchor="t"/>
          <a:lstStyle/>
          <a:p>
            <a:pPr indent="0" marL="0">
              <a:lnSpc>
                <a:spcPts val="1800"/>
              </a:lnSpc>
              <a:buNone/>
            </a:pPr>
            <a:r>
              <a:rPr lang="en-US" sz="1150" dirty="0">
                <a:solidFill>
                  <a:srgbClr val="5A7284"/>
                </a:solidFill>
                <a:latin typeface="Calibri" pitchFamily="34" charset="0"/>
                <a:ea typeface="Calibri" pitchFamily="34" charset="-122"/>
                <a:cs typeface="Calibri" pitchFamily="34" charset="-120"/>
              </a:rPr>
              <a:t>v17c is the newest SWORD (Zenodo 22259077) and is what this project uses for network topology. It preserves v17b structure, so its IDs match the Version D observations directly — which is why no translation was needed there, only between v17b and v16.</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ANALYSIS</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1 — deciding what a river is</a:t>
            </a:r>
            <a:endParaRPr lang="en-US" sz="2700" dirty="0"/>
          </a:p>
        </p:txBody>
      </p:sp>
      <p:sp>
        <p:nvSpPr>
          <p:cNvPr id="4" name="Shape 2"/>
          <p:cNvSpPr/>
          <p:nvPr/>
        </p:nvSpPr>
        <p:spPr>
          <a:xfrm>
            <a:off x="438912" y="1216152"/>
            <a:ext cx="799185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07_network_topology.png">    </p:cNvPr>
          <p:cNvPicPr>
            <a:picLocks noChangeAspect="1"/>
          </p:cNvPicPr>
          <p:nvPr/>
        </p:nvPicPr>
        <p:blipFill>
          <a:blip r:embed="rId1"/>
          <a:srcRect l="0" r="0" t="0" b="0"/>
          <a:stretch/>
        </p:blipFill>
        <p:spPr>
          <a:xfrm>
            <a:off x="502920" y="1280160"/>
            <a:ext cx="786384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Six panels tracing 292 candidate SWORD reaches down to 3 mainstems: partition by best_outlet, rank flow paths by drainage area, draw the reach connectivity graph, map the survivors, show reach type along each stem, and tabulate the selection with a reason per path.</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river_name is NODATA for 111 of 292 reaches, so naming cannot do this. Topology can, and it is auditable: every path carries a recorded reason for inclusion or exclusion.</a:t>
            </a:r>
            <a:endParaRPr lang="en-US" sz="1050" dirty="0"/>
          </a:p>
        </p:txBody>
      </p:sp>
      <p:sp>
        <p:nvSpPr>
          <p:cNvPr id="12" name="Text 9"/>
          <p:cNvSpPr/>
          <p:nvPr/>
        </p:nvSpPr>
        <p:spPr>
          <a:xfrm>
            <a:off x="8503920" y="1371600"/>
            <a:ext cx="3200400" cy="731520"/>
          </a:xfrm>
          <a:prstGeom prst="rect">
            <a:avLst/>
          </a:prstGeom>
          <a:noFill/>
          <a:ln/>
        </p:spPr>
        <p:txBody>
          <a:bodyPr wrap="square" lIns="0" tIns="0" rIns="0" bIns="0" rtlCol="0" anchor="t"/>
          <a:lstStyle/>
          <a:p>
            <a:pPr indent="0" marL="0">
              <a:lnSpc>
                <a:spcPts val="1800"/>
              </a:lnSpc>
              <a:buNone/>
            </a:pPr>
            <a:r>
              <a:rPr lang="en-US" sz="1200" dirty="0">
                <a:solidFill>
                  <a:srgbClr val="2E8BA8"/>
                </a:solidFill>
                <a:latin typeface="Calibri" pitchFamily="34" charset="0"/>
                <a:ea typeface="Calibri" pitchFamily="34" charset="-122"/>
                <a:cs typeface="Calibri" pitchFamily="34" charset="-120"/>
              </a:rPr>
              <a:t>292 reaches · 9 drainage systems · 34 flow paths · 24 confluences</a:t>
            </a:r>
            <a:endParaRPr lang="en-US" sz="1200" dirty="0"/>
          </a:p>
        </p:txBody>
      </p:sp>
      <p:sp>
        <p:nvSpPr>
          <p:cNvPr id="13" name="Text 10"/>
          <p:cNvSpPr/>
          <p:nvPr/>
        </p:nvSpPr>
        <p:spPr>
          <a:xfrm>
            <a:off x="8503920" y="2194560"/>
            <a:ext cx="3200400" cy="2011680"/>
          </a:xfrm>
          <a:prstGeom prst="rect">
            <a:avLst/>
          </a:prstGeom>
          <a:noFill/>
          <a:ln/>
        </p:spPr>
        <p:txBody>
          <a:bodyPr wrap="square" lIns="0" tIns="0" rIns="0" bIns="0" rtlCol="0" anchor="t"/>
          <a:lstStyle/>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best_outlet → which sound it drains to</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main_path_id + facc → rank the paths</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rch_id_dn → the actual reach graph</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dist_out → order along the stem</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type → what is observable</a:t>
            </a:r>
            <a:endParaRPr lang="en-US" sz="1100" dirty="0"/>
          </a:p>
        </p:txBody>
      </p:sp>
      <p:sp>
        <p:nvSpPr>
          <p:cNvPr id="14" name="Text 11"/>
          <p:cNvSpPr/>
          <p:nvPr/>
        </p:nvSpPr>
        <p:spPr>
          <a:xfrm>
            <a:off x="8503920" y="4297680"/>
            <a:ext cx="3200400" cy="1097280"/>
          </a:xfrm>
          <a:prstGeom prst="rect">
            <a:avLst/>
          </a:prstGeom>
          <a:noFill/>
          <a:ln/>
        </p:spPr>
        <p:txBody>
          <a:bodyPr wrap="square" lIns="0" tIns="0" rIns="0" bIns="0" rtlCol="0" anchor="t"/>
          <a:lstStyle/>
          <a:p>
            <a:pPr indent="0" marL="0">
              <a:lnSpc>
                <a:spcPts val="1800"/>
              </a:lnSpc>
              <a:buNone/>
            </a:pPr>
            <a:r>
              <a:rPr lang="en-US" sz="1100" dirty="0">
                <a:solidFill>
                  <a:srgbClr val="B4442E"/>
                </a:solidFill>
                <a:latin typeface="Calibri" pitchFamily="34" charset="0"/>
                <a:ea typeface="Calibri" pitchFamily="34" charset="-122"/>
                <a:cs typeface="Calibri" pitchFamily="34" charset="-120"/>
              </a:rPr>
              <a:t>The Kobuk delta appears here as the lowest 84 km typed 5 and 6, which is why its profile starts inland.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ANALYSIS</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2 — is the measurement trustworthy?</a:t>
            </a:r>
            <a:endParaRPr lang="en-US" sz="2700" dirty="0"/>
          </a:p>
        </p:txBody>
      </p:sp>
      <p:sp>
        <p:nvSpPr>
          <p:cNvPr id="4" name="Shape 2"/>
          <p:cNvSpPr/>
          <p:nvPr/>
        </p:nvSpPr>
        <p:spPr>
          <a:xfrm>
            <a:off x="438912" y="1216152"/>
            <a:ext cx="799185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01_kiana_validation.png">    </p:cNvPr>
          <p:cNvPicPr>
            <a:picLocks noChangeAspect="1"/>
          </p:cNvPicPr>
          <p:nvPr/>
        </p:nvPicPr>
        <p:blipFill>
          <a:blip r:embed="rId1"/>
          <a:srcRect l="0" r="0" t="0" b="0"/>
          <a:stretch/>
        </p:blipFill>
        <p:spPr>
          <a:xfrm>
            <a:off x="502920" y="1280160"/>
            <a:ext cx="786384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SWOT WSE against USGS 15744500 (Kobuk at Kiana), 3.6 km away. Panels: discharge with overlaid SWOT, the same data as anomalies on the gauge datum, scatter with fit, residual histogram, and the QC sensitivity test.</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The slope is a parameter-free physical test — two instruments on the same water surface must differ by a constant, so dWSE/dstage must be exactly 1. Measured 1.002, with nothing tuned to make it so.</a:t>
            </a:r>
            <a:endParaRPr lang="en-US" sz="1050" dirty="0"/>
          </a:p>
        </p:txBody>
      </p:sp>
      <p:sp>
        <p:nvSpPr>
          <p:cNvPr id="12" name="Text 9"/>
          <p:cNvSpPr/>
          <p:nvPr/>
        </p:nvSpPr>
        <p:spPr>
          <a:xfrm>
            <a:off x="8503920" y="1371600"/>
            <a:ext cx="3200400" cy="603504"/>
          </a:xfrm>
          <a:prstGeom prst="rect">
            <a:avLst/>
          </a:prstGeom>
          <a:noFill/>
          <a:ln/>
        </p:spPr>
        <p:txBody>
          <a:bodyPr wrap="square" lIns="0" tIns="0" rIns="0" bIns="0" rtlCol="0" anchor="ctr"/>
          <a:lstStyle/>
          <a:p>
            <a:pPr indent="0" marL="0">
              <a:buNone/>
            </a:pPr>
            <a:r>
              <a:rPr lang="en-US" sz="2900" b="1" dirty="0">
                <a:solidFill>
                  <a:srgbClr val="1B7A4B"/>
                </a:solidFill>
                <a:latin typeface="Georgia" pitchFamily="34" charset="0"/>
                <a:ea typeface="Georgia" pitchFamily="34" charset="-122"/>
                <a:cs typeface="Georgia" pitchFamily="34" charset="-120"/>
              </a:rPr>
              <a:t>1.002</a:t>
            </a:r>
            <a:endParaRPr lang="en-US" sz="2900" dirty="0"/>
          </a:p>
        </p:txBody>
      </p:sp>
      <p:sp>
        <p:nvSpPr>
          <p:cNvPr id="13" name="Text 10"/>
          <p:cNvSpPr/>
          <p:nvPr/>
        </p:nvSpPr>
        <p:spPr>
          <a:xfrm>
            <a:off x="8503920" y="1956816"/>
            <a:ext cx="320040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slope where 1.000</a:t>
            </a:r>
            <a:endParaRPr lang="en-US" sz="1050" dirty="0"/>
          </a:p>
          <a:p>
            <a:pPr indent="0" marL="0">
              <a:buNone/>
            </a:pPr>
            <a:r>
              <a:rPr lang="en-US" sz="1050" dirty="0">
                <a:solidFill>
                  <a:srgbClr val="5A7284"/>
                </a:solidFill>
                <a:latin typeface="Calibri" pitchFamily="34" charset="0"/>
                <a:ea typeface="Calibri" pitchFamily="34" charset="-122"/>
                <a:cs typeface="Calibri" pitchFamily="34" charset="-120"/>
              </a:rPr>
              <a:t>is physically required</a:t>
            </a:r>
            <a:endParaRPr lang="en-US" sz="1050" dirty="0"/>
          </a:p>
        </p:txBody>
      </p:sp>
      <p:sp>
        <p:nvSpPr>
          <p:cNvPr id="14" name="Text 11"/>
          <p:cNvSpPr/>
          <p:nvPr/>
        </p:nvSpPr>
        <p:spPr>
          <a:xfrm>
            <a:off x="8503920" y="2651760"/>
            <a:ext cx="3200400" cy="603504"/>
          </a:xfrm>
          <a:prstGeom prst="rect">
            <a:avLst/>
          </a:prstGeom>
          <a:noFill/>
          <a:ln/>
        </p:spPr>
        <p:txBody>
          <a:bodyPr wrap="square" lIns="0" tIns="0" rIns="0" bIns="0" rtlCol="0" anchor="ctr"/>
          <a:lstStyle/>
          <a:p>
            <a:pPr indent="0" marL="0">
              <a:buNone/>
            </a:pPr>
            <a:r>
              <a:rPr lang="en-US" sz="2900" b="1" dirty="0">
                <a:solidFill>
                  <a:srgbClr val="1B7A4B"/>
                </a:solidFill>
                <a:latin typeface="Georgia" pitchFamily="34" charset="0"/>
                <a:ea typeface="Georgia" pitchFamily="34" charset="-122"/>
                <a:cs typeface="Georgia" pitchFamily="34" charset="-120"/>
              </a:rPr>
              <a:t>r = 0.980</a:t>
            </a:r>
            <a:endParaRPr lang="en-US" sz="2900" dirty="0"/>
          </a:p>
        </p:txBody>
      </p:sp>
      <p:sp>
        <p:nvSpPr>
          <p:cNvPr id="15" name="Text 12"/>
          <p:cNvSpPr/>
          <p:nvPr/>
        </p:nvSpPr>
        <p:spPr>
          <a:xfrm>
            <a:off x="8503920" y="3236976"/>
            <a:ext cx="320040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84 coincident overpasses</a:t>
            </a:r>
            <a:endParaRPr lang="en-US" sz="1050" dirty="0"/>
          </a:p>
          <a:p>
            <a:pPr indent="0" marL="0">
              <a:buNone/>
            </a:pPr>
            <a:r>
              <a:rPr lang="en-US" sz="1050" dirty="0">
                <a:solidFill>
                  <a:srgbClr val="5A7284"/>
                </a:solidFill>
                <a:latin typeface="Calibri" pitchFamily="34" charset="0"/>
                <a:ea typeface="Calibri" pitchFamily="34" charset="-122"/>
                <a:cs typeface="Calibri" pitchFamily="34" charset="-120"/>
              </a:rPr>
              <a:t>within 1 hour</a:t>
            </a:r>
            <a:endParaRPr lang="en-US" sz="1050" dirty="0"/>
          </a:p>
        </p:txBody>
      </p:sp>
      <p:sp>
        <p:nvSpPr>
          <p:cNvPr id="16" name="Text 13"/>
          <p:cNvSpPr/>
          <p:nvPr/>
        </p:nvSpPr>
        <p:spPr>
          <a:xfrm>
            <a:off x="8503920" y="3931920"/>
            <a:ext cx="3200400" cy="603504"/>
          </a:xfrm>
          <a:prstGeom prst="rect">
            <a:avLst/>
          </a:prstGeom>
          <a:noFill/>
          <a:ln/>
        </p:spPr>
        <p:txBody>
          <a:bodyPr wrap="square" lIns="0" tIns="0" rIns="0" bIns="0" rtlCol="0" anchor="ctr"/>
          <a:lstStyle/>
          <a:p>
            <a:pPr indent="0" marL="0">
              <a:buNone/>
            </a:pPr>
            <a:r>
              <a:rPr lang="en-US" sz="2900" b="1" dirty="0">
                <a:solidFill>
                  <a:srgbClr val="2E8BA8"/>
                </a:solidFill>
                <a:latin typeface="Georgia" pitchFamily="34" charset="0"/>
                <a:ea typeface="Georgia" pitchFamily="34" charset="-122"/>
                <a:cs typeface="Georgia" pitchFamily="34" charset="-120"/>
              </a:rPr>
              <a:t>21 cm</a:t>
            </a:r>
            <a:endParaRPr lang="en-US" sz="2900" dirty="0"/>
          </a:p>
        </p:txBody>
      </p:sp>
      <p:sp>
        <p:nvSpPr>
          <p:cNvPr id="17" name="Text 14"/>
          <p:cNvSpPr/>
          <p:nvPr/>
        </p:nvSpPr>
        <p:spPr>
          <a:xfrm>
            <a:off x="8503920" y="4517136"/>
            <a:ext cx="320040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residual, against SWOT’s</a:t>
            </a:r>
            <a:endParaRPr lang="en-US" sz="1050" dirty="0"/>
          </a:p>
          <a:p>
            <a:pPr indent="0" marL="0">
              <a:buNone/>
            </a:pPr>
            <a:r>
              <a:rPr lang="en-US" sz="1050" dirty="0">
                <a:solidFill>
                  <a:srgbClr val="5A7284"/>
                </a:solidFill>
                <a:latin typeface="Calibri" pitchFamily="34" charset="0"/>
                <a:ea typeface="Calibri" pitchFamily="34" charset="-122"/>
                <a:cs typeface="Calibri" pitchFamily="34" charset="-120"/>
              </a:rPr>
              <a:t>own 11 cm uncertainty</a:t>
            </a:r>
            <a:endParaRPr lang="en-US" sz="1050" dirty="0"/>
          </a:p>
        </p:txBody>
      </p:sp>
      <p:sp>
        <p:nvSpPr>
          <p:cNvPr id="18" name="Text 15"/>
          <p:cNvSpPr/>
          <p:nvPr/>
        </p:nvSpPr>
        <p:spPr>
          <a:xfrm>
            <a:off x="8503920" y="5120640"/>
            <a:ext cx="3200400" cy="1005840"/>
          </a:xfrm>
          <a:prstGeom prst="rect">
            <a:avLst/>
          </a:prstGeom>
          <a:noFill/>
          <a:ln/>
        </p:spPr>
        <p:txBody>
          <a:bodyPr wrap="square" lIns="0" tIns="0" rIns="0" bIns="0" rtlCol="0" anchor="t"/>
          <a:lstStyle/>
          <a:p>
            <a:pPr indent="0" marL="0">
              <a:lnSpc>
                <a:spcPts val="1800"/>
              </a:lnSpc>
              <a:buNone/>
            </a:pPr>
            <a:r>
              <a:rPr lang="en-US" sz="1050" dirty="0">
                <a:solidFill>
                  <a:srgbClr val="5A7284"/>
                </a:solidFill>
                <a:latin typeface="Calibri" pitchFamily="34" charset="0"/>
                <a:ea typeface="Calibri" pitchFamily="34" charset="-122"/>
                <a:cs typeface="Calibri" pitchFamily="34" charset="-120"/>
              </a:rPr>
              <a:t>The residual exceeds the instrument spec, as it must: reach and gauge are 3.6 km apart with real slope between them.</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ANALYSIS</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3 — long profiles, and a bug the physics caught</a:t>
            </a:r>
            <a:endParaRPr lang="en-US" sz="2700" dirty="0"/>
          </a:p>
        </p:txBody>
      </p:sp>
      <p:sp>
        <p:nvSpPr>
          <p:cNvPr id="4" name="Shape 2"/>
          <p:cNvSpPr/>
          <p:nvPr/>
        </p:nvSpPr>
        <p:spPr>
          <a:xfrm>
            <a:off x="438912" y="1216152"/>
            <a:ext cx="799185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02_domain_and_profiles.png">    </p:cNvPr>
          <p:cNvPicPr>
            <a:picLocks noChangeAspect="1"/>
          </p:cNvPicPr>
          <p:nvPr/>
        </p:nvPicPr>
        <p:blipFill>
          <a:blip r:embed="rId1"/>
          <a:srcRect l="0" r="0" t="0" b="0"/>
          <a:stretch/>
        </p:blipFill>
        <p:spPr>
          <a:xfrm>
            <a:off x="502920" y="1280160"/>
            <a:ext cx="786384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The domain map, then the reference long profile of each river — the per-node median elevation that every later anomaly is measured against — plus the revisit-interval distribution.</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Water flows downhill, so these must rise monotonically upstream. That single check caught a real bug: the smoother was blending Kobuk and Noatak nodes at equal dist_out, producing 107 m reversals.</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503920" y="1371600"/>
          <a:ext cx="3200400" cy="914400"/>
        </p:xfrm>
        <a:graphic>
          <a:graphicData uri="http://schemas.openxmlformats.org/drawingml/2006/table">
            <a:tbl>
              <a:tblPr/>
              <a:tblGrid>
                <a:gridCol w="1097280"/>
                <a:gridCol w="1005840"/>
                <a:gridCol w="109728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river</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rise</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gradient</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r>
              <a:tr h="384048">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Noatak</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548 m</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79 cm/km</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84048">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Kobuk</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167 m</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31 cm/km</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84048">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Selawik</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4.0 m</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100" b="1" dirty="0">
                          <a:solidFill>
                            <a:srgbClr val="E8A33D"/>
                          </a:solidFill>
                          <a:latin typeface="Calibri" pitchFamily="34" charset="0"/>
                          <a:ea typeface="Calibri" pitchFamily="34" charset="-122"/>
                          <a:cs typeface="Calibri" pitchFamily="34" charset="-120"/>
                        </a:rPr>
                        <a:t>2.4 cm/km</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13" name="Text 9"/>
          <p:cNvSpPr/>
          <p:nvPr/>
        </p:nvSpPr>
        <p:spPr>
          <a:xfrm>
            <a:off x="8503920" y="3017520"/>
            <a:ext cx="3200400" cy="1097280"/>
          </a:xfrm>
          <a:prstGeom prst="rect">
            <a:avLst/>
          </a:prstGeom>
          <a:noFill/>
          <a:ln/>
        </p:spPr>
        <p:txBody>
          <a:bodyPr wrap="square" lIns="0" tIns="0" rIns="0" bIns="0" rtlCol="0" anchor="t"/>
          <a:lstStyle/>
          <a:p>
            <a:pPr indent="0" marL="0">
              <a:lnSpc>
                <a:spcPts val="1800"/>
              </a:lnSpc>
              <a:buNone/>
            </a:pPr>
            <a:r>
              <a:rPr lang="en-US" sz="1150" dirty="0">
                <a:solidFill>
                  <a:srgbClr val="1B7A4B"/>
                </a:solidFill>
                <a:latin typeface="Calibri" pitchFamily="34" charset="0"/>
                <a:ea typeface="Calibri" pitchFamily="34" charset="-122"/>
                <a:cs typeface="Calibri" pitchFamily="34" charset="-120"/>
              </a:rPr>
              <a:t>The Noatak profile is monotone to 0.17 m across a 548 m rise — an ungauged Arctic river resolved to 0.03%.</a:t>
            </a:r>
            <a:endParaRPr lang="en-US" sz="1150" dirty="0"/>
          </a:p>
        </p:txBody>
      </p:sp>
      <p:sp>
        <p:nvSpPr>
          <p:cNvPr id="14" name="Text 10"/>
          <p:cNvSpPr/>
          <p:nvPr/>
        </p:nvSpPr>
        <p:spPr>
          <a:xfrm>
            <a:off x="8503920" y="4206240"/>
            <a:ext cx="3200400" cy="1463040"/>
          </a:xfrm>
          <a:prstGeom prst="rect">
            <a:avLst/>
          </a:prstGeom>
          <a:noFill/>
          <a:ln/>
        </p:spPr>
        <p:txBody>
          <a:bodyPr wrap="square" lIns="0" tIns="0" rIns="0" bIns="0" rtlCol="0" anchor="t"/>
          <a:lstStyle/>
          <a:p>
            <a:pPr indent="0" marL="0">
              <a:lnSpc>
                <a:spcPts val="1800"/>
              </a:lnSpc>
              <a:buNone/>
            </a:pPr>
            <a:r>
              <a:rPr lang="en-US" sz="1150" dirty="0">
                <a:solidFill>
                  <a:srgbClr val="E8A33D"/>
                </a:solidFill>
                <a:latin typeface="Calibri" pitchFamily="34" charset="0"/>
                <a:ea typeface="Calibri" pitchFamily="34" charset="-122"/>
                <a:cs typeface="Calibri" pitchFamily="34" charset="-120"/>
              </a:rPr>
              <a:t>The Selawik falls 4 m in 166 km. That is not a river with a slope; it is a backwater controlled by the level of the lake and sound it drains into.</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ANALYSIS</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4 — twelve virtual gauges</a:t>
            </a:r>
            <a:endParaRPr lang="en-US" sz="2700" dirty="0"/>
          </a:p>
        </p:txBody>
      </p:sp>
      <p:sp>
        <p:nvSpPr>
          <p:cNvPr id="4" name="Shape 2"/>
          <p:cNvSpPr/>
          <p:nvPr/>
        </p:nvSpPr>
        <p:spPr>
          <a:xfrm>
            <a:off x="438912" y="1216152"/>
            <a:ext cx="799185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09_virtual_gauges.png">    </p:cNvPr>
          <p:cNvPicPr>
            <a:picLocks noChangeAspect="1"/>
          </p:cNvPicPr>
          <p:nvPr/>
        </p:nvPicPr>
        <p:blipFill>
          <a:blip r:embed="rId1"/>
          <a:srcRect l="0" r="0" t="0" b="0"/>
          <a:stretch/>
        </p:blipFill>
        <p:spPr>
          <a:xfrm>
            <a:off x="502920" y="1280160"/>
            <a:ext cx="786384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Four reaches per river, spaced along each one, each plotted as a stage anomaly with a 4 m vertical offset. The grey curve on the Kobuk panel is the USGS discharge record.</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Eight of these twelve sit where no gauge has ever been installed. The Selawik traces are visibly flatter and smoother than the Kobuk and Noatak — the backwater signature again, now in the time domain.</a:t>
            </a:r>
            <a:endParaRPr lang="en-US" sz="1050" dirty="0"/>
          </a:p>
        </p:txBody>
      </p:sp>
      <p:sp>
        <p:nvSpPr>
          <p:cNvPr id="12" name="Text 9"/>
          <p:cNvSpPr/>
          <p:nvPr/>
        </p:nvSpPr>
        <p:spPr>
          <a:xfrm>
            <a:off x="8503920" y="1371600"/>
            <a:ext cx="3200400" cy="1737360"/>
          </a:xfrm>
          <a:prstGeom prst="rect">
            <a:avLst/>
          </a:prstGeom>
          <a:noFill/>
          <a:ln/>
        </p:spPr>
        <p:txBody>
          <a:bodyPr wrap="square" lIns="0" tIns="0" rIns="0" bIns="0" rtlCol="0" anchor="t"/>
          <a:lstStyle/>
          <a:p>
            <a:pPr indent="0" marL="0">
              <a:lnSpc>
                <a:spcPts val="1800"/>
              </a:lnSpc>
              <a:buNone/>
            </a:pPr>
            <a:r>
              <a:rPr lang="en-US" sz="1150" dirty="0">
                <a:solidFill>
                  <a:srgbClr val="20303C"/>
                </a:solidFill>
                <a:latin typeface="Calibri" pitchFamily="34" charset="0"/>
                <a:ea typeface="Calibri" pitchFamily="34" charset="-122"/>
                <a:cs typeface="Calibri" pitchFamily="34" charset="-120"/>
              </a:rPr>
              <a:t>Selection is not arbitrary: reaches must be type 1, at least 90 m wide, and carry 40+ quality-passed observations. Narrow headwater reaches are excluded because SWOT is not specified below ~50-100 m width.</a:t>
            </a:r>
            <a:endParaRPr lang="en-US" sz="1150" dirty="0"/>
          </a:p>
        </p:txBody>
      </p:sp>
      <p:sp>
        <p:nvSpPr>
          <p:cNvPr id="13" name="Text 10"/>
          <p:cNvSpPr/>
          <p:nvPr/>
        </p:nvSpPr>
        <p:spPr>
          <a:xfrm>
            <a:off x="8503920" y="3291840"/>
            <a:ext cx="3200400" cy="603504"/>
          </a:xfrm>
          <a:prstGeom prst="rect">
            <a:avLst/>
          </a:prstGeom>
          <a:noFill/>
          <a:ln/>
        </p:spPr>
        <p:txBody>
          <a:bodyPr wrap="square" lIns="0" tIns="0" rIns="0" bIns="0" rtlCol="0" anchor="ctr"/>
          <a:lstStyle/>
          <a:p>
            <a:pPr indent="0" marL="0">
              <a:buNone/>
            </a:pPr>
            <a:r>
              <a:rPr lang="en-US" sz="2900" b="1" dirty="0">
                <a:solidFill>
                  <a:srgbClr val="2E8BA8"/>
                </a:solidFill>
                <a:latin typeface="Georgia" pitchFamily="34" charset="0"/>
                <a:ea typeface="Georgia" pitchFamily="34" charset="-122"/>
                <a:cs typeface="Georgia" pitchFamily="34" charset="-120"/>
              </a:rPr>
              <a:t>1.3-7.0 m</a:t>
            </a:r>
            <a:endParaRPr lang="en-US" sz="2900" dirty="0"/>
          </a:p>
        </p:txBody>
      </p:sp>
      <p:sp>
        <p:nvSpPr>
          <p:cNvPr id="14" name="Text 11"/>
          <p:cNvSpPr/>
          <p:nvPr/>
        </p:nvSpPr>
        <p:spPr>
          <a:xfrm>
            <a:off x="8503920" y="3877056"/>
            <a:ext cx="320040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observed stage range</a:t>
            </a:r>
            <a:endParaRPr lang="en-US" sz="1050" dirty="0"/>
          </a:p>
          <a:p>
            <a:pPr indent="0" marL="0">
              <a:buNone/>
            </a:pPr>
            <a:r>
              <a:rPr lang="en-US" sz="1050" dirty="0">
                <a:solidFill>
                  <a:srgbClr val="5A7284"/>
                </a:solidFill>
                <a:latin typeface="Calibri" pitchFamily="34" charset="0"/>
                <a:ea typeface="Calibri" pitchFamily="34" charset="-122"/>
                <a:cs typeface="Calibri" pitchFamily="34" charset="-120"/>
              </a:rPr>
              <a:t>across the twelve</a:t>
            </a:r>
            <a:endParaRPr lang="en-US" sz="1050" dirty="0"/>
          </a:p>
        </p:txBody>
      </p:sp>
      <p:sp>
        <p:nvSpPr>
          <p:cNvPr id="15" name="Text 12"/>
          <p:cNvSpPr/>
          <p:nvPr/>
        </p:nvSpPr>
        <p:spPr>
          <a:xfrm>
            <a:off x="8503920" y="4572000"/>
            <a:ext cx="3200400" cy="1188720"/>
          </a:xfrm>
          <a:prstGeom prst="rect">
            <a:avLst/>
          </a:prstGeom>
          <a:noFill/>
          <a:ln/>
        </p:spPr>
        <p:txBody>
          <a:bodyPr wrap="square" lIns="0" tIns="0" rIns="0" bIns="0" rtlCol="0" anchor="t"/>
          <a:lstStyle/>
          <a:p>
            <a:pPr indent="0" marL="0">
              <a:lnSpc>
                <a:spcPts val="1800"/>
              </a:lnSpc>
              <a:buNone/>
            </a:pPr>
            <a:r>
              <a:rPr lang="en-US" sz="1100" dirty="0">
                <a:solidFill>
                  <a:srgbClr val="B4442E"/>
                </a:solidFill>
                <a:latin typeface="Calibri" pitchFamily="34" charset="0"/>
                <a:ea typeface="Calibri" pitchFamily="34" charset="-122"/>
                <a:cs typeface="Calibri" pitchFamily="34" charset="-120"/>
              </a:rPr>
              <a:t>Before the robust outlier filter, some of these read 13-20 m — physically impossible and a good example of why cleaning is not optional.</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ONE RIVER AT A TIME</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The Kobuk, on its own</a:t>
            </a:r>
            <a:endParaRPr lang="en-US" sz="2700" dirty="0"/>
          </a:p>
        </p:txBody>
      </p:sp>
      <p:sp>
        <p:nvSpPr>
          <p:cNvPr id="4" name="Shape 2"/>
          <p:cNvSpPr/>
          <p:nvPr/>
        </p:nvSpPr>
        <p:spPr>
          <a:xfrm>
            <a:off x="438912" y="1216152"/>
            <a:ext cx="1128369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21a_kobuk.png">    </p:cNvPr>
          <p:cNvPicPr>
            <a:picLocks noChangeAspect="1"/>
          </p:cNvPicPr>
          <p:nvPr/>
        </p:nvPicPr>
        <p:blipFill>
          <a:blip r:embed="rId1"/>
          <a:srcRect l="0" r="0" t="0" b="0"/>
          <a:stretch/>
        </p:blipFill>
        <p:spPr>
          <a:xfrm>
            <a:off x="502920" y="1280160"/>
            <a:ext cx="1115568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(a) where the river sits, coloured by distance upstream so it maps directly onto the y-axis of (b); (b) every node observation as a time x distance field; (c) the same record collapsed to one number per overpass; (d) channel threading; (e) coverage in both product versions.</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Panel (c) is what a conventional gauge would give you. Panel (b) is what SWOT gives you instead — the same information plus 534 km of spatial structure that a point measurement discards entirely.</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ONE RIVER AT A TIME</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The Selawik, on its own</a:t>
            </a:r>
            <a:endParaRPr lang="en-US" sz="2700" dirty="0"/>
          </a:p>
        </p:txBody>
      </p:sp>
      <p:sp>
        <p:nvSpPr>
          <p:cNvPr id="4" name="Shape 2"/>
          <p:cNvSpPr/>
          <p:nvPr/>
        </p:nvSpPr>
        <p:spPr>
          <a:xfrm>
            <a:off x="438912" y="1216152"/>
            <a:ext cx="1128369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21b_selawik.png">    </p:cNvPr>
          <p:cNvPicPr>
            <a:picLocks noChangeAspect="1"/>
          </p:cNvPicPr>
          <p:nvPr/>
        </p:nvPicPr>
        <p:blipFill>
          <a:blip r:embed="rId1"/>
          <a:srcRect l="0" r="0" t="0" b="0"/>
          <a:stretch/>
        </p:blipFill>
        <p:spPr>
          <a:xfrm>
            <a:off x="502920" y="1280160"/>
            <a:ext cx="1115568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Same layout. 55,190 node observations over 166 km, 29% of the space-time grid filled — the densest of the three relative to river length, because one SWOT pass captures the entire river.</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The banding runs almost flat across the whole river: with a 2.4 cm/km gradient the Selawik rises and falls nearly in unison along its length, which is what backwater control looks like in 2-D.</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ONE RIVER AT A TIME</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The Noatak, on its own</a:t>
            </a:r>
            <a:endParaRPr lang="en-US" sz="2700" dirty="0"/>
          </a:p>
        </p:txBody>
      </p:sp>
      <p:sp>
        <p:nvSpPr>
          <p:cNvPr id="4" name="Shape 2"/>
          <p:cNvSpPr/>
          <p:nvPr/>
        </p:nvSpPr>
        <p:spPr>
          <a:xfrm>
            <a:off x="438912" y="1216152"/>
            <a:ext cx="1128369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21c_noatak.png">    </p:cNvPr>
          <p:cNvPicPr>
            <a:picLocks noChangeAspect="1"/>
          </p:cNvPicPr>
          <p:nvPr/>
        </p:nvPicPr>
        <p:blipFill>
          <a:blip r:embed="rId1"/>
          <a:srcRect l="0" r="0" t="0" b="0"/>
          <a:stretch/>
        </p:blipFill>
        <p:spPr>
          <a:xfrm>
            <a:off x="502920" y="1280160"/>
            <a:ext cx="1115568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Same layout. 323,183 node observations over 694 km — the largest record of the three, and the only one of the three rivers with no gauge anywhere in its history.</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The steepest river here at 79 cm/km, and the most clearly tilted banding: anomalies enter at the top of the panel and appear later at lower distances, which is the signature that motivated the celerity attempt.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SEASONAL ZOOM</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Kobuk, season by season</a:t>
            </a:r>
            <a:endParaRPr lang="en-US" sz="2700" dirty="0"/>
          </a:p>
        </p:txBody>
      </p:sp>
      <p:sp>
        <p:nvSpPr>
          <p:cNvPr id="4" name="Shape 2"/>
          <p:cNvSpPr/>
          <p:nvPr/>
        </p:nvSpPr>
        <p:spPr>
          <a:xfrm>
            <a:off x="438912" y="1216152"/>
            <a:ext cx="1128369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22a_kobuk_seasons.png">    </p:cNvPr>
          <p:cNvPicPr>
            <a:picLocks noChangeAspect="1"/>
          </p:cNvPicPr>
          <p:nvPr/>
        </p:nvPicPr>
        <p:blipFill>
          <a:blip r:embed="rId1"/>
          <a:srcRect l="0" r="0" t="0" b="0"/>
          <a:stretch/>
        </p:blipFill>
        <p:spPr>
          <a:xfrm>
            <a:off x="502920" y="1280160"/>
            <a:ext cx="1115568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One open-water season per panel on a common day-of-year axis, gridded at 10 km x 3 days. Dashed line marks the day of the seasonal anomaly maximum. The bottom row is the single gauge against its 1977-2022 median, for context.</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The peak falls on day 251, 241, 245 and 256 in the four years — squarely in the rain window every time, and the anomaly signal builds along the whole river at once rather than propagating up it.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SEASONAL ZOOM</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Selawik, season by season</a:t>
            </a:r>
            <a:endParaRPr lang="en-US" sz="2700" dirty="0"/>
          </a:p>
        </p:txBody>
      </p:sp>
      <p:sp>
        <p:nvSpPr>
          <p:cNvPr id="4" name="Shape 2"/>
          <p:cNvSpPr/>
          <p:nvPr/>
        </p:nvSpPr>
        <p:spPr>
          <a:xfrm>
            <a:off x="438912" y="1216152"/>
            <a:ext cx="1128369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22b_selawik_seasons.png">    </p:cNvPr>
          <p:cNvPicPr>
            <a:picLocks noChangeAspect="1"/>
          </p:cNvPicPr>
          <p:nvPr/>
        </p:nvPicPr>
        <p:blipFill>
          <a:blip r:embed="rId1"/>
          <a:srcRect l="0" r="0" t="0" b="0"/>
          <a:stretch/>
        </p:blipFill>
        <p:spPr>
          <a:xfrm>
            <a:off x="502920" y="1280160"/>
            <a:ext cx="1115568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Same layout, 166 km of river. 35-45% of the space-time grid is filled in each season — the densest coverage of the three relative to river length.</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Day 145, 140, 145 and 136. Four years, a 9-day spread, always in the nival window. The red freshet band spans the entire river simultaneously, then decays: backwater control seen directly.</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SEASONAL ZOOM</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Noatak, season by season</a:t>
            </a:r>
            <a:endParaRPr lang="en-US" sz="2700" dirty="0"/>
          </a:p>
        </p:txBody>
      </p:sp>
      <p:sp>
        <p:nvSpPr>
          <p:cNvPr id="4" name="Shape 2"/>
          <p:cNvSpPr/>
          <p:nvPr/>
        </p:nvSpPr>
        <p:spPr>
          <a:xfrm>
            <a:off x="438912" y="1216152"/>
            <a:ext cx="1128369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22c_noatak_seasons.png">    </p:cNvPr>
          <p:cNvPicPr>
            <a:picLocks noChangeAspect="1"/>
          </p:cNvPicPr>
          <p:nvPr/>
        </p:nvPicPr>
        <p:blipFill>
          <a:blip r:embed="rId1"/>
          <a:srcRect l="0" r="0" t="0" b="0"/>
          <a:stretch/>
        </p:blipFill>
        <p:spPr>
          <a:xfrm>
            <a:off x="502920" y="1280160"/>
            <a:ext cx="1115568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Same layout, 694 km of river and the largest node record of the three. Note this river has no gauge at all — the bottom row shows the Kobuk gauge purely as regional context.</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Day 240, 237, 239 and 257: rain-window like the Kobuk, but with visible spring structure too. The 2026 panel is truncated on 16 September, which is why its peak sits later and its amplitude lower.</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EVERYTHING AT ONCE</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All three together</a:t>
            </a:r>
            <a:endParaRPr lang="en-US" sz="2700" dirty="0"/>
          </a:p>
        </p:txBody>
      </p:sp>
      <p:sp>
        <p:nvSpPr>
          <p:cNvPr id="4" name="Shape 2"/>
          <p:cNvSpPr/>
          <p:nvPr/>
        </p:nvSpPr>
        <p:spPr>
          <a:xfrm>
            <a:off x="438912" y="1216152"/>
            <a:ext cx="8083296" cy="4700016"/>
          </a:xfrm>
          <a:prstGeom prst="roundRect">
            <a:avLst>
              <a:gd name="adj" fmla="val 1167"/>
            </a:avLst>
          </a:prstGeom>
          <a:solidFill>
            <a:srgbClr val="F2F6F8"/>
          </a:solidFill>
          <a:ln w="9525">
            <a:solidFill>
              <a:srgbClr val="2E8BA8"/>
            </a:solidFill>
            <a:prstDash val="solid"/>
          </a:ln>
        </p:spPr>
      </p:sp>
      <p:pic>
        <p:nvPicPr>
          <p:cNvPr id="5" name="Image 0" descr="/media/tmittal/extradrive1/swot_kotzebue/figs/fig19_hovmoller.png">    </p:cNvPr>
          <p:cNvPicPr>
            <a:picLocks noChangeAspect="1"/>
          </p:cNvPicPr>
          <p:nvPr/>
        </p:nvPicPr>
        <p:blipFill>
          <a:blip r:embed="rId1"/>
          <a:srcRect l="0" r="0" t="0" b="0"/>
          <a:stretch/>
        </p:blipFill>
        <p:spPr>
          <a:xfrm>
            <a:off x="502920" y="1280160"/>
            <a:ext cx="7955280" cy="4572000"/>
          </a:xfrm>
          <a:prstGeom prst="rect">
            <a:avLst/>
          </a:prstGeom>
        </p:spPr>
      </p:pic>
      <p:sp>
        <p:nvSpPr>
          <p:cNvPr id="6" name="Shape 3"/>
          <p:cNvSpPr/>
          <p:nvPr/>
        </p:nvSpPr>
        <p:spPr>
          <a:xfrm>
            <a:off x="502920" y="598932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610819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635508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The three rivers stacked on a common time axis, each with its own distance axis. Beside each, facc marking tributary inflows (dashed) and n_chan_max marking multi-threaded reaches (red).</a:t>
            </a:r>
            <a:endParaRPr lang="en-US" sz="1050" dirty="0"/>
          </a:p>
        </p:txBody>
      </p:sp>
      <p:sp>
        <p:nvSpPr>
          <p:cNvPr id="9" name="Shape 6"/>
          <p:cNvSpPr/>
          <p:nvPr/>
        </p:nvSpPr>
        <p:spPr>
          <a:xfrm>
            <a:off x="6217920" y="598932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610819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635508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Stacked, the phase difference is visible directly: the Selawik reddens in May while the Kobuk and Noatak are still blue, and reverses by late August. That is the headline result, read off one figure.</a:t>
            </a:r>
            <a:endParaRPr lang="en-US" sz="1050" dirty="0"/>
          </a:p>
        </p:txBody>
      </p:sp>
      <p:sp>
        <p:nvSpPr>
          <p:cNvPr id="12" name="Text 9"/>
          <p:cNvSpPr/>
          <p:nvPr/>
        </p:nvSpPr>
        <p:spPr>
          <a:xfrm>
            <a:off x="8641080" y="1371600"/>
            <a:ext cx="3017520" cy="603504"/>
          </a:xfrm>
          <a:prstGeom prst="rect">
            <a:avLst/>
          </a:prstGeom>
          <a:noFill/>
          <a:ln/>
        </p:spPr>
        <p:txBody>
          <a:bodyPr wrap="square" lIns="0" tIns="0" rIns="0" bIns="0" rtlCol="0" anchor="ctr"/>
          <a:lstStyle/>
          <a:p>
            <a:pPr indent="0" marL="0">
              <a:buNone/>
            </a:pPr>
            <a:r>
              <a:rPr lang="en-US" sz="2900" b="1" dirty="0">
                <a:solidFill>
                  <a:srgbClr val="2E8BA8"/>
                </a:solidFill>
                <a:latin typeface="Georgia" pitchFamily="34" charset="0"/>
                <a:ea typeface="Georgia" pitchFamily="34" charset="-122"/>
                <a:cs typeface="Georgia" pitchFamily="34" charset="-120"/>
              </a:rPr>
              <a:t>597,344</a:t>
            </a:r>
            <a:endParaRPr lang="en-US" sz="2900" dirty="0"/>
          </a:p>
        </p:txBody>
      </p:sp>
      <p:sp>
        <p:nvSpPr>
          <p:cNvPr id="13" name="Text 10"/>
          <p:cNvSpPr/>
          <p:nvPr/>
        </p:nvSpPr>
        <p:spPr>
          <a:xfrm>
            <a:off x="8641080" y="1956816"/>
            <a:ext cx="301752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node observations across</a:t>
            </a:r>
            <a:endParaRPr lang="en-US" sz="1050" dirty="0"/>
          </a:p>
          <a:p>
            <a:pPr indent="0" marL="0">
              <a:buNone/>
            </a:pPr>
            <a:r>
              <a:rPr lang="en-US" sz="1050" dirty="0">
                <a:solidFill>
                  <a:srgbClr val="5A7284"/>
                </a:solidFill>
                <a:latin typeface="Calibri" pitchFamily="34" charset="0"/>
                <a:ea typeface="Calibri" pitchFamily="34" charset="-122"/>
                <a:cs typeface="Calibri" pitchFamily="34" charset="-120"/>
              </a:rPr>
              <a:t>the three rivers</a:t>
            </a:r>
            <a:endParaRPr lang="en-US" sz="1050" dirty="0"/>
          </a:p>
        </p:txBody>
      </p:sp>
      <p:sp>
        <p:nvSpPr>
          <p:cNvPr id="14" name="Text 11"/>
          <p:cNvSpPr/>
          <p:nvPr/>
        </p:nvSpPr>
        <p:spPr>
          <a:xfrm>
            <a:off x="8641080" y="2651760"/>
            <a:ext cx="3017520" cy="603504"/>
          </a:xfrm>
          <a:prstGeom prst="rect">
            <a:avLst/>
          </a:prstGeom>
          <a:noFill/>
          <a:ln/>
        </p:spPr>
        <p:txBody>
          <a:bodyPr wrap="square" lIns="0" tIns="0" rIns="0" bIns="0" rtlCol="0" anchor="ctr"/>
          <a:lstStyle/>
          <a:p>
            <a:pPr indent="0" marL="0">
              <a:buNone/>
            </a:pPr>
            <a:r>
              <a:rPr lang="en-US" sz="2900" b="1" dirty="0">
                <a:solidFill>
                  <a:srgbClr val="2E8BA8"/>
                </a:solidFill>
                <a:latin typeface="Georgia" pitchFamily="34" charset="0"/>
                <a:ea typeface="Georgia" pitchFamily="34" charset="-122"/>
                <a:cs typeface="Georgia" pitchFamily="34" charset="-120"/>
              </a:rPr>
              <a:t>26-29%</a:t>
            </a:r>
            <a:endParaRPr lang="en-US" sz="2900" dirty="0"/>
          </a:p>
        </p:txBody>
      </p:sp>
      <p:sp>
        <p:nvSpPr>
          <p:cNvPr id="15" name="Text 12"/>
          <p:cNvSpPr/>
          <p:nvPr/>
        </p:nvSpPr>
        <p:spPr>
          <a:xfrm>
            <a:off x="8641080" y="3236976"/>
            <a:ext cx="301752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of the space-time grid</a:t>
            </a:r>
            <a:endParaRPr lang="en-US" sz="1050" dirty="0"/>
          </a:p>
          <a:p>
            <a:pPr indent="0" marL="0">
              <a:buNone/>
            </a:pPr>
            <a:r>
              <a:rPr lang="en-US" sz="1050" dirty="0">
                <a:solidFill>
                  <a:srgbClr val="5A7284"/>
                </a:solidFill>
                <a:latin typeface="Calibri" pitchFamily="34" charset="0"/>
                <a:ea typeface="Calibri" pitchFamily="34" charset="-122"/>
                <a:cs typeface="Calibri" pitchFamily="34" charset="-120"/>
              </a:rPr>
              <a:t>filled; gaps are winter ice</a:t>
            </a:r>
            <a:endParaRPr lang="en-US" sz="1050" dirty="0"/>
          </a:p>
        </p:txBody>
      </p:sp>
      <p:sp>
        <p:nvSpPr>
          <p:cNvPr id="16" name="Text 13"/>
          <p:cNvSpPr/>
          <p:nvPr/>
        </p:nvSpPr>
        <p:spPr>
          <a:xfrm>
            <a:off x="8641080" y="3931920"/>
            <a:ext cx="3017520" cy="1280160"/>
          </a:xfrm>
          <a:prstGeom prst="rect">
            <a:avLst/>
          </a:prstGeom>
          <a:noFill/>
          <a:ln/>
        </p:spPr>
        <p:txBody>
          <a:bodyPr wrap="square" lIns="0" tIns="0" rIns="0" bIns="0" rtlCol="0" anchor="t"/>
          <a:lstStyle/>
          <a:p>
            <a:pPr indent="0" marL="0">
              <a:lnSpc>
                <a:spcPts val="1800"/>
              </a:lnSpc>
              <a:buNone/>
            </a:pPr>
            <a:r>
              <a:rPr lang="en-US" sz="1100" dirty="0">
                <a:solidFill>
                  <a:srgbClr val="5A7284"/>
                </a:solidFill>
                <a:latin typeface="Calibri" pitchFamily="34" charset="0"/>
                <a:ea typeface="Calibri" pitchFamily="34" charset="-122"/>
                <a:cs typeface="Calibri" pitchFamily="34" charset="-120"/>
              </a:rPr>
              <a:t>This is also the check that reach-level and node-level results agree — anything claimed at reach scale should be visible here.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ANALYSIS</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5b — contributions and multi-threading</a:t>
            </a:r>
            <a:endParaRPr lang="en-US" sz="2700" dirty="0"/>
          </a:p>
        </p:txBody>
      </p:sp>
      <p:sp>
        <p:nvSpPr>
          <p:cNvPr id="4" name="Text 2"/>
          <p:cNvSpPr/>
          <p:nvPr/>
        </p:nvSpPr>
        <p:spPr>
          <a:xfrm>
            <a:off x="502920" y="1280160"/>
            <a:ext cx="11155680" cy="457200"/>
          </a:xfrm>
          <a:prstGeom prst="rect">
            <a:avLst/>
          </a:prstGeom>
          <a:noFill/>
          <a:ln/>
        </p:spPr>
        <p:txBody>
          <a:bodyPr wrap="square" lIns="0" tIns="0" rIns="0" bIns="0" rtlCol="0" anchor="t"/>
          <a:lstStyle/>
          <a:p>
            <a:pPr indent="0" marL="0">
              <a:lnSpc>
                <a:spcPts val="1800"/>
              </a:lnSpc>
              <a:buNone/>
            </a:pPr>
            <a:r>
              <a:rPr lang="en-US" sz="1300" dirty="0">
                <a:solidFill>
                  <a:srgbClr val="20303C"/>
                </a:solidFill>
                <a:latin typeface="Calibri" pitchFamily="34" charset="0"/>
                <a:ea typeface="Calibri" pitchFamily="34" charset="-122"/>
                <a:cs typeface="Calibri" pitchFamily="34" charset="-120"/>
              </a:rPr>
              <a:t>Two SWORD attributes govern how a river reading should be interpreted: where tributaries add drainage area, and whether the channel is single or multi-threaded.</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55680" cy="914400"/>
        </p:xfrm>
        <a:graphic>
          <a:graphicData uri="http://schemas.openxmlformats.org/drawingml/2006/table">
            <a:tbl>
              <a:tblPr/>
              <a:tblGrid>
                <a:gridCol w="1554480"/>
                <a:gridCol w="1371600"/>
                <a:gridCol w="2194560"/>
                <a:gridCol w="2011680"/>
                <a:gridCol w="1828800"/>
                <a:gridCol w="219456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river</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reaches</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tributary inflows</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multi-threaded</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max channels</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facc span (km2)</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r>
              <a:tr h="457200">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Noatak</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57</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953 - 61,951</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457200">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Kobuk</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b="1" dirty="0">
                          <a:solidFill>
                            <a:srgbClr val="B4442E"/>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1,977 - 31,315</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457200">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Selawik</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200" dirty="0">
                          <a:solidFill>
                            <a:srgbClr val="20303C"/>
                          </a:solidFill>
                          <a:latin typeface="Calibri" pitchFamily="34" charset="0"/>
                          <a:ea typeface="Calibri" pitchFamily="34" charset="-122"/>
                          <a:cs typeface="Calibri" pitchFamily="34" charset="-120"/>
                        </a:rPr>
                        <a:t>4,029 - 11,191</a:t>
                      </a:r>
                      <a:endParaRPr lang="en-US" sz="12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6" name="Shape 3"/>
          <p:cNvSpPr/>
          <p:nvPr/>
        </p:nvSpPr>
        <p:spPr>
          <a:xfrm>
            <a:off x="502920" y="3886200"/>
            <a:ext cx="5486400" cy="2286000"/>
          </a:xfrm>
          <a:prstGeom prst="roundRect">
            <a:avLst>
              <a:gd name="adj" fmla="val 2400"/>
            </a:avLst>
          </a:prstGeom>
          <a:solidFill>
            <a:srgbClr val="FBEEE9"/>
          </a:solidFill>
          <a:ln w="10795">
            <a:solidFill>
              <a:srgbClr val="B4442E"/>
            </a:solidFill>
            <a:prstDash val="solid"/>
          </a:ln>
        </p:spPr>
      </p:sp>
      <p:sp>
        <p:nvSpPr>
          <p:cNvPr id="7" name="Text 4"/>
          <p:cNvSpPr/>
          <p:nvPr/>
        </p:nvSpPr>
        <p:spPr>
          <a:xfrm>
            <a:off x="822960" y="4087368"/>
            <a:ext cx="4846320" cy="347472"/>
          </a:xfrm>
          <a:prstGeom prst="rect">
            <a:avLst/>
          </a:prstGeom>
          <a:noFill/>
          <a:ln/>
        </p:spPr>
        <p:txBody>
          <a:bodyPr wrap="square" lIns="0" tIns="0" rIns="0" bIns="0" rtlCol="0" anchor="ctr"/>
          <a:lstStyle/>
          <a:p>
            <a:pPr indent="0" marL="0">
              <a:buNone/>
            </a:pPr>
            <a:r>
              <a:rPr lang="en-US" sz="1500" b="1" dirty="0">
                <a:solidFill>
                  <a:srgbClr val="0B2F4A"/>
                </a:solidFill>
                <a:latin typeface="Georgia" pitchFamily="34" charset="0"/>
                <a:ea typeface="Georgia" pitchFamily="34" charset="-122"/>
                <a:cs typeface="Georgia" pitchFamily="34" charset="-120"/>
              </a:rPr>
              <a:t>The Kobuk problem</a:t>
            </a:r>
            <a:endParaRPr lang="en-US" sz="1500" dirty="0"/>
          </a:p>
        </p:txBody>
      </p:sp>
      <p:sp>
        <p:nvSpPr>
          <p:cNvPr id="8" name="Text 5"/>
          <p:cNvSpPr/>
          <p:nvPr/>
        </p:nvSpPr>
        <p:spPr>
          <a:xfrm>
            <a:off x="822960" y="4389120"/>
            <a:ext cx="4846320" cy="1645920"/>
          </a:xfrm>
          <a:prstGeom prst="rect">
            <a:avLst/>
          </a:prstGeom>
          <a:noFill/>
          <a:ln/>
        </p:spPr>
        <p:txBody>
          <a:bodyPr wrap="square" lIns="0" tIns="0" rIns="0" bIns="0" rtlCol="0" anchor="t"/>
          <a:lstStyle/>
          <a:p>
            <a:pPr indent="0" marL="0">
              <a:lnSpc>
                <a:spcPts val="1800"/>
              </a:lnSpc>
              <a:buNone/>
            </a:pPr>
            <a:r>
              <a:rPr lang="en-US" sz="1150" dirty="0">
                <a:solidFill>
                  <a:srgbClr val="20303C"/>
                </a:solidFill>
                <a:latin typeface="Calibri" pitchFamily="34" charset="0"/>
                <a:ea typeface="Calibri" pitchFamily="34" charset="-122"/>
                <a:cs typeface="Calibri" pitchFamily="34" charset="-120"/>
              </a:rPr>
              <a:t>Every observed Kobuk reach is multi-threaded, up to 6 channels. SWOT reach-averaged width and elevation therefore aggregate across threads along the ENTIRE river, not just the delta. This is exactly the regime Gleason et al. identify as hardest to model, and it is why no width-based conclusion is drawn.</a:t>
            </a:r>
            <a:endParaRPr lang="en-US" sz="1150" dirty="0"/>
          </a:p>
        </p:txBody>
      </p:sp>
      <p:sp>
        <p:nvSpPr>
          <p:cNvPr id="9" name="Shape 6"/>
          <p:cNvSpPr/>
          <p:nvPr/>
        </p:nvSpPr>
        <p:spPr>
          <a:xfrm>
            <a:off x="6217920" y="3886200"/>
            <a:ext cx="5440680" cy="2286000"/>
          </a:xfrm>
          <a:prstGeom prst="roundRect">
            <a:avLst>
              <a:gd name="adj" fmla="val 2400"/>
            </a:avLst>
          </a:prstGeom>
          <a:solidFill>
            <a:srgbClr val="F2F6F8"/>
          </a:solidFill>
          <a:ln w="10795">
            <a:solidFill>
              <a:srgbClr val="2E8BA8"/>
            </a:solidFill>
            <a:prstDash val="solid"/>
          </a:ln>
        </p:spPr>
      </p:sp>
      <p:sp>
        <p:nvSpPr>
          <p:cNvPr id="10" name="Text 7"/>
          <p:cNvSpPr/>
          <p:nvPr/>
        </p:nvSpPr>
        <p:spPr>
          <a:xfrm>
            <a:off x="6537960" y="4087368"/>
            <a:ext cx="4800600" cy="347472"/>
          </a:xfrm>
          <a:prstGeom prst="rect">
            <a:avLst/>
          </a:prstGeom>
          <a:noFill/>
          <a:ln/>
        </p:spPr>
        <p:txBody>
          <a:bodyPr wrap="square" lIns="0" tIns="0" rIns="0" bIns="0" rtlCol="0" anchor="ctr"/>
          <a:lstStyle/>
          <a:p>
            <a:pPr indent="0" marL="0">
              <a:buNone/>
            </a:pPr>
            <a:r>
              <a:rPr lang="en-US" sz="1500" b="1" dirty="0">
                <a:solidFill>
                  <a:srgbClr val="0B2F4A"/>
                </a:solidFill>
                <a:latin typeface="Georgia" pitchFamily="34" charset="0"/>
                <a:ea typeface="Georgia" pitchFamily="34" charset="-122"/>
                <a:cs typeface="Georgia" pitchFamily="34" charset="-120"/>
              </a:rPr>
              <a:t>How to compare contributions</a:t>
            </a:r>
            <a:endParaRPr lang="en-US" sz="1500" dirty="0"/>
          </a:p>
        </p:txBody>
      </p:sp>
      <p:sp>
        <p:nvSpPr>
          <p:cNvPr id="11" name="Text 8"/>
          <p:cNvSpPr/>
          <p:nvPr/>
        </p:nvSpPr>
        <p:spPr>
          <a:xfrm>
            <a:off x="6537960" y="4389120"/>
            <a:ext cx="4800600" cy="1645920"/>
          </a:xfrm>
          <a:prstGeom prst="rect">
            <a:avLst/>
          </a:prstGeom>
          <a:noFill/>
          <a:ln/>
        </p:spPr>
        <p:txBody>
          <a:bodyPr wrap="square" lIns="0" tIns="0" rIns="0" bIns="0" rtlCol="0" anchor="t"/>
          <a:lstStyle/>
          <a:p>
            <a:pPr marL="342900" indent="-342900">
              <a:lnSpc>
                <a:spcPts val="1800"/>
              </a:lnSpc>
              <a:buSzPct val="100000"/>
              <a:buChar char="•"/>
            </a:pPr>
            <a:r>
              <a:rPr lang="en-US" sz="1150" dirty="0">
                <a:solidFill>
                  <a:srgbClr val="20303C"/>
                </a:solidFill>
                <a:latin typeface="Calibri" pitchFamily="34" charset="0"/>
                <a:ea typeface="Calibri" pitchFamily="34" charset="-122"/>
                <a:cs typeface="Calibri" pitchFamily="34" charset="-120"/>
              </a:rPr>
              <a:t>Rank by facc step at each confluence — the only mass-based measure available</a:t>
            </a:r>
            <a:endParaRPr lang="en-US" sz="1150" dirty="0"/>
          </a:p>
          <a:p>
            <a:pPr marL="342900" indent="-342900">
              <a:lnSpc>
                <a:spcPts val="1800"/>
              </a:lnSpc>
              <a:buSzPct val="100000"/>
              <a:buChar char="•"/>
            </a:pPr>
            <a:r>
              <a:rPr lang="en-US" sz="1150" dirty="0">
                <a:solidFill>
                  <a:srgbClr val="20303C"/>
                </a:solidFill>
                <a:latin typeface="Calibri" pitchFamily="34" charset="0"/>
                <a:ea typeface="Calibri" pitchFamily="34" charset="-122"/>
                <a:cs typeface="Calibri" pitchFamily="34" charset="-120"/>
              </a:rPr>
              <a:t>Do NOT use SWOT width: 8% version-unstable and thread-aggregated</a:t>
            </a:r>
            <a:endParaRPr lang="en-US" sz="1150" dirty="0"/>
          </a:p>
          <a:p>
            <a:pPr marL="342900" indent="-342900">
              <a:lnSpc>
                <a:spcPts val="1800"/>
              </a:lnSpc>
              <a:buSzPct val="100000"/>
              <a:buChar char="•"/>
            </a:pPr>
            <a:r>
              <a:rPr lang="en-US" sz="1150" dirty="0">
                <a:solidFill>
                  <a:srgbClr val="20303C"/>
                </a:solidFill>
                <a:latin typeface="Calibri" pitchFamily="34" charset="0"/>
                <a:ea typeface="Calibri" pitchFamily="34" charset="-122"/>
                <a:cs typeface="Calibri" pitchFamily="34" charset="-120"/>
              </a:rPr>
              <a:t>Do NOT use SoS discharge: 2.9x biased</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ANALYSIS</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Which thread actually carries the flow?</a:t>
            </a:r>
            <a:endParaRPr lang="en-US" sz="2700" dirty="0"/>
          </a:p>
        </p:txBody>
      </p:sp>
      <p:sp>
        <p:nvSpPr>
          <p:cNvPr id="4" name="Shape 2"/>
          <p:cNvSpPr/>
          <p:nvPr/>
        </p:nvSpPr>
        <p:spPr>
          <a:xfrm>
            <a:off x="438912" y="1216152"/>
            <a:ext cx="799185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20_channel_partition.png">    </p:cNvPr>
          <p:cNvPicPr>
            <a:picLocks noChangeAspect="1"/>
          </p:cNvPicPr>
          <p:nvPr/>
        </p:nvPicPr>
        <p:blipFill>
          <a:blip r:embed="rId1"/>
          <a:srcRect l="0" r="0" t="0" b="0"/>
          <a:stretch/>
        </p:blipFill>
        <p:spPr>
          <a:xfrm>
            <a:off x="502920" y="1280160"/>
            <a:ext cx="786384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The Kobuk distributaries and Hotham Inlet channels ranked on four independent proxies: SWORD drainage-area attribution, channel width, stage amplitude, and coupling to upstream main-stem stage.</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facc and width agree on roughly 60 / 19 / 19. The dynamic proxies do NOT discriminate — every channel is backwater-coupled to the same inlet at r = 0.87-0.89 — so SWOT cannot confirm the split.</a:t>
            </a:r>
            <a:endParaRPr lang="en-US" sz="10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503920" y="1371600"/>
          <a:ext cx="3200400" cy="914400"/>
        </p:xfrm>
        <a:graphic>
          <a:graphicData uri="http://schemas.openxmlformats.org/drawingml/2006/table">
            <a:tbl>
              <a:tblPr/>
              <a:tblGrid>
                <a:gridCol w="1463040"/>
                <a:gridCol w="594360"/>
                <a:gridCol w="594360"/>
                <a:gridCol w="548640"/>
              </a:tblGrid>
              <a:tr h="38404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channel</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facc</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width</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amp</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r>
              <a:tr h="384048">
                <a:tc>
                  <a:txBody>
                    <a:bodyPr/>
                    <a:lstStyle/>
                    <a:p>
                      <a:pPr indent="0" marL="0">
                        <a:buNone/>
                      </a:pPr>
                      <a:r>
                        <a:rPr lang="en-US" sz="950" dirty="0">
                          <a:solidFill>
                            <a:srgbClr val="20303C"/>
                          </a:solidFill>
                          <a:latin typeface="Calibri" pitchFamily="34" charset="0"/>
                          <a:ea typeface="Calibri" pitchFamily="34" charset="-122"/>
                          <a:cs typeface="Calibri" pitchFamily="34" charset="-120"/>
                        </a:rPr>
                        <a:t>Kobuk main + arms</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950" dirty="0">
                          <a:solidFill>
                            <a:srgbClr val="20303C"/>
                          </a:solidFill>
                          <a:latin typeface="Calibri" pitchFamily="34" charset="0"/>
                          <a:ea typeface="Calibri" pitchFamily="34" charset="-122"/>
                          <a:cs typeface="Calibri" pitchFamily="34" charset="-120"/>
                        </a:rPr>
                        <a:t>62%</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950" dirty="0">
                          <a:solidFill>
                            <a:srgbClr val="20303C"/>
                          </a:solidFill>
                          <a:latin typeface="Calibri" pitchFamily="34" charset="0"/>
                          <a:ea typeface="Calibri" pitchFamily="34" charset="-122"/>
                          <a:cs typeface="Calibri" pitchFamily="34" charset="-120"/>
                        </a:rPr>
                        <a:t>60%</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950" dirty="0">
                          <a:solidFill>
                            <a:srgbClr val="20303C"/>
                          </a:solidFill>
                          <a:latin typeface="Calibri" pitchFamily="34" charset="0"/>
                          <a:ea typeface="Calibri" pitchFamily="34" charset="-122"/>
                          <a:cs typeface="Calibri" pitchFamily="34" charset="-120"/>
                        </a:rPr>
                        <a:t>37%</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84048">
                <a:tc>
                  <a:txBody>
                    <a:bodyPr/>
                    <a:lstStyle/>
                    <a:p>
                      <a:pPr indent="0" marL="0">
                        <a:buNone/>
                      </a:pPr>
                      <a:r>
                        <a:rPr lang="en-US" sz="950" dirty="0">
                          <a:solidFill>
                            <a:srgbClr val="20303C"/>
                          </a:solidFill>
                          <a:latin typeface="Calibri" pitchFamily="34" charset="0"/>
                          <a:ea typeface="Calibri" pitchFamily="34" charset="-122"/>
                          <a:cs typeface="Calibri" pitchFamily="34" charset="-120"/>
                        </a:rPr>
                        <a:t>Hotham channel A</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950" dirty="0">
                          <a:solidFill>
                            <a:srgbClr val="20303C"/>
                          </a:solidFill>
                          <a:latin typeface="Calibri" pitchFamily="34" charset="0"/>
                          <a:ea typeface="Calibri" pitchFamily="34" charset="-122"/>
                          <a:cs typeface="Calibri" pitchFamily="34" charset="-120"/>
                        </a:rPr>
                        <a:t>19%</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950" dirty="0">
                          <a:solidFill>
                            <a:srgbClr val="20303C"/>
                          </a:solidFill>
                          <a:latin typeface="Calibri" pitchFamily="34" charset="0"/>
                          <a:ea typeface="Calibri" pitchFamily="34" charset="-122"/>
                          <a:cs typeface="Calibri" pitchFamily="34" charset="-120"/>
                        </a:rPr>
                        <a:t>18%</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950" dirty="0">
                          <a:solidFill>
                            <a:srgbClr val="20303C"/>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84048">
                <a:tc>
                  <a:txBody>
                    <a:bodyPr/>
                    <a:lstStyle/>
                    <a:p>
                      <a:pPr indent="0" marL="0">
                        <a:buNone/>
                      </a:pPr>
                      <a:r>
                        <a:rPr lang="en-US" sz="950" dirty="0">
                          <a:solidFill>
                            <a:srgbClr val="20303C"/>
                          </a:solidFill>
                          <a:latin typeface="Calibri" pitchFamily="34" charset="0"/>
                          <a:ea typeface="Calibri" pitchFamily="34" charset="-122"/>
                          <a:cs typeface="Calibri" pitchFamily="34" charset="-120"/>
                        </a:rPr>
                        <a:t>Hotham channel B</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950" dirty="0">
                          <a:solidFill>
                            <a:srgbClr val="20303C"/>
                          </a:solidFill>
                          <a:latin typeface="Calibri" pitchFamily="34" charset="0"/>
                          <a:ea typeface="Calibri" pitchFamily="34" charset="-122"/>
                          <a:cs typeface="Calibri" pitchFamily="34" charset="-120"/>
                        </a:rPr>
                        <a:t>19%</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950" dirty="0">
                          <a:solidFill>
                            <a:srgbClr val="20303C"/>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950" dirty="0">
                          <a:solidFill>
                            <a:srgbClr val="20303C"/>
                          </a:solidFill>
                          <a:latin typeface="Calibri" pitchFamily="34" charset="0"/>
                          <a:ea typeface="Calibri" pitchFamily="34" charset="-122"/>
                          <a:cs typeface="Calibri" pitchFamily="34" charset="-120"/>
                        </a:rPr>
                        <a:t>18%</a:t>
                      </a:r>
                      <a:endParaRPr lang="en-US" sz="9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13" name="Text 9"/>
          <p:cNvSpPr/>
          <p:nvPr/>
        </p:nvSpPr>
        <p:spPr>
          <a:xfrm>
            <a:off x="8503920" y="3200400"/>
            <a:ext cx="3200400" cy="1463040"/>
          </a:xfrm>
          <a:prstGeom prst="rect">
            <a:avLst/>
          </a:prstGeom>
          <a:noFill/>
          <a:ln/>
        </p:spPr>
        <p:txBody>
          <a:bodyPr wrap="square" lIns="0" tIns="0" rIns="0" bIns="0" rtlCol="0" anchor="t"/>
          <a:lstStyle/>
          <a:p>
            <a:pPr indent="0" marL="0">
              <a:lnSpc>
                <a:spcPts val="1800"/>
              </a:lnSpc>
              <a:buNone/>
            </a:pPr>
            <a:r>
              <a:rPr lang="en-US" sz="1150" dirty="0">
                <a:solidFill>
                  <a:srgbClr val="B4442E"/>
                </a:solidFill>
                <a:latin typeface="Calibri" pitchFamily="34" charset="0"/>
                <a:ea typeface="Calibri" pitchFamily="34" charset="-122"/>
                <a:cs typeface="Calibri" pitchFamily="34" charset="-120"/>
              </a:rPr>
              <a:t>Honest answer: the static estimate is ~60/19/19, but it rests on SWORD’s attribution rather than on a measurement, and the observations can neither confirm nor refute it.</a:t>
            </a:r>
            <a:endParaRPr lang="en-US" sz="1150" dirty="0"/>
          </a:p>
        </p:txBody>
      </p:sp>
      <p:sp>
        <p:nvSpPr>
          <p:cNvPr id="14" name="Text 10"/>
          <p:cNvSpPr/>
          <p:nvPr/>
        </p:nvSpPr>
        <p:spPr>
          <a:xfrm>
            <a:off x="8503920" y="4709160"/>
            <a:ext cx="3200400" cy="868680"/>
          </a:xfrm>
          <a:prstGeom prst="rect">
            <a:avLst/>
          </a:prstGeom>
          <a:noFill/>
          <a:ln/>
        </p:spPr>
        <p:txBody>
          <a:bodyPr wrap="square" lIns="0" tIns="0" rIns="0" bIns="0" rtlCol="0" anchor="t"/>
          <a:lstStyle/>
          <a:p>
            <a:pPr indent="0" marL="0">
              <a:lnSpc>
                <a:spcPts val="1800"/>
              </a:lnSpc>
              <a:buNone/>
            </a:pPr>
            <a:r>
              <a:rPr lang="en-US" sz="1050" dirty="0">
                <a:solidFill>
                  <a:srgbClr val="5A7284"/>
                </a:solidFill>
                <a:latin typeface="Calibri" pitchFamily="34" charset="0"/>
                <a:ea typeface="Calibri" pitchFamily="34" charset="-122"/>
                <a:cs typeface="Calibri" pitchFamily="34" charset="-120"/>
              </a:rPr>
              <a:t>Resolving it needs ADCP transects at the bifurcations or a hydraulic model of the delta. A genuine limit, not a processing choice.</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RESULT</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6 — the seasonal regime</a:t>
            </a:r>
            <a:endParaRPr lang="en-US" sz="2700" dirty="0"/>
          </a:p>
        </p:txBody>
      </p:sp>
      <p:sp>
        <p:nvSpPr>
          <p:cNvPr id="4" name="Shape 2"/>
          <p:cNvSpPr/>
          <p:nvPr/>
        </p:nvSpPr>
        <p:spPr>
          <a:xfrm>
            <a:off x="438912" y="1216152"/>
            <a:ext cx="799185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03_seasonal_regime.png">    </p:cNvPr>
          <p:cNvPicPr>
            <a:picLocks noChangeAspect="1"/>
          </p:cNvPicPr>
          <p:nvPr/>
        </p:nvPicPr>
        <p:blipFill>
          <a:blip r:embed="rId1"/>
          <a:srcRect l="0" r="0" t="0" b="0"/>
          <a:stretch/>
        </p:blipFill>
        <p:spPr>
          <a:xfrm>
            <a:off x="502920" y="1280160"/>
            <a:ext cx="786384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Gauge climatology with SWOT-era years overlaid; day-of-year of the annual maximum across 40 years; the SWOT stage index for all three rivers; and the seasonal composite.</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The Kobuk peaked in the late window in all three SWOT years against a 14% base rate — but the 40-year trend is NOT significant (p = 0.29), so this is a property of those years, not a demonstrated shift.</a:t>
            </a:r>
            <a:endParaRPr lang="en-US" sz="10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8503920" y="1371600"/>
          <a:ext cx="3200400" cy="914400"/>
        </p:xfrm>
        <a:graphic>
          <a:graphicData uri="http://schemas.openxmlformats.org/drawingml/2006/table">
            <a:tbl>
              <a:tblPr/>
              <a:tblGrid>
                <a:gridCol w="1280160"/>
                <a:gridCol w="192024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Selawik</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B4442E"/>
                    </a:solidFill>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day 141, 145, 145</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Kobuk</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day 240, 250</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Noatak</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3F6B4A"/>
                    </a:solidFill>
                  </a:tcPr>
                </a:tc>
                <a:tc>
                  <a:txBody>
                    <a:bodyPr/>
                    <a:lstStyle/>
                    <a:p>
                      <a:pPr indent="0" marL="0">
                        <a:buNone/>
                      </a:pPr>
                      <a:r>
                        <a:rPr lang="en-US" sz="1100" dirty="0">
                          <a:solidFill>
                            <a:srgbClr val="20303C"/>
                          </a:solidFill>
                          <a:latin typeface="Calibri" pitchFamily="34" charset="0"/>
                          <a:ea typeface="Calibri" pitchFamily="34" charset="-122"/>
                          <a:cs typeface="Calibri" pitchFamily="34" charset="-120"/>
                        </a:rPr>
                        <a:t>day 168, 237</a:t>
                      </a:r>
                      <a:endParaRPr lang="en-US" sz="11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13" name="Text 9"/>
          <p:cNvSpPr/>
          <p:nvPr/>
        </p:nvSpPr>
        <p:spPr>
          <a:xfrm>
            <a:off x="8503920" y="2834640"/>
            <a:ext cx="3200400" cy="1554480"/>
          </a:xfrm>
          <a:prstGeom prst="rect">
            <a:avLst/>
          </a:prstGeom>
          <a:noFill/>
          <a:ln/>
        </p:spPr>
        <p:txBody>
          <a:bodyPr wrap="square" lIns="0" tIns="0" rIns="0" bIns="0" rtlCol="0" anchor="t"/>
          <a:lstStyle/>
          <a:p>
            <a:pPr indent="0" marL="0">
              <a:lnSpc>
                <a:spcPts val="1800"/>
              </a:lnSpc>
              <a:buNone/>
            </a:pPr>
            <a:r>
              <a:rPr lang="en-US" sz="1200" dirty="0">
                <a:solidFill>
                  <a:srgbClr val="2E8BA8"/>
                </a:solidFill>
                <a:latin typeface="Calibri" pitchFamily="34" charset="0"/>
                <a:ea typeface="Calibri" pitchFamily="34" charset="-122"/>
                <a:cs typeface="Calibri" pitchFamily="34" charset="-120"/>
              </a:rPr>
              <a:t>The Selawik and Kobuk drain into the SAME lagoon complex about 100 days apart. Freshwater arriving during the bloom window is Kobuk and Noatak water.</a:t>
            </a:r>
            <a:endParaRPr lang="en-US" sz="1200" dirty="0"/>
          </a:p>
        </p:txBody>
      </p:sp>
      <p:sp>
        <p:nvSpPr>
          <p:cNvPr id="14" name="Text 10"/>
          <p:cNvSpPr/>
          <p:nvPr/>
        </p:nvSpPr>
        <p:spPr>
          <a:xfrm>
            <a:off x="8503920" y="4480560"/>
            <a:ext cx="3200400" cy="1097280"/>
          </a:xfrm>
          <a:prstGeom prst="rect">
            <a:avLst/>
          </a:prstGeom>
          <a:noFill/>
          <a:ln/>
        </p:spPr>
        <p:txBody>
          <a:bodyPr wrap="square" lIns="0" tIns="0" rIns="0" bIns="0" rtlCol="0" anchor="t"/>
          <a:lstStyle/>
          <a:p>
            <a:pPr indent="0" marL="0">
              <a:lnSpc>
                <a:spcPts val="1800"/>
              </a:lnSpc>
              <a:buNone/>
            </a:pPr>
            <a:r>
              <a:rPr lang="en-US" sz="1100" dirty="0">
                <a:solidFill>
                  <a:srgbClr val="5A7284"/>
                </a:solidFill>
                <a:latin typeface="Calibri" pitchFamily="34" charset="0"/>
                <a:ea typeface="Calibri" pitchFamily="34" charset="-122"/>
                <a:cs typeface="Calibri" pitchFamily="34" charset="-120"/>
              </a:rPr>
              <a:t>2026 is censored, not scored: the record ends 16 Sep with the Kobuk still rising.</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RESULT</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7 — are the rivers independent forcings?</a:t>
            </a:r>
            <a:endParaRPr lang="en-US" sz="2700" dirty="0"/>
          </a:p>
        </p:txBody>
      </p:sp>
      <p:sp>
        <p:nvSpPr>
          <p:cNvPr id="4" name="Shape 2"/>
          <p:cNvSpPr/>
          <p:nvPr/>
        </p:nvSpPr>
        <p:spPr>
          <a:xfrm>
            <a:off x="438912" y="1216152"/>
            <a:ext cx="7991856" cy="4059936"/>
          </a:xfrm>
          <a:prstGeom prst="roundRect">
            <a:avLst>
              <a:gd name="adj" fmla="val 1351"/>
            </a:avLst>
          </a:prstGeom>
          <a:solidFill>
            <a:srgbClr val="F2F6F8"/>
          </a:solidFill>
          <a:ln w="9525">
            <a:solidFill>
              <a:srgbClr val="2E8BA8"/>
            </a:solidFill>
            <a:prstDash val="solid"/>
          </a:ln>
        </p:spPr>
      </p:sp>
      <p:pic>
        <p:nvPicPr>
          <p:cNvPr id="5" name="Image 0" descr="/media/tmittal/extradrive1/swot_kotzebue/figs/fig13_river_independence.png">    </p:cNvPr>
          <p:cNvPicPr>
            <a:picLocks noChangeAspect="1"/>
          </p:cNvPicPr>
          <p:nvPr/>
        </p:nvPicPr>
        <p:blipFill>
          <a:blip r:embed="rId1"/>
          <a:srcRect l="0" r="0" t="0" b="0"/>
          <a:stretch/>
        </p:blipFill>
        <p:spPr>
          <a:xfrm>
            <a:off x="502920" y="1280160"/>
            <a:ext cx="7863840" cy="3931920"/>
          </a:xfrm>
          <a:prstGeom prst="rect">
            <a:avLst/>
          </a:prstGeom>
        </p:spPr>
      </p:pic>
      <p:sp>
        <p:nvSpPr>
          <p:cNvPr id="6" name="Shape 3"/>
          <p:cNvSpPr/>
          <p:nvPr/>
        </p:nvSpPr>
        <p:spPr>
          <a:xfrm>
            <a:off x="502920" y="534924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46811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71500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Seasonal phasing of all six rivers, the pairwise correlation matrix of their weekly stage indices, and the distribution of those correlations.</a:t>
            </a:r>
            <a:endParaRPr lang="en-US" sz="1050" dirty="0"/>
          </a:p>
        </p:txBody>
      </p:sp>
      <p:sp>
        <p:nvSpPr>
          <p:cNvPr id="9" name="Shape 6"/>
          <p:cNvSpPr/>
          <p:nvPr/>
        </p:nvSpPr>
        <p:spPr>
          <a:xfrm>
            <a:off x="6217920" y="534924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46811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71500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Checked BEFORE attributing anything, not after. Median pairwise r = 0.56 with 5 of 15 pairs above 0.7 — they share weather, so they cannot be cleanly separated as forcings.</a:t>
            </a:r>
            <a:endParaRPr lang="en-US" sz="1050" dirty="0"/>
          </a:p>
        </p:txBody>
      </p:sp>
      <p:sp>
        <p:nvSpPr>
          <p:cNvPr id="12" name="Text 9"/>
          <p:cNvSpPr/>
          <p:nvPr/>
        </p:nvSpPr>
        <p:spPr>
          <a:xfrm>
            <a:off x="8503920" y="1371600"/>
            <a:ext cx="3200400" cy="1828800"/>
          </a:xfrm>
          <a:prstGeom prst="rect">
            <a:avLst/>
          </a:prstGeom>
          <a:noFill/>
          <a:ln/>
        </p:spPr>
        <p:txBody>
          <a:bodyPr wrap="square" lIns="0" tIns="0" rIns="0" bIns="0" rtlCol="0" anchor="t"/>
          <a:lstStyle/>
          <a:p>
            <a:pPr indent="0" marL="0">
              <a:lnSpc>
                <a:spcPts val="1800"/>
              </a:lnSpc>
              <a:buNone/>
            </a:pPr>
            <a:r>
              <a:rPr lang="en-US" sz="1150" dirty="0">
                <a:solidFill>
                  <a:srgbClr val="20303C"/>
                </a:solidFill>
                <a:latin typeface="Calibri" pitchFamily="34" charset="0"/>
                <a:ea typeface="Calibri" pitchFamily="34" charset="-122"/>
                <a:cs typeface="Calibri" pitchFamily="34" charset="-120"/>
              </a:rPr>
              <a:t>Kobuk–Squirrel at 0.86 is expected: the Squirrel is a Kobuk tributary, not an independent input. The Wulik is the most independent at r = 0.23 with the Selawik, which fits — it drains a different coast and never reaches the sound.</a:t>
            </a:r>
            <a:endParaRPr lang="en-US" sz="1150" dirty="0"/>
          </a:p>
        </p:txBody>
      </p:sp>
      <p:sp>
        <p:nvSpPr>
          <p:cNvPr id="13" name="Text 10"/>
          <p:cNvSpPr/>
          <p:nvPr/>
        </p:nvSpPr>
        <p:spPr>
          <a:xfrm>
            <a:off x="8503920" y="3383280"/>
            <a:ext cx="3200400" cy="603504"/>
          </a:xfrm>
          <a:prstGeom prst="rect">
            <a:avLst/>
          </a:prstGeom>
          <a:noFill/>
          <a:ln/>
        </p:spPr>
        <p:txBody>
          <a:bodyPr wrap="square" lIns="0" tIns="0" rIns="0" bIns="0" rtlCol="0" anchor="ctr"/>
          <a:lstStyle/>
          <a:p>
            <a:pPr indent="0" marL="0">
              <a:buNone/>
            </a:pPr>
            <a:r>
              <a:rPr lang="en-US" sz="2900" b="1" dirty="0">
                <a:solidFill>
                  <a:srgbClr val="E8A33D"/>
                </a:solidFill>
                <a:latin typeface="Georgia" pitchFamily="34" charset="0"/>
                <a:ea typeface="Georgia" pitchFamily="34" charset="-122"/>
                <a:cs typeface="Georgia" pitchFamily="34" charset="-120"/>
              </a:rPr>
              <a:t>0.56</a:t>
            </a:r>
            <a:endParaRPr lang="en-US" sz="2900" dirty="0"/>
          </a:p>
        </p:txBody>
      </p:sp>
      <p:sp>
        <p:nvSpPr>
          <p:cNvPr id="14" name="Text 11"/>
          <p:cNvSpPr/>
          <p:nvPr/>
        </p:nvSpPr>
        <p:spPr>
          <a:xfrm>
            <a:off x="8503920" y="3968496"/>
            <a:ext cx="320040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median pairwise r</a:t>
            </a:r>
            <a:endParaRPr lang="en-US" sz="1050" dirty="0"/>
          </a:p>
          <a:p>
            <a:pPr indent="0" marL="0">
              <a:buNone/>
            </a:pPr>
            <a:r>
              <a:rPr lang="en-US" sz="1050" dirty="0">
                <a:solidFill>
                  <a:srgbClr val="5A7284"/>
                </a:solidFill>
                <a:latin typeface="Calibri" pitchFamily="34" charset="0"/>
                <a:ea typeface="Calibri" pitchFamily="34" charset="-122"/>
                <a:cs typeface="Calibri" pitchFamily="34" charset="-120"/>
              </a:rPr>
              <a:t>between the six rivers</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RESULT</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8 — flow waves: length and amplitude</a:t>
            </a:r>
            <a:endParaRPr lang="en-US" sz="2700" dirty="0"/>
          </a:p>
        </p:txBody>
      </p:sp>
      <p:sp>
        <p:nvSpPr>
          <p:cNvPr id="4" name="Shape 2"/>
          <p:cNvSpPr/>
          <p:nvPr/>
        </p:nvSpPr>
        <p:spPr>
          <a:xfrm>
            <a:off x="438912" y="1216152"/>
            <a:ext cx="799185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10_wave_propagation.png">    </p:cNvPr>
          <p:cNvPicPr>
            <a:picLocks noChangeAspect="1"/>
          </p:cNvPicPr>
          <p:nvPr/>
        </p:nvPicPr>
        <p:blipFill>
          <a:blip r:embed="rId1"/>
          <a:srcRect l="0" r="0" t="0" b="0"/>
          <a:stretch/>
        </p:blipFill>
        <p:spPr>
          <a:xfrm>
            <a:off x="502920" y="1280160"/>
            <a:ext cx="786384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Wave length from runs of ≥10 nodes above their own 90th-percentile WSE; the artefact test; peak tracking; amplitude along river; seasonality of detections; and one example event.</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Length and amplitude are measured cleanly — 939 detections, median 4-8 km, 65 over 50 km, max 243 km, only 1% truncated. Amplitude grows upstream as the channel narrows. None of this needs celerity.</a:t>
            </a:r>
            <a:endParaRPr lang="en-US" sz="1050" dirty="0"/>
          </a:p>
        </p:txBody>
      </p:sp>
      <p:sp>
        <p:nvSpPr>
          <p:cNvPr id="12" name="Text 9"/>
          <p:cNvSpPr/>
          <p:nvPr/>
        </p:nvSpPr>
        <p:spPr>
          <a:xfrm>
            <a:off x="8503920" y="1371600"/>
            <a:ext cx="3200400" cy="1554480"/>
          </a:xfrm>
          <a:prstGeom prst="rect">
            <a:avLst/>
          </a:prstGeom>
          <a:noFill/>
          <a:ln/>
        </p:spPr>
        <p:txBody>
          <a:bodyPr wrap="square" lIns="0" tIns="0" rIns="0" bIns="0" rtlCol="0" anchor="t"/>
          <a:lstStyle/>
          <a:p>
            <a:pPr indent="0" marL="0">
              <a:lnSpc>
                <a:spcPts val="1800"/>
              </a:lnSpc>
              <a:buNone/>
            </a:pPr>
            <a:r>
              <a:rPr lang="en-US" sz="1150" dirty="0">
                <a:solidFill>
                  <a:srgbClr val="2E8BA8"/>
                </a:solidFill>
                <a:latin typeface="Calibri" pitchFamily="34" charset="0"/>
                <a:ea typeface="Calibri" pitchFamily="34" charset="-122"/>
                <a:cs typeface="Calibri" pitchFamily="34" charset="-120"/>
              </a:rPr>
              <a:t>Wave occurrence independently reproduces the phase split: the Selawik’s waves are almost entirely nival, the Kobuk’s and Noatak’s are bimodal with a rain-window peak.</a:t>
            </a:r>
            <a:endParaRPr lang="en-US" sz="1150" dirty="0"/>
          </a:p>
        </p:txBody>
      </p:sp>
      <p:sp>
        <p:nvSpPr>
          <p:cNvPr id="13" name="Text 10"/>
          <p:cNvSpPr/>
          <p:nvPr/>
        </p:nvSpPr>
        <p:spPr>
          <a:xfrm>
            <a:off x="8503920" y="3108960"/>
            <a:ext cx="3200400" cy="603504"/>
          </a:xfrm>
          <a:prstGeom prst="rect">
            <a:avLst/>
          </a:prstGeom>
          <a:noFill/>
          <a:ln/>
        </p:spPr>
        <p:txBody>
          <a:bodyPr wrap="square" lIns="0" tIns="0" rIns="0" bIns="0" rtlCol="0" anchor="ctr"/>
          <a:lstStyle/>
          <a:p>
            <a:pPr indent="0" marL="0">
              <a:buNone/>
            </a:pPr>
            <a:r>
              <a:rPr lang="en-US" sz="2900" b="1" dirty="0">
                <a:solidFill>
                  <a:srgbClr val="2E8BA8"/>
                </a:solidFill>
                <a:latin typeface="Georgia" pitchFamily="34" charset="0"/>
                <a:ea typeface="Georgia" pitchFamily="34" charset="-122"/>
                <a:cs typeface="Georgia" pitchFamily="34" charset="-120"/>
              </a:rPr>
              <a:t>939</a:t>
            </a:r>
            <a:endParaRPr lang="en-US" sz="2900" dirty="0"/>
          </a:p>
        </p:txBody>
      </p:sp>
      <p:sp>
        <p:nvSpPr>
          <p:cNvPr id="14" name="Text 11"/>
          <p:cNvSpPr/>
          <p:nvPr/>
        </p:nvSpPr>
        <p:spPr>
          <a:xfrm>
            <a:off x="8503920" y="3694176"/>
            <a:ext cx="320040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wave detections</a:t>
            </a:r>
            <a:endParaRPr lang="en-US" sz="1050" dirty="0"/>
          </a:p>
        </p:txBody>
      </p:sp>
      <p:sp>
        <p:nvSpPr>
          <p:cNvPr id="15" name="Text 12"/>
          <p:cNvSpPr/>
          <p:nvPr/>
        </p:nvSpPr>
        <p:spPr>
          <a:xfrm>
            <a:off x="8503920" y="4297680"/>
            <a:ext cx="3200400" cy="603504"/>
          </a:xfrm>
          <a:prstGeom prst="rect">
            <a:avLst/>
          </a:prstGeom>
          <a:noFill/>
          <a:ln/>
        </p:spPr>
        <p:txBody>
          <a:bodyPr wrap="square" lIns="0" tIns="0" rIns="0" bIns="0" rtlCol="0" anchor="ctr"/>
          <a:lstStyle/>
          <a:p>
            <a:pPr indent="0" marL="0">
              <a:buNone/>
            </a:pPr>
            <a:r>
              <a:rPr lang="en-US" sz="2900" b="1" dirty="0">
                <a:solidFill>
                  <a:srgbClr val="2E8BA8"/>
                </a:solidFill>
                <a:latin typeface="Georgia" pitchFamily="34" charset="0"/>
                <a:ea typeface="Georgia" pitchFamily="34" charset="-122"/>
                <a:cs typeface="Georgia" pitchFamily="34" charset="-120"/>
              </a:rPr>
              <a:t>243 km</a:t>
            </a:r>
            <a:endParaRPr lang="en-US" sz="2900" dirty="0"/>
          </a:p>
        </p:txBody>
      </p:sp>
      <p:sp>
        <p:nvSpPr>
          <p:cNvPr id="16" name="Text 13"/>
          <p:cNvSpPr/>
          <p:nvPr/>
        </p:nvSpPr>
        <p:spPr>
          <a:xfrm>
            <a:off x="8503920" y="4882896"/>
            <a:ext cx="320040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longest, on the Kobuk</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2F4A"/>
        </a:solidFill>
      </p:bgPr>
    </p:bg>
    <p:spTree>
      <p:nvGrpSpPr>
        <p:cNvPr id="1" name=""/>
        <p:cNvGrpSpPr/>
        <p:nvPr/>
      </p:nvGrpSpPr>
      <p:grpSpPr>
        <a:xfrm>
          <a:off x="0" y="0"/>
          <a:ext cx="0" cy="0"/>
          <a:chOff x="0" y="0"/>
          <a:chExt cx="0" cy="0"/>
        </a:xfrm>
      </p:grpSpPr>
      <p:sp>
        <p:nvSpPr>
          <p:cNvPr id="2" name="Text 0"/>
          <p:cNvSpPr/>
          <p:nvPr/>
        </p:nvSpPr>
        <p:spPr>
          <a:xfrm>
            <a:off x="731520" y="594360"/>
            <a:ext cx="10058400" cy="274320"/>
          </a:xfrm>
          <a:prstGeom prst="rect">
            <a:avLst/>
          </a:prstGeom>
          <a:noFill/>
          <a:ln/>
        </p:spPr>
        <p:txBody>
          <a:bodyPr wrap="square" lIns="0" tIns="0" rIns="0" bIns="0" rtlCol="0" anchor="ctr"/>
          <a:lstStyle/>
          <a:p>
            <a:pPr indent="0" marL="0">
              <a:buNone/>
            </a:pPr>
            <a:r>
              <a:rPr lang="en-US" sz="1150" b="1" spc="180" kern="0" dirty="0">
                <a:solidFill>
                  <a:srgbClr val="E8A33D"/>
                </a:solidFill>
                <a:latin typeface="Calibri" pitchFamily="34" charset="0"/>
                <a:ea typeface="Calibri" pitchFamily="34" charset="-122"/>
                <a:cs typeface="Calibri" pitchFamily="34" charset="-120"/>
              </a:rPr>
              <a:t>WHERE THIS FAILED</a:t>
            </a:r>
            <a:endParaRPr lang="en-US" sz="1150" dirty="0"/>
          </a:p>
        </p:txBody>
      </p:sp>
      <p:sp>
        <p:nvSpPr>
          <p:cNvPr id="3" name="Text 1"/>
          <p:cNvSpPr/>
          <p:nvPr/>
        </p:nvSpPr>
        <p:spPr>
          <a:xfrm>
            <a:off x="731520" y="914400"/>
            <a:ext cx="10607040" cy="68580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A celerity result that looked right, and was not</a:t>
            </a:r>
            <a:endParaRPr lang="en-US" sz="3000" dirty="0"/>
          </a:p>
        </p:txBody>
      </p:sp>
      <p:sp>
        <p:nvSpPr>
          <p:cNvPr id="4" name="Text 2"/>
          <p:cNvSpPr/>
          <p:nvPr/>
        </p:nvSpPr>
        <p:spPr>
          <a:xfrm>
            <a:off x="731520" y="1828800"/>
            <a:ext cx="10607040" cy="1005840"/>
          </a:xfrm>
          <a:prstGeom prst="rect">
            <a:avLst/>
          </a:prstGeom>
          <a:noFill/>
          <a:ln/>
        </p:spPr>
        <p:txBody>
          <a:bodyPr wrap="square" lIns="0" tIns="0" rIns="0" bIns="0" rtlCol="0" anchor="ctr"/>
          <a:lstStyle/>
          <a:p>
            <a:pPr indent="0" marL="0">
              <a:lnSpc>
                <a:spcPts val="2100"/>
              </a:lnSpc>
              <a:buNone/>
            </a:pPr>
            <a:r>
              <a:rPr lang="en-US" sz="1400" b="1" dirty="0">
                <a:solidFill>
                  <a:srgbClr val="E8A33D"/>
                </a:solidFill>
                <a:latin typeface="Calibri" pitchFamily="34" charset="0"/>
                <a:ea typeface="Calibri" pitchFamily="34" charset="-122"/>
                <a:cs typeface="Calibri" pitchFamily="34" charset="-120"/>
              </a:rPr>
              <a:t>The apparent finding.  </a:t>
            </a:r>
            <a:pPr indent="0" marL="0">
              <a:lnSpc>
                <a:spcPts val="2100"/>
              </a:lnSpc>
              <a:buNone/>
            </a:pPr>
            <a:r>
              <a:rPr lang="en-US" sz="1400" dirty="0">
                <a:solidFill>
                  <a:srgbClr val="CFE0EA"/>
                </a:solidFill>
                <a:latin typeface="Calibri" pitchFamily="34" charset="0"/>
                <a:ea typeface="Calibri" pitchFamily="34" charset="-122"/>
                <a:cs typeface="Calibri" pitchFamily="34" charset="-120"/>
              </a:rPr>
              <a:t>Tracking the anomaly peak across consecutive overpasses gave 12 coherent events (r² &gt; 0.7), all on the Noatak, all 12 moving downstream, median 1.53 m/s — inside the kinematic-wave prior of 1.4-3.3 m/s. Direction alone looked decisive at p = 0.5¹².</a:t>
            </a:r>
            <a:endParaRPr lang="en-US" sz="1400" dirty="0"/>
          </a:p>
        </p:txBody>
      </p:sp>
      <p:sp>
        <p:nvSpPr>
          <p:cNvPr id="5" name="Text 3"/>
          <p:cNvSpPr/>
          <p:nvPr/>
        </p:nvSpPr>
        <p:spPr>
          <a:xfrm>
            <a:off x="731520" y="2971800"/>
            <a:ext cx="10607040" cy="1097280"/>
          </a:xfrm>
          <a:prstGeom prst="rect">
            <a:avLst/>
          </a:prstGeom>
          <a:noFill/>
          <a:ln/>
        </p:spPr>
        <p:txBody>
          <a:bodyPr wrap="square" lIns="0" tIns="0" rIns="0" bIns="0" rtlCol="0" anchor="ctr"/>
          <a:lstStyle/>
          <a:p>
            <a:pPr indent="0" marL="0">
              <a:lnSpc>
                <a:spcPts val="2100"/>
              </a:lnSpc>
              <a:buNone/>
            </a:pPr>
            <a:r>
              <a:rPr lang="en-US" sz="1400" b="1" dirty="0">
                <a:solidFill>
                  <a:srgbClr val="E8A33D"/>
                </a:solidFill>
                <a:latin typeface="Calibri" pitchFamily="34" charset="0"/>
                <a:ea typeface="Calibri" pitchFamily="34" charset="-122"/>
                <a:cs typeface="Calibri" pitchFamily="34" charset="-120"/>
              </a:rPr>
              <a:t>The artefact.  </a:t>
            </a:r>
            <a:pPr indent="0" marL="0">
              <a:lnSpc>
                <a:spcPts val="2100"/>
              </a:lnSpc>
              <a:buNone/>
            </a:pPr>
            <a:r>
              <a:rPr lang="en-US" sz="1400" dirty="0">
                <a:solidFill>
                  <a:srgbClr val="CFE0EA"/>
                </a:solidFill>
                <a:latin typeface="Calibri" pitchFamily="34" charset="0"/>
                <a:ea typeface="Calibri" pitchFamily="34" charset="-122"/>
                <a:cs typeface="Calibri" pitchFamily="34" charset="-120"/>
              </a:rPr>
              <a:t>SWOT’s consecutive passes sweep ALONG the river, so the centre of the observed segment marches downstream between overpasses. Regressing peak position and segment centre on time for the same events gives a median slope ratio of </a:t>
            </a:r>
            <a:pPr indent="0" marL="0">
              <a:lnSpc>
                <a:spcPts val="2100"/>
              </a:lnSpc>
              <a:buNone/>
            </a:pPr>
            <a:r>
              <a:rPr lang="en-US" sz="1400" b="1" dirty="0">
                <a:solidFill>
                  <a:srgbClr val="FFFFFF"/>
                </a:solidFill>
                <a:latin typeface="Calibri" pitchFamily="34" charset="0"/>
                <a:ea typeface="Calibri" pitchFamily="34" charset="-122"/>
                <a:cs typeface="Calibri" pitchFamily="34" charset="-120"/>
              </a:rPr>
              <a:t>0.99</a:t>
            </a:r>
            <a:pPr indent="0" marL="0">
              <a:lnSpc>
                <a:spcPts val="2100"/>
              </a:lnSpc>
              <a:buNone/>
            </a:pPr>
            <a:r>
              <a:rPr lang="en-US" sz="1400" dirty="0">
                <a:solidFill>
                  <a:srgbClr val="CFE0EA"/>
                </a:solidFill>
                <a:latin typeface="Calibri" pitchFamily="34" charset="0"/>
                <a:ea typeface="Calibri" pitchFamily="34" charset="-122"/>
                <a:cs typeface="Calibri" pitchFamily="34" charset="-120"/>
              </a:rPr>
              <a:t>. The apparent wave speed is the ground-track speed.</a:t>
            </a:r>
            <a:endParaRPr lang="en-US" sz="1400" dirty="0"/>
          </a:p>
        </p:txBody>
      </p:sp>
      <p:sp>
        <p:nvSpPr>
          <p:cNvPr id="6" name="Text 4"/>
          <p:cNvSpPr/>
          <p:nvPr/>
        </p:nvSpPr>
        <p:spPr>
          <a:xfrm>
            <a:off x="731520" y="4297680"/>
            <a:ext cx="106070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Three SWOT celerity estimators, three failures. No SWOT celerity is claimed here.</a:t>
            </a:r>
            <a:endParaRPr lang="en-US" sz="1500" dirty="0"/>
          </a:p>
        </p:txBody>
      </p:sp>
      <p:sp>
        <p:nvSpPr>
          <p:cNvPr id="7" name="Text 5"/>
          <p:cNvSpPr/>
          <p:nvPr/>
        </p:nvSpPr>
        <p:spPr>
          <a:xfrm>
            <a:off x="731520" y="4937760"/>
            <a:ext cx="10607040" cy="457200"/>
          </a:xfrm>
          <a:prstGeom prst="rect">
            <a:avLst/>
          </a:prstGeom>
          <a:noFill/>
          <a:ln/>
        </p:spPr>
        <p:txBody>
          <a:bodyPr wrap="square" lIns="0" tIns="0" rIns="0" bIns="0" rtlCol="0" anchor="ctr"/>
          <a:lstStyle/>
          <a:p>
            <a:pPr indent="0" marL="0">
              <a:buNone/>
            </a:pPr>
            <a:r>
              <a:rPr lang="en-US" sz="1250" i="1" dirty="0">
                <a:solidFill>
                  <a:srgbClr val="2E8BA8"/>
                </a:solidFill>
                <a:latin typeface="Calibri" pitchFamily="34" charset="0"/>
                <a:ea typeface="Calibri" pitchFamily="34" charset="-122"/>
                <a:cs typeface="Calibri" pitchFamily="34" charset="-120"/>
              </a:rPr>
              <a:t>PRIORS P5b now requires that slope ratio be reported for any future celerity claim in this basin.</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RESULT</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9 — through the delta</a:t>
            </a:r>
            <a:endParaRPr lang="en-US" sz="2700" dirty="0"/>
          </a:p>
        </p:txBody>
      </p:sp>
      <p:sp>
        <p:nvSpPr>
          <p:cNvPr id="4" name="Shape 2"/>
          <p:cNvSpPr/>
          <p:nvPr/>
        </p:nvSpPr>
        <p:spPr>
          <a:xfrm>
            <a:off x="438912" y="1216152"/>
            <a:ext cx="799185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17_channels_and_lakes.png">    </p:cNvPr>
          <p:cNvPicPr>
            <a:picLocks noChangeAspect="1"/>
          </p:cNvPicPr>
          <p:nvPr/>
        </p:nvPicPr>
        <p:blipFill>
          <a:blip r:embed="rId1"/>
          <a:srcRect l="0" r="0" t="0" b="0"/>
          <a:stretch/>
        </p:blipFill>
        <p:spPr>
          <a:xfrm>
            <a:off x="502920" y="1280160"/>
            <a:ext cx="786384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Every SWORD reach around the delta coloured by type; facc stepping DOWN through the distributaries; water level in main stem versus delta and inlet channels; inlet and lake levels; and their lagged coupling to the river.</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These are the type 3 and 5 reaches excluded from every earlier figure because they break a 1-D profile. Here they are the subject: water level falls 2.97 m to 0.55 m and seasonal range 6.18 m to 1.40 m across the delta.</a:t>
            </a:r>
            <a:endParaRPr lang="en-US" sz="10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8503920" y="1371600"/>
          <a:ext cx="3200400" cy="914400"/>
        </p:xfrm>
        <a:graphic>
          <a:graphicData uri="http://schemas.openxmlformats.org/drawingml/2006/table">
            <a:tbl>
              <a:tblPr/>
              <a:tblGrid>
                <a:gridCol w="1280160"/>
                <a:gridCol w="1005840"/>
                <a:gridCol w="914400"/>
              </a:tblGrid>
              <a:tr h="347472">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WSE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range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r>
              <a:tr h="347472">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Main stem</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2.97 m</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6.18 m</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47472">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Delta arms</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0.70 m</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1.94 m</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47472">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Hotham A</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0.77 m</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2.08 m</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47472">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Hotham B</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0.55 m</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1.40 m</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13" name="Text 9"/>
          <p:cNvSpPr/>
          <p:nvPr/>
        </p:nvSpPr>
        <p:spPr>
          <a:xfrm>
            <a:off x="8503920" y="3291840"/>
            <a:ext cx="3200400" cy="914400"/>
          </a:xfrm>
          <a:prstGeom prst="rect">
            <a:avLst/>
          </a:prstGeom>
          <a:noFill/>
          <a:ln/>
        </p:spPr>
        <p:txBody>
          <a:bodyPr wrap="square" lIns="0" tIns="0" rIns="0" bIns="0" rtlCol="0" anchor="t"/>
          <a:lstStyle/>
          <a:p>
            <a:pPr indent="0" marL="0">
              <a:lnSpc>
                <a:spcPts val="1800"/>
              </a:lnSpc>
              <a:buNone/>
            </a:pPr>
            <a:r>
              <a:rPr lang="en-US" sz="1150" dirty="0">
                <a:solidFill>
                  <a:srgbClr val="2E8BA8"/>
                </a:solidFill>
                <a:latin typeface="Calibri" pitchFamily="34" charset="0"/>
                <a:ea typeface="Calibri" pitchFamily="34" charset="-122"/>
                <a:cs typeface="Calibri" pitchFamily="34" charset="-120"/>
              </a:rPr>
              <a:t>Flow splitting into a backwater-controlled receiving basin, measured directly.</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RESULT</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10 — Hotham Inlet and Selawik Lake</a:t>
            </a:r>
            <a:endParaRPr lang="en-US" sz="2700" dirty="0"/>
          </a:p>
        </p:txBody>
      </p:sp>
      <p:sp>
        <p:nvSpPr>
          <p:cNvPr id="4" name="Shape 2"/>
          <p:cNvSpPr/>
          <p:nvPr/>
        </p:nvSpPr>
        <p:spPr>
          <a:xfrm>
            <a:off x="502920" y="1280160"/>
            <a:ext cx="3611880" cy="4754880"/>
          </a:xfrm>
          <a:prstGeom prst="roundRect">
            <a:avLst>
              <a:gd name="adj" fmla="val 1519"/>
            </a:avLst>
          </a:prstGeom>
          <a:solidFill>
            <a:srgbClr val="F2F6F8"/>
          </a:solidFill>
          <a:ln w="10795">
            <a:solidFill>
              <a:srgbClr val="2E8BA8"/>
            </a:solidFill>
            <a:prstDash val="solid"/>
          </a:ln>
        </p:spPr>
      </p:sp>
      <p:sp>
        <p:nvSpPr>
          <p:cNvPr id="5" name="Text 3"/>
          <p:cNvSpPr/>
          <p:nvPr/>
        </p:nvSpPr>
        <p:spPr>
          <a:xfrm>
            <a:off x="822960" y="1481328"/>
            <a:ext cx="2971800" cy="347472"/>
          </a:xfrm>
          <a:prstGeom prst="rect">
            <a:avLst/>
          </a:prstGeom>
          <a:noFill/>
          <a:ln/>
        </p:spPr>
        <p:txBody>
          <a:bodyPr wrap="square" lIns="0" tIns="0" rIns="0" bIns="0" rtlCol="0" anchor="ctr"/>
          <a:lstStyle/>
          <a:p>
            <a:pPr indent="0" marL="0">
              <a:buNone/>
            </a:pPr>
            <a:r>
              <a:rPr lang="en-US" sz="1500" b="1" dirty="0">
                <a:solidFill>
                  <a:srgbClr val="0B2F4A"/>
                </a:solidFill>
                <a:latin typeface="Georgia" pitchFamily="34" charset="0"/>
                <a:ea typeface="Georgia" pitchFamily="34" charset="-122"/>
                <a:cs typeface="Georgia" pitchFamily="34" charset="-120"/>
              </a:rPr>
              <a:t>What exists</a:t>
            </a:r>
            <a:endParaRPr lang="en-US" sz="1500" dirty="0"/>
          </a:p>
        </p:txBody>
      </p:sp>
      <p:sp>
        <p:nvSpPr>
          <p:cNvPr id="6" name="Text 4"/>
          <p:cNvSpPr/>
          <p:nvPr/>
        </p:nvSpPr>
        <p:spPr>
          <a:xfrm>
            <a:off x="822960" y="1783080"/>
            <a:ext cx="3017520" cy="4023360"/>
          </a:xfrm>
          <a:prstGeom prst="rect">
            <a:avLst/>
          </a:prstGeom>
          <a:noFill/>
          <a:ln/>
        </p:spPr>
        <p:txBody>
          <a:bodyPr wrap="square" lIns="0" tIns="0" rIns="0" bIns="0" rtlCol="0" anchor="t"/>
          <a:lstStyle/>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27 lake-flagged SWORD reaches across the inlet and lake</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1,871 quality-passed observations on the channel reaches</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14 PLD prior lakes in the delta, 1,276 records</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Reached via Hydrocron feature=PriorLake</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PLD lake IDs obtained from HarP on Zenodo, not from the authenticated PO.DAAC path</a:t>
            </a:r>
            <a:endParaRPr lang="en-US" sz="1100" dirty="0"/>
          </a:p>
        </p:txBody>
      </p:sp>
      <p:sp>
        <p:nvSpPr>
          <p:cNvPr id="7" name="Shape 5"/>
          <p:cNvSpPr/>
          <p:nvPr/>
        </p:nvSpPr>
        <p:spPr>
          <a:xfrm>
            <a:off x="4343400" y="1280160"/>
            <a:ext cx="3611880" cy="4754880"/>
          </a:xfrm>
          <a:prstGeom prst="roundRect">
            <a:avLst>
              <a:gd name="adj" fmla="val 1519"/>
            </a:avLst>
          </a:prstGeom>
          <a:solidFill>
            <a:srgbClr val="EAF4EE"/>
          </a:solidFill>
          <a:ln w="10795">
            <a:solidFill>
              <a:srgbClr val="1B7A4B"/>
            </a:solidFill>
            <a:prstDash val="solid"/>
          </a:ln>
        </p:spPr>
      </p:sp>
      <p:sp>
        <p:nvSpPr>
          <p:cNvPr id="8" name="Text 6"/>
          <p:cNvSpPr/>
          <p:nvPr/>
        </p:nvSpPr>
        <p:spPr>
          <a:xfrm>
            <a:off x="4663440" y="1481328"/>
            <a:ext cx="2971800" cy="347472"/>
          </a:xfrm>
          <a:prstGeom prst="rect">
            <a:avLst/>
          </a:prstGeom>
          <a:noFill/>
          <a:ln/>
        </p:spPr>
        <p:txBody>
          <a:bodyPr wrap="square" lIns="0" tIns="0" rIns="0" bIns="0" rtlCol="0" anchor="ctr"/>
          <a:lstStyle/>
          <a:p>
            <a:pPr indent="0" marL="0">
              <a:buNone/>
            </a:pPr>
            <a:r>
              <a:rPr lang="en-US" sz="1500" b="1" dirty="0">
                <a:solidFill>
                  <a:srgbClr val="1B7A4B"/>
                </a:solidFill>
                <a:latin typeface="Georgia" pitchFamily="34" charset="0"/>
                <a:ea typeface="Georgia" pitchFamily="34" charset="-122"/>
                <a:cs typeface="Georgia" pitchFamily="34" charset="-120"/>
              </a:rPr>
              <a:t>What it shows</a:t>
            </a:r>
            <a:endParaRPr lang="en-US" sz="1500" dirty="0"/>
          </a:p>
        </p:txBody>
      </p:sp>
      <p:sp>
        <p:nvSpPr>
          <p:cNvPr id="9" name="Text 7"/>
          <p:cNvSpPr/>
          <p:nvPr/>
        </p:nvSpPr>
        <p:spPr>
          <a:xfrm>
            <a:off x="4663440" y="1783080"/>
            <a:ext cx="3017520" cy="548640"/>
          </a:xfrm>
          <a:prstGeom prst="rect">
            <a:avLst/>
          </a:prstGeom>
          <a:noFill/>
          <a:ln/>
        </p:spPr>
        <p:txBody>
          <a:bodyPr wrap="square" lIns="0" tIns="0" rIns="0" bIns="0" rtlCol="0" anchor="t"/>
          <a:lstStyle/>
          <a:p>
            <a:pPr indent="0" marL="0">
              <a:lnSpc>
                <a:spcPts val="1800"/>
              </a:lnSpc>
              <a:buNone/>
            </a:pPr>
            <a:r>
              <a:rPr lang="en-US" sz="1150" dirty="0">
                <a:solidFill>
                  <a:srgbClr val="20303C"/>
                </a:solidFill>
                <a:latin typeface="Calibri" pitchFamily="34" charset="0"/>
                <a:ea typeface="Calibri" pitchFamily="34" charset="-122"/>
                <a:cs typeface="Calibri" pitchFamily="34" charset="-120"/>
              </a:rPr>
              <a:t>Both basins track Kobuk stage essentially instantaneously:</a:t>
            </a:r>
            <a:endParaRPr lang="en-US" sz="11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663440" y="2377440"/>
          <a:ext cx="3017520" cy="914400"/>
        </p:xfrm>
        <a:graphic>
          <a:graphicData uri="http://schemas.openxmlformats.org/drawingml/2006/table">
            <a:tbl>
              <a:tblPr/>
              <a:tblGrid>
                <a:gridCol w="1554480"/>
                <a:gridCol w="1463040"/>
              </a:tblGrid>
              <a:tr h="365760">
                <a:tc>
                  <a:txBody>
                    <a:bodyPr/>
                    <a:lstStyle/>
                    <a:p>
                      <a:pPr indent="0" marL="0">
                        <a:buNone/>
                      </a:pPr>
                      <a:r>
                        <a:rPr lang="en-US" sz="1050" b="1" dirty="0">
                          <a:solidFill>
                            <a:srgbClr val="20303C"/>
                          </a:solidFill>
                          <a:latin typeface="Calibri" pitchFamily="34" charset="0"/>
                          <a:ea typeface="Calibri" pitchFamily="34" charset="-122"/>
                          <a:cs typeface="Calibri" pitchFamily="34" charset="-120"/>
                        </a:rPr>
                        <a:t>Hotham Inlet</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r = 0.85</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65760">
                <a:tc>
                  <a:txBody>
                    <a:bodyPr/>
                    <a:lstStyle/>
                    <a:p>
                      <a:pPr indent="0" marL="0">
                        <a:buNone/>
                      </a:pPr>
                      <a:r>
                        <a:rPr lang="en-US" sz="1050" b="1" dirty="0">
                          <a:solidFill>
                            <a:srgbClr val="20303C"/>
                          </a:solidFill>
                          <a:latin typeface="Calibri" pitchFamily="34" charset="0"/>
                          <a:ea typeface="Calibri" pitchFamily="34" charset="-122"/>
                          <a:cs typeface="Calibri" pitchFamily="34" charset="-120"/>
                        </a:rPr>
                        <a:t>Selawik Lake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r = 0.87</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11" name="Text 8"/>
          <p:cNvSpPr/>
          <p:nvPr/>
        </p:nvSpPr>
        <p:spPr>
          <a:xfrm>
            <a:off x="4663440" y="3200400"/>
            <a:ext cx="3017520" cy="1828800"/>
          </a:xfrm>
          <a:prstGeom prst="rect">
            <a:avLst/>
          </a:prstGeom>
          <a:noFill/>
          <a:ln/>
        </p:spPr>
        <p:txBody>
          <a:bodyPr wrap="square" lIns="0" tIns="0" rIns="0" bIns="0" rtlCol="0" anchor="t"/>
          <a:lstStyle/>
          <a:p>
            <a:pPr indent="0" marL="0">
              <a:lnSpc>
                <a:spcPts val="1800"/>
              </a:lnSpc>
              <a:buNone/>
            </a:pPr>
            <a:r>
              <a:rPr lang="en-US" sz="1100" dirty="0">
                <a:solidFill>
                  <a:srgbClr val="20303C"/>
                </a:solidFill>
                <a:latin typeface="Calibri" pitchFamily="34" charset="0"/>
                <a:ea typeface="Calibri" pitchFamily="34" charset="-122"/>
                <a:cs typeface="Calibri" pitchFamily="34" charset="-120"/>
              </a:rPr>
              <a:t>at zero lag, collapsing to 0.14 and 0.26 by two weeks. The response is sub-weekly: these basins are hydraulically connected to the river, not storage-buffered reservoirs that integrate it.</a:t>
            </a:r>
            <a:endParaRPr lang="en-US" sz="1100" dirty="0"/>
          </a:p>
        </p:txBody>
      </p:sp>
      <p:sp>
        <p:nvSpPr>
          <p:cNvPr id="12" name="Shape 9"/>
          <p:cNvSpPr/>
          <p:nvPr/>
        </p:nvSpPr>
        <p:spPr>
          <a:xfrm>
            <a:off x="8138160" y="1280160"/>
            <a:ext cx="3566160" cy="4754880"/>
          </a:xfrm>
          <a:prstGeom prst="roundRect">
            <a:avLst>
              <a:gd name="adj" fmla="val 1538"/>
            </a:avLst>
          </a:prstGeom>
          <a:solidFill>
            <a:srgbClr val="FBEEE9"/>
          </a:solidFill>
          <a:ln w="10795">
            <a:solidFill>
              <a:srgbClr val="B4442E"/>
            </a:solidFill>
            <a:prstDash val="solid"/>
          </a:ln>
        </p:spPr>
      </p:sp>
      <p:sp>
        <p:nvSpPr>
          <p:cNvPr id="13" name="Text 10"/>
          <p:cNvSpPr/>
          <p:nvPr/>
        </p:nvSpPr>
        <p:spPr>
          <a:xfrm>
            <a:off x="8458200" y="1481328"/>
            <a:ext cx="2926080" cy="347472"/>
          </a:xfrm>
          <a:prstGeom prst="rect">
            <a:avLst/>
          </a:prstGeom>
          <a:noFill/>
          <a:ln/>
        </p:spPr>
        <p:txBody>
          <a:bodyPr wrap="square" lIns="0" tIns="0" rIns="0" bIns="0" rtlCol="0" anchor="ctr"/>
          <a:lstStyle/>
          <a:p>
            <a:pPr indent="0" marL="0">
              <a:buNone/>
            </a:pPr>
            <a:r>
              <a:rPr lang="en-US" sz="1500" b="1" dirty="0">
                <a:solidFill>
                  <a:srgbClr val="B4442E"/>
                </a:solidFill>
                <a:latin typeface="Georgia" pitchFamily="34" charset="0"/>
                <a:ea typeface="Georgia" pitchFamily="34" charset="-122"/>
                <a:cs typeface="Georgia" pitchFamily="34" charset="-120"/>
              </a:rPr>
              <a:t>What is still missing</a:t>
            </a:r>
            <a:endParaRPr lang="en-US" sz="1500" dirty="0"/>
          </a:p>
        </p:txBody>
      </p:sp>
      <p:sp>
        <p:nvSpPr>
          <p:cNvPr id="14" name="Text 11"/>
          <p:cNvSpPr/>
          <p:nvPr/>
        </p:nvSpPr>
        <p:spPr>
          <a:xfrm>
            <a:off x="8458200" y="1783080"/>
            <a:ext cx="2926080" cy="4023360"/>
          </a:xfrm>
          <a:prstGeom prst="rect">
            <a:avLst/>
          </a:prstGeom>
          <a:noFill/>
          <a:ln/>
        </p:spPr>
        <p:txBody>
          <a:bodyPr wrap="square" lIns="0" tIns="0" rIns="0" bIns="0" rtlCol="0" anchor="t"/>
          <a:lstStyle/>
          <a:p>
            <a:pPr marL="342900" indent="-342900">
              <a:lnSpc>
                <a:spcPts val="1800"/>
              </a:lnSpc>
              <a:buSzPct val="100000"/>
              <a:buChar char="•"/>
            </a:pPr>
            <a:r>
              <a:rPr lang="en-US" sz="1050" dirty="0">
                <a:solidFill>
                  <a:srgbClr val="20303C"/>
                </a:solidFill>
                <a:latin typeface="Calibri" pitchFamily="34" charset="0"/>
                <a:ea typeface="Calibri" pitchFamily="34" charset="-122"/>
                <a:cs typeface="Calibri" pitchFamily="34" charset="-120"/>
              </a:rPr>
              <a:t>Selawik Lake and Hotham Inlet themselves are NOT in the PLD subset obtained — the 14 lakes cap at 0.57 km2</a:t>
            </a:r>
            <a:endParaRPr lang="en-US" sz="1050" dirty="0"/>
          </a:p>
          <a:p>
            <a:pPr marL="342900" indent="-342900">
              <a:lnSpc>
                <a:spcPts val="1800"/>
              </a:lnSpc>
              <a:buSzPct val="100000"/>
              <a:buChar char="•"/>
            </a:pPr>
            <a:r>
              <a:rPr lang="en-US" sz="1050" dirty="0">
                <a:solidFill>
                  <a:srgbClr val="20303C"/>
                </a:solidFill>
                <a:latin typeface="Calibri" pitchFamily="34" charset="0"/>
                <a:ea typeface="Calibri" pitchFamily="34" charset="-122"/>
                <a:cs typeface="Calibri" pitchFamily="34" charset="-120"/>
              </a:rPr>
              <a:t>Part of that r = 0.85 is shared seasonality, not proof of forcing</a:t>
            </a:r>
            <a:endParaRPr lang="en-US" sz="1050" dirty="0"/>
          </a:p>
          <a:p>
            <a:pPr marL="342900" indent="-342900">
              <a:lnSpc>
                <a:spcPts val="1800"/>
              </a:lnSpc>
              <a:buSzPct val="100000"/>
              <a:buChar char="•"/>
            </a:pPr>
            <a:r>
              <a:rPr lang="en-US" sz="1050" dirty="0">
                <a:solidFill>
                  <a:srgbClr val="20303C"/>
                </a:solidFill>
                <a:latin typeface="Calibri" pitchFamily="34" charset="0"/>
                <a:ea typeface="Calibri" pitchFamily="34" charset="-122"/>
                <a:cs typeface="Calibri" pitchFamily="34" charset="-120"/>
              </a:rPr>
              <a:t>No bathymetry, so no volume and no residence time</a:t>
            </a:r>
            <a:endParaRPr lang="en-US" sz="1050" dirty="0"/>
          </a:p>
          <a:p>
            <a:pPr marL="342900" indent="-342900">
              <a:lnSpc>
                <a:spcPts val="1800"/>
              </a:lnSpc>
              <a:buSzPct val="100000"/>
              <a:buChar char="•"/>
            </a:pPr>
            <a:r>
              <a:rPr lang="en-US" sz="1050" dirty="0">
                <a:solidFill>
                  <a:srgbClr val="20303C"/>
                </a:solidFill>
                <a:latin typeface="Calibri" pitchFamily="34" charset="0"/>
                <a:ea typeface="Calibri" pitchFamily="34" charset="-122"/>
                <a:cs typeface="Calibri" pitchFamily="34" charset="-120"/>
              </a:rPr>
              <a:t>No salinity, so the freshwater/marine boundary is unconstrained</a:t>
            </a:r>
            <a:endParaRPr lang="en-US" sz="1050" dirty="0"/>
          </a:p>
          <a:p>
            <a:pPr marL="342900" indent="-342900">
              <a:lnSpc>
                <a:spcPts val="1800"/>
              </a:lnSpc>
              <a:buSzPct val="100000"/>
              <a:buChar char="•"/>
            </a:pPr>
            <a:r>
              <a:rPr lang="en-US" sz="1050" dirty="0">
                <a:solidFill>
                  <a:srgbClr val="20303C"/>
                </a:solidFill>
                <a:latin typeface="Calibri" pitchFamily="34" charset="0"/>
                <a:ea typeface="Calibri" pitchFamily="34" charset="-122"/>
                <a:cs typeface="Calibri" pitchFamily="34" charset="-120"/>
              </a:rPr>
              <a:t>Getting the big basins as PLD lakes needs hydroweb.next, which is interactive</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OCEAN</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11 — what the ocean data actually are</a:t>
            </a:r>
            <a:endParaRPr lang="en-US" sz="2700" dirty="0"/>
          </a:p>
        </p:txBody>
      </p:sp>
      <p:sp>
        <p:nvSpPr>
          <p:cNvPr id="4" name="Shape 2"/>
          <p:cNvSpPr/>
          <p:nvPr/>
        </p:nvSpPr>
        <p:spPr>
          <a:xfrm>
            <a:off x="438912" y="1216152"/>
            <a:ext cx="799185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14_ocean_timeseries.png">    </p:cNvPr>
          <p:cNvPicPr>
            <a:picLocks noChangeAspect="1"/>
          </p:cNvPicPr>
          <p:nvPr/>
        </p:nvPicPr>
        <p:blipFill>
          <a:blip r:embed="rId1"/>
          <a:srcRect l="0" r="0" t="0" b="0"/>
          <a:stretch/>
        </p:blipFill>
        <p:spPr>
          <a:xfrm>
            <a:off x="502920" y="1280160"/>
            <a:ext cx="786384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Weekly VIIRS chlorophyll, nLw(671) and Kd(PAR) for five receiving basins from 2012-2026, with seasonal climatologies alongside. Lines break across the polar-night gap rather than ramping through it.</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All three quantities order identically — Selawik Lake &gt; Hotham Inlet &gt; Eschscholtz Bay &gt; inner sound &gt; outer sound. That is a turbidity gradient away from the river mouths, and chlorophyll following it is a warning sign.</a:t>
            </a:r>
            <a:endParaRPr lang="en-US" sz="1050" dirty="0"/>
          </a:p>
        </p:txBody>
      </p:sp>
      <p:sp>
        <p:nvSpPr>
          <p:cNvPr id="12" name="Text 9"/>
          <p:cNvSpPr/>
          <p:nvPr/>
        </p:nvSpPr>
        <p:spPr>
          <a:xfrm>
            <a:off x="8503920" y="1371600"/>
            <a:ext cx="3200400" cy="603504"/>
          </a:xfrm>
          <a:prstGeom prst="rect">
            <a:avLst/>
          </a:prstGeom>
          <a:noFill/>
          <a:ln/>
        </p:spPr>
        <p:txBody>
          <a:bodyPr wrap="square" lIns="0" tIns="0" rIns="0" bIns="0" rtlCol="0" anchor="ctr"/>
          <a:lstStyle/>
          <a:p>
            <a:pPr indent="0" marL="0">
              <a:buNone/>
            </a:pPr>
            <a:r>
              <a:rPr lang="en-US" sz="2900" b="1" dirty="0">
                <a:solidFill>
                  <a:srgbClr val="E8A33D"/>
                </a:solidFill>
                <a:latin typeface="Georgia" pitchFamily="34" charset="0"/>
                <a:ea typeface="Georgia" pitchFamily="34" charset="-122"/>
                <a:cs typeface="Georgia" pitchFamily="34" charset="-120"/>
              </a:rPr>
              <a:t>Jun-Sep</a:t>
            </a:r>
            <a:endParaRPr lang="en-US" sz="2900" dirty="0"/>
          </a:p>
        </p:txBody>
      </p:sp>
      <p:sp>
        <p:nvSpPr>
          <p:cNvPr id="13" name="Text 10"/>
          <p:cNvSpPr/>
          <p:nvPr/>
        </p:nvSpPr>
        <p:spPr>
          <a:xfrm>
            <a:off x="8503920" y="1956816"/>
            <a:ext cx="320040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the only months with valid</a:t>
            </a:r>
            <a:endParaRPr lang="en-US" sz="1050" dirty="0"/>
          </a:p>
          <a:p>
            <a:pPr indent="0" marL="0">
              <a:buNone/>
            </a:pPr>
            <a:r>
              <a:rPr lang="en-US" sz="1050" dirty="0">
                <a:solidFill>
                  <a:srgbClr val="5A7284"/>
                </a:solidFill>
                <a:latin typeface="Calibri" pitchFamily="34" charset="0"/>
                <a:ea typeface="Calibri" pitchFamily="34" charset="-122"/>
                <a:cs typeface="Calibri" pitchFamily="34" charset="-120"/>
              </a:rPr>
              <a:t>retrievals at this latitude</a:t>
            </a:r>
            <a:endParaRPr lang="en-US" sz="1050" dirty="0"/>
          </a:p>
        </p:txBody>
      </p:sp>
      <p:sp>
        <p:nvSpPr>
          <p:cNvPr id="14" name="Text 11"/>
          <p:cNvSpPr/>
          <p:nvPr/>
        </p:nvSpPr>
        <p:spPr>
          <a:xfrm>
            <a:off x="8503920" y="2651760"/>
            <a:ext cx="3200400" cy="1280160"/>
          </a:xfrm>
          <a:prstGeom prst="rect">
            <a:avLst/>
          </a:prstGeom>
          <a:noFill/>
          <a:ln/>
        </p:spPr>
        <p:txBody>
          <a:bodyPr wrap="square" lIns="0" tIns="0" rIns="0" bIns="0" rtlCol="0" anchor="t"/>
          <a:lstStyle/>
          <a:p>
            <a:pPr indent="0" marL="0">
              <a:lnSpc>
                <a:spcPts val="1800"/>
              </a:lnSpc>
              <a:buNone/>
            </a:pPr>
            <a:r>
              <a:rPr lang="en-US" sz="1150" dirty="0">
                <a:solidFill>
                  <a:srgbClr val="20303C"/>
                </a:solidFill>
                <a:latin typeface="Calibri" pitchFamily="34" charset="0"/>
                <a:ea typeface="Calibri" pitchFamily="34" charset="-122"/>
                <a:cs typeface="Calibri" pitchFamily="34" charset="-120"/>
              </a:rPr>
              <a:t>0.0-0.6% of pixels are valid Oct-May: polar night, sea ice and low sun angle. No annual statistic is computed anywhere.</a:t>
            </a:r>
            <a:endParaRPr lang="en-US" sz="1150" dirty="0"/>
          </a:p>
        </p:txBody>
      </p:sp>
      <p:sp>
        <p:nvSpPr>
          <p:cNvPr id="15" name="Text 12"/>
          <p:cNvSpPr/>
          <p:nvPr/>
        </p:nvSpPr>
        <p:spPr>
          <a:xfrm>
            <a:off x="8503920" y="4023360"/>
            <a:ext cx="3200400" cy="1463040"/>
          </a:xfrm>
          <a:prstGeom prst="rect">
            <a:avLst/>
          </a:prstGeom>
          <a:noFill/>
          <a:ln/>
        </p:spPr>
        <p:txBody>
          <a:bodyPr wrap="square" lIns="0" tIns="0" rIns="0" bIns="0" rtlCol="0" anchor="t"/>
          <a:lstStyle/>
          <a:p>
            <a:pPr indent="0" marL="0">
              <a:lnSpc>
                <a:spcPts val="1800"/>
              </a:lnSpc>
              <a:buNone/>
            </a:pPr>
            <a:r>
              <a:rPr lang="en-US" sz="1150" dirty="0">
                <a:solidFill>
                  <a:srgbClr val="2E8BA8"/>
                </a:solidFill>
                <a:latin typeface="Calibri" pitchFamily="34" charset="0"/>
                <a:ea typeface="Calibri" pitchFamily="34" charset="-122"/>
                <a:cs typeface="Calibri" pitchFamily="34" charset="-120"/>
              </a:rPr>
              <a:t>Five basins, 2012-2026 — a 15-year record that long predates SWOT, which is what gives the later correlation tests their statistical power.</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OCEAN</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12 — why chlorophyll here is not biomass</a:t>
            </a:r>
            <a:endParaRPr lang="en-US" sz="2700" dirty="0"/>
          </a:p>
        </p:txBody>
      </p:sp>
      <p:sp>
        <p:nvSpPr>
          <p:cNvPr id="4" name="Shape 2"/>
          <p:cNvSpPr/>
          <p:nvPr/>
        </p:nvSpPr>
        <p:spPr>
          <a:xfrm>
            <a:off x="438912" y="1216152"/>
            <a:ext cx="799185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11_optics_vs_biology.png">    </p:cNvPr>
          <p:cNvPicPr>
            <a:picLocks noChangeAspect="1"/>
          </p:cNvPicPr>
          <p:nvPr/>
        </p:nvPicPr>
        <p:blipFill>
          <a:blip r:embed="rId1"/>
          <a:srcRect l="0" r="0" t="0" b="0"/>
          <a:stretch/>
        </p:blipFill>
        <p:spPr>
          <a:xfrm>
            <a:off x="502920" y="1280160"/>
            <a:ext cx="786384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August median maps of chlorophyll, nLw(671) and Kd(PAR); apparent chlorophyll plotted against the sediment proxy; the partial-correlation test; and the lag structure for the inner sound.</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Kotzebue Sound is Case-2 water: shallow, turbid and CDOM-rich. Standard ocean-colour algorithms read sediment and dissolved organic matter AS chlorophyll. The three maps peak in the same plume-fed water, which is the tell.</a:t>
            </a:r>
            <a:endParaRPr lang="en-US" sz="10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8503920" y="1371600"/>
          <a:ext cx="3200400" cy="914400"/>
        </p:xfrm>
        <a:graphic>
          <a:graphicData uri="http://schemas.openxmlformats.org/drawingml/2006/table">
            <a:tbl>
              <a:tblPr/>
              <a:tblGrid>
                <a:gridCol w="1645920"/>
                <a:gridCol w="1554480"/>
              </a:tblGrid>
              <a:tr h="384048">
                <a:tc>
                  <a:txBody>
                    <a:bodyPr/>
                    <a:lstStyle/>
                    <a:p>
                      <a:pPr indent="0" marL="0">
                        <a:buNone/>
                      </a:pPr>
                      <a:r>
                        <a:rPr lang="en-US" sz="1050" b="1" dirty="0">
                          <a:solidFill>
                            <a:srgbClr val="20303C"/>
                          </a:solidFill>
                          <a:latin typeface="Calibri" pitchFamily="34" charset="0"/>
                          <a:ea typeface="Calibri" pitchFamily="34" charset="-122"/>
                          <a:cs typeface="Calibri" pitchFamily="34" charset="-120"/>
                        </a:rPr>
                        <a:t>Hotham Inlet</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b="1" dirty="0">
                          <a:solidFill>
                            <a:srgbClr val="B4442E"/>
                          </a:solidFill>
                          <a:latin typeface="Calibri" pitchFamily="34" charset="0"/>
                          <a:ea typeface="Calibri" pitchFamily="34" charset="-122"/>
                          <a:cs typeface="Calibri" pitchFamily="34" charset="-120"/>
                        </a:rPr>
                        <a:t>8-38 mg m⁻³</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84048">
                <a:tc>
                  <a:txBody>
                    <a:bodyPr/>
                    <a:lstStyle/>
                    <a:p>
                      <a:pPr indent="0" marL="0">
                        <a:buNone/>
                      </a:pPr>
                      <a:r>
                        <a:rPr lang="en-US" sz="1050" b="1" dirty="0">
                          <a:solidFill>
                            <a:srgbClr val="20303C"/>
                          </a:solidFill>
                          <a:latin typeface="Calibri" pitchFamily="34" charset="0"/>
                          <a:ea typeface="Calibri" pitchFamily="34" charset="-122"/>
                          <a:cs typeface="Calibri" pitchFamily="34" charset="-120"/>
                        </a:rPr>
                        <a:t>Outer sound</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1.3-2.4 mg m⁻³</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13" name="Text 9"/>
          <p:cNvSpPr/>
          <p:nvPr/>
        </p:nvSpPr>
        <p:spPr>
          <a:xfrm>
            <a:off x="8503920" y="2286000"/>
            <a:ext cx="3200400" cy="1188720"/>
          </a:xfrm>
          <a:prstGeom prst="rect">
            <a:avLst/>
          </a:prstGeom>
          <a:noFill/>
          <a:ln/>
        </p:spPr>
        <p:txBody>
          <a:bodyPr wrap="square" lIns="0" tIns="0" rIns="0" bIns="0" rtlCol="0" anchor="t"/>
          <a:lstStyle/>
          <a:p>
            <a:pPr indent="0" marL="0">
              <a:lnSpc>
                <a:spcPts val="1800"/>
              </a:lnSpc>
              <a:buNone/>
            </a:pPr>
            <a:r>
              <a:rPr lang="en-US" sz="1150" dirty="0">
                <a:solidFill>
                  <a:srgbClr val="20303C"/>
                </a:solidFill>
                <a:latin typeface="Calibri" pitchFamily="34" charset="0"/>
                <a:ea typeface="Calibri" pitchFamily="34" charset="-122"/>
                <a:cs typeface="Calibri" pitchFamily="34" charset="-120"/>
              </a:rPr>
              <a:t>Jun-Sep medians. The inner values are not credible as phytoplankton biomass — they are largely the Kobuk plume.</a:t>
            </a:r>
            <a:endParaRPr lang="en-US" sz="1150" dirty="0"/>
          </a:p>
        </p:txBody>
      </p:sp>
      <p:sp>
        <p:nvSpPr>
          <p:cNvPr id="14" name="Text 10"/>
          <p:cNvSpPr/>
          <p:nvPr/>
        </p:nvSpPr>
        <p:spPr>
          <a:xfrm>
            <a:off x="8503920" y="3566160"/>
            <a:ext cx="3200400" cy="1280160"/>
          </a:xfrm>
          <a:prstGeom prst="rect">
            <a:avLst/>
          </a:prstGeom>
          <a:noFill/>
          <a:ln/>
        </p:spPr>
        <p:txBody>
          <a:bodyPr wrap="square" lIns="0" tIns="0" rIns="0" bIns="0" rtlCol="0" anchor="t"/>
          <a:lstStyle/>
          <a:p>
            <a:pPr indent="0" marL="0">
              <a:lnSpc>
                <a:spcPts val="1800"/>
              </a:lnSpc>
              <a:buNone/>
            </a:pPr>
            <a:r>
              <a:rPr lang="en-US" sz="1150" dirty="0">
                <a:solidFill>
                  <a:srgbClr val="2E8BA8"/>
                </a:solidFill>
                <a:latin typeface="Calibri" pitchFamily="34" charset="0"/>
                <a:ea typeface="Calibri" pitchFamily="34" charset="-122"/>
                <a:cs typeface="Calibri" pitchFamily="34" charset="-120"/>
              </a:rPr>
              <a:t>So chlorophyll is used for SEASON TIMING and interannual comparison only, never as a calibrated biomass measurement.</a:t>
            </a:r>
            <a:endParaRPr lang="en-US" sz="1150" dirty="0"/>
          </a:p>
        </p:txBody>
      </p:sp>
      <p:sp>
        <p:nvSpPr>
          <p:cNvPr id="15" name="Text 11"/>
          <p:cNvSpPr/>
          <p:nvPr/>
        </p:nvSpPr>
        <p:spPr>
          <a:xfrm>
            <a:off x="8503920" y="4937760"/>
            <a:ext cx="3200400" cy="1097280"/>
          </a:xfrm>
          <a:prstGeom prst="rect">
            <a:avLst/>
          </a:prstGeom>
          <a:noFill/>
          <a:ln/>
        </p:spPr>
        <p:txBody>
          <a:bodyPr wrap="square" lIns="0" tIns="0" rIns="0" bIns="0" rtlCol="0" anchor="t"/>
          <a:lstStyle/>
          <a:p>
            <a:pPr indent="0" marL="0">
              <a:lnSpc>
                <a:spcPts val="1800"/>
              </a:lnSpc>
              <a:buNone/>
            </a:pPr>
            <a:r>
              <a:rPr lang="en-US" sz="1100" dirty="0">
                <a:solidFill>
                  <a:srgbClr val="5A7284"/>
                </a:solidFill>
                <a:latin typeface="Calibri" pitchFamily="34" charset="0"/>
                <a:ea typeface="Calibri" pitchFamily="34" charset="-122"/>
                <a:cs typeface="Calibri" pitchFamily="34" charset="-120"/>
              </a:rPr>
              <a:t>nLw(671) is the discriminator: it responds to suspended sediment and is nearly blind to chlorophyll.</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OCEAN</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13 — does river flow track the bloom season?</a:t>
            </a:r>
            <a:endParaRPr lang="en-US" sz="2700" dirty="0"/>
          </a:p>
        </p:txBody>
      </p:sp>
      <p:sp>
        <p:nvSpPr>
          <p:cNvPr id="4" name="Shape 2"/>
          <p:cNvSpPr/>
          <p:nvPr/>
        </p:nvSpPr>
        <p:spPr>
          <a:xfrm>
            <a:off x="438912" y="1216152"/>
            <a:ext cx="799185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05_river_ocean_coupling.png">    </p:cNvPr>
          <p:cNvPicPr>
            <a:picLocks noChangeAspect="1"/>
          </p:cNvPicPr>
          <p:nvPr/>
        </p:nvPicPr>
        <p:blipFill>
          <a:blip r:embed="rId1"/>
          <a:srcRect l="0" r="0" t="0" b="0"/>
          <a:stretch/>
        </p:blipFill>
        <p:spPr>
          <a:xfrm>
            <a:off x="502920" y="1280160"/>
            <a:ext cx="786384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August chlorophyll map with the basins outlined; bloom season against river forcing; interannual medians; the lagged correlation on the FULL 2012-2026 gauge record; SWOT-era Kobuk flow against the bloom window; and the data-availability bar.</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The first version of this test used only 4 SWOT summers (n = 46) and nothing survived correction. Using the 15-year gauge record instead gives n = 178-217, and 12 of 21 correlations survive Bonferroni.</a:t>
            </a:r>
            <a:endParaRPr lang="en-US" sz="10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8503920" y="1371600"/>
          <a:ext cx="3200400" cy="914400"/>
        </p:xfrm>
        <a:graphic>
          <a:graphicData uri="http://schemas.openxmlformats.org/drawingml/2006/table">
            <a:tbl>
              <a:tblPr/>
              <a:tblGrid>
                <a:gridCol w="1554480"/>
                <a:gridCol w="822960"/>
                <a:gridCol w="822960"/>
              </a:tblGrid>
              <a:tr h="384048">
                <a:tc>
                  <a:txBody>
                    <a:bodyPr/>
                    <a:lstStyle/>
                    <a:p>
                      <a:pPr indent="0" marL="0">
                        <a:buNone/>
                      </a:pPr>
                      <a:r>
                        <a:rPr lang="en-US" sz="1050" b="1" dirty="0">
                          <a:solidFill>
                            <a:srgbClr val="20303C"/>
                          </a:solidFill>
                          <a:latin typeface="Calibri" pitchFamily="34" charset="0"/>
                          <a:ea typeface="Calibri" pitchFamily="34" charset="-122"/>
                          <a:cs typeface="Calibri" pitchFamily="34" charset="-120"/>
                        </a:rPr>
                        <a:t>Inner sound</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+0.32</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2 wk</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84048">
                <a:tc>
                  <a:txBody>
                    <a:bodyPr/>
                    <a:lstStyle/>
                    <a:p>
                      <a:pPr indent="0" marL="0">
                        <a:buNone/>
                      </a:pPr>
                      <a:r>
                        <a:rPr lang="en-US" sz="1050" b="1" dirty="0">
                          <a:solidFill>
                            <a:srgbClr val="20303C"/>
                          </a:solidFill>
                          <a:latin typeface="Calibri" pitchFamily="34" charset="0"/>
                          <a:ea typeface="Calibri" pitchFamily="34" charset="-122"/>
                          <a:cs typeface="Calibri" pitchFamily="34" charset="-120"/>
                        </a:rPr>
                        <a:t>Hotham Inlet</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−0.31</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1 wk</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84048">
                <a:tc>
                  <a:txBody>
                    <a:bodyPr/>
                    <a:lstStyle/>
                    <a:p>
                      <a:pPr indent="0" marL="0">
                        <a:buNone/>
                      </a:pPr>
                      <a:r>
                        <a:rPr lang="en-US" sz="1050" b="1" dirty="0">
                          <a:solidFill>
                            <a:srgbClr val="20303C"/>
                          </a:solidFill>
                          <a:latin typeface="Calibri" pitchFamily="34" charset="0"/>
                          <a:ea typeface="Calibri" pitchFamily="34" charset="-122"/>
                          <a:cs typeface="Calibri" pitchFamily="34" charset="-120"/>
                        </a:rPr>
                        <a:t>Outer sound</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+0.24</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0 wk</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13" name="Text 9"/>
          <p:cNvSpPr/>
          <p:nvPr/>
        </p:nvSpPr>
        <p:spPr>
          <a:xfrm>
            <a:off x="8503920" y="2743200"/>
            <a:ext cx="3200400" cy="1645920"/>
          </a:xfrm>
          <a:prstGeom prst="rect">
            <a:avLst/>
          </a:prstGeom>
          <a:noFill/>
          <a:ln/>
        </p:spPr>
        <p:txBody>
          <a:bodyPr wrap="square" lIns="0" tIns="0" rIns="0" bIns="0" rtlCol="0" anchor="t"/>
          <a:lstStyle/>
          <a:p>
            <a:pPr indent="0" marL="0">
              <a:lnSpc>
                <a:spcPts val="1800"/>
              </a:lnSpc>
              <a:buNone/>
            </a:pPr>
            <a:r>
              <a:rPr lang="en-US" sz="1150" dirty="0">
                <a:solidFill>
                  <a:srgbClr val="2E8BA8"/>
                </a:solidFill>
                <a:latin typeface="Calibri" pitchFamily="34" charset="0"/>
                <a:ea typeface="Calibri" pitchFamily="34" charset="-122"/>
                <a:cs typeface="Calibri" pitchFamily="34" charset="-120"/>
              </a:rPr>
              <a:t>Strongest lag per basin. The OPPOSITE signs inside and outside Hotham Inlet are the interesting part — consistent with flushing a turbid inlet while exporting plume water to the sound.</a:t>
            </a:r>
            <a:endParaRPr lang="en-US" sz="1150" dirty="0"/>
          </a:p>
        </p:txBody>
      </p:sp>
      <p:sp>
        <p:nvSpPr>
          <p:cNvPr id="14" name="Text 10"/>
          <p:cNvSpPr/>
          <p:nvPr/>
        </p:nvSpPr>
        <p:spPr>
          <a:xfrm>
            <a:off x="8503920" y="4480560"/>
            <a:ext cx="3200400" cy="1371600"/>
          </a:xfrm>
          <a:prstGeom prst="rect">
            <a:avLst/>
          </a:prstGeom>
          <a:noFill/>
          <a:ln/>
        </p:spPr>
        <p:txBody>
          <a:bodyPr wrap="square" lIns="0" tIns="0" rIns="0" bIns="0" rtlCol="0" anchor="t"/>
          <a:lstStyle/>
          <a:p>
            <a:pPr indent="0" marL="0">
              <a:lnSpc>
                <a:spcPts val="1800"/>
              </a:lnSpc>
              <a:buNone/>
            </a:pPr>
            <a:r>
              <a:rPr lang="en-US" sz="1100" dirty="0">
                <a:solidFill>
                  <a:srgbClr val="E8A33D"/>
                </a:solidFill>
                <a:latin typeface="Calibri" pitchFamily="34" charset="0"/>
                <a:ea typeface="Calibri" pitchFamily="34" charset="-122"/>
                <a:cs typeface="Calibri" pitchFamily="34" charset="-120"/>
              </a:rPr>
              <a:t>Power, not significance thresholds, was the whole story: the same test on 4 summers versus 15 years gives 0 and 12 survivors.</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OCEAN</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14 — optics or productivity?</a:t>
            </a:r>
            <a:endParaRPr lang="en-US" sz="2700" dirty="0"/>
          </a:p>
        </p:txBody>
      </p:sp>
      <p:sp>
        <p:nvSpPr>
          <p:cNvPr id="4" name="Text 2"/>
          <p:cNvSpPr/>
          <p:nvPr/>
        </p:nvSpPr>
        <p:spPr>
          <a:xfrm>
            <a:off x="502920" y="1280160"/>
            <a:ext cx="11155680" cy="548640"/>
          </a:xfrm>
          <a:prstGeom prst="rect">
            <a:avLst/>
          </a:prstGeom>
          <a:noFill/>
          <a:ln/>
        </p:spPr>
        <p:txBody>
          <a:bodyPr wrap="square" lIns="0" tIns="0" rIns="0" bIns="0" rtlCol="0" anchor="t"/>
          <a:lstStyle/>
          <a:p>
            <a:pPr indent="0" marL="0">
              <a:lnSpc>
                <a:spcPts val="1800"/>
              </a:lnSpc>
              <a:buNone/>
            </a:pPr>
            <a:r>
              <a:rPr lang="en-US" sz="1300" dirty="0">
                <a:solidFill>
                  <a:srgbClr val="20303C"/>
                </a:solidFill>
                <a:latin typeface="Calibri" pitchFamily="34" charset="0"/>
                <a:ea typeface="Calibri" pitchFamily="34" charset="-122"/>
                <a:cs typeface="Calibri" pitchFamily="34" charset="-120"/>
              </a:rPr>
              <a:t>Partial correlation of log discharge against log chlorophyll, controlling for nLw(671). If the correlation collapses, it was the plume. If it survives, something else is there. 12 tests, Bonferroni alpha = 0.00417.</a:t>
            </a:r>
            <a:endParaRPr lang="en-US" sz="1300" dirty="0"/>
          </a:p>
        </p:txBody>
      </p:sp>
      <p:sp>
        <p:nvSpPr>
          <p:cNvPr id="5" name="Shape 3"/>
          <p:cNvSpPr/>
          <p:nvPr/>
        </p:nvSpPr>
        <p:spPr>
          <a:xfrm>
            <a:off x="502920" y="1965960"/>
            <a:ext cx="3611880" cy="2377440"/>
          </a:xfrm>
          <a:prstGeom prst="roundRect">
            <a:avLst>
              <a:gd name="adj" fmla="val 2308"/>
            </a:avLst>
          </a:prstGeom>
          <a:solidFill>
            <a:srgbClr val="F2F6F8"/>
          </a:solidFill>
          <a:ln w="10795">
            <a:solidFill>
              <a:srgbClr val="2E8BA8"/>
            </a:solidFill>
            <a:prstDash val="solid"/>
          </a:ln>
        </p:spPr>
      </p:sp>
      <p:sp>
        <p:nvSpPr>
          <p:cNvPr id="6" name="Text 4"/>
          <p:cNvSpPr/>
          <p:nvPr/>
        </p:nvSpPr>
        <p:spPr>
          <a:xfrm>
            <a:off x="822960" y="2167128"/>
            <a:ext cx="2971800" cy="347472"/>
          </a:xfrm>
          <a:prstGeom prst="rect">
            <a:avLst/>
          </a:prstGeom>
          <a:noFill/>
          <a:ln/>
        </p:spPr>
        <p:txBody>
          <a:bodyPr wrap="square" lIns="0" tIns="0" rIns="0" bIns="0" rtlCol="0" anchor="ctr"/>
          <a:lstStyle/>
          <a:p>
            <a:pPr indent="0" marL="0">
              <a:buNone/>
            </a:pPr>
            <a:r>
              <a:rPr lang="en-US" sz="1500" b="1" dirty="0">
                <a:solidFill>
                  <a:srgbClr val="0B2F4A"/>
                </a:solidFill>
                <a:latin typeface="Georgia" pitchFamily="34" charset="0"/>
                <a:ea typeface="Georgia" pitchFamily="34" charset="-122"/>
                <a:cs typeface="Georgia" pitchFamily="34" charset="-120"/>
              </a:rPr>
              <a:t>Outer sound → optics</a:t>
            </a:r>
            <a:endParaRPr lang="en-US" sz="1500" dirty="0"/>
          </a:p>
        </p:txBody>
      </p:sp>
      <p:sp>
        <p:nvSpPr>
          <p:cNvPr id="7" name="Text 5"/>
          <p:cNvSpPr/>
          <p:nvPr/>
        </p:nvSpPr>
        <p:spPr>
          <a:xfrm>
            <a:off x="822960" y="2423160"/>
            <a:ext cx="3017520" cy="1737360"/>
          </a:xfrm>
          <a:prstGeom prst="rect">
            <a:avLst/>
          </a:prstGeom>
          <a:noFill/>
          <a:ln/>
        </p:spPr>
        <p:txBody>
          <a:bodyPr wrap="square" lIns="0" tIns="0" rIns="0" bIns="0" rtlCol="0" anchor="t"/>
          <a:lstStyle/>
          <a:p>
            <a:pPr indent="0" marL="0">
              <a:lnSpc>
                <a:spcPts val="1800"/>
              </a:lnSpc>
              <a:buNone/>
            </a:pPr>
            <a:r>
              <a:rPr lang="en-US" sz="1100" dirty="0">
                <a:solidFill>
                  <a:srgbClr val="20303C"/>
                </a:solidFill>
                <a:latin typeface="Calibri" pitchFamily="34" charset="0"/>
                <a:ea typeface="Calibri" pitchFamily="34" charset="-122"/>
                <a:cs typeface="Calibri" pitchFamily="34" charset="-120"/>
              </a:rPr>
              <a:t>Chlorophyll tracks sediment at r = 0.62, and the raw +0.24 discharge correlation collapses to +0.11 (p = 0.10). Nothing survives. That one was the plume.</a:t>
            </a:r>
            <a:endParaRPr lang="en-US" sz="1100" dirty="0"/>
          </a:p>
        </p:txBody>
      </p:sp>
      <p:sp>
        <p:nvSpPr>
          <p:cNvPr id="8" name="Shape 6"/>
          <p:cNvSpPr/>
          <p:nvPr/>
        </p:nvSpPr>
        <p:spPr>
          <a:xfrm>
            <a:off x="4343400" y="1965960"/>
            <a:ext cx="3611880" cy="2377440"/>
          </a:xfrm>
          <a:prstGeom prst="roundRect">
            <a:avLst>
              <a:gd name="adj" fmla="val 2308"/>
            </a:avLst>
          </a:prstGeom>
          <a:solidFill>
            <a:srgbClr val="EAF4EE"/>
          </a:solidFill>
          <a:ln w="10795">
            <a:solidFill>
              <a:srgbClr val="1B7A4B"/>
            </a:solidFill>
            <a:prstDash val="solid"/>
          </a:ln>
        </p:spPr>
      </p:sp>
      <p:sp>
        <p:nvSpPr>
          <p:cNvPr id="9" name="Text 7"/>
          <p:cNvSpPr/>
          <p:nvPr/>
        </p:nvSpPr>
        <p:spPr>
          <a:xfrm>
            <a:off x="4663440" y="2167128"/>
            <a:ext cx="2971800" cy="347472"/>
          </a:xfrm>
          <a:prstGeom prst="rect">
            <a:avLst/>
          </a:prstGeom>
          <a:noFill/>
          <a:ln/>
        </p:spPr>
        <p:txBody>
          <a:bodyPr wrap="square" lIns="0" tIns="0" rIns="0" bIns="0" rtlCol="0" anchor="ctr"/>
          <a:lstStyle/>
          <a:p>
            <a:pPr indent="0" marL="0">
              <a:buNone/>
            </a:pPr>
            <a:r>
              <a:rPr lang="en-US" sz="1500" b="1" dirty="0">
                <a:solidFill>
                  <a:srgbClr val="1B7A4B"/>
                </a:solidFill>
                <a:latin typeface="Georgia" pitchFamily="34" charset="0"/>
                <a:ea typeface="Georgia" pitchFamily="34" charset="-122"/>
                <a:cs typeface="Georgia" pitchFamily="34" charset="-120"/>
              </a:rPr>
              <a:t>Inner sound → survives</a:t>
            </a:r>
            <a:endParaRPr lang="en-US" sz="1500" dirty="0"/>
          </a:p>
        </p:txBody>
      </p:sp>
      <p:sp>
        <p:nvSpPr>
          <p:cNvPr id="10" name="Text 8"/>
          <p:cNvSpPr/>
          <p:nvPr/>
        </p:nvSpPr>
        <p:spPr>
          <a:xfrm>
            <a:off x="4663440" y="2423160"/>
            <a:ext cx="3017520" cy="1737360"/>
          </a:xfrm>
          <a:prstGeom prst="rect">
            <a:avLst/>
          </a:prstGeom>
          <a:noFill/>
          <a:ln/>
        </p:spPr>
        <p:txBody>
          <a:bodyPr wrap="square" lIns="0" tIns="0" rIns="0" bIns="0" rtlCol="0" anchor="t"/>
          <a:lstStyle/>
          <a:p>
            <a:pPr indent="0" marL="0">
              <a:lnSpc>
                <a:spcPts val="1800"/>
              </a:lnSpc>
              <a:buNone/>
            </a:pPr>
            <a:r>
              <a:rPr lang="en-US" sz="1100" dirty="0">
                <a:solidFill>
                  <a:srgbClr val="20303C"/>
                </a:solidFill>
                <a:latin typeface="Calibri" pitchFamily="34" charset="0"/>
                <a:ea typeface="Calibri" pitchFamily="34" charset="-122"/>
                <a:cs typeface="Calibri" pitchFamily="34" charset="-120"/>
              </a:rPr>
              <a:t>Partial r rises with lag: 0.18, 0.24, 0.28, 0.26 at 0-3 weeks, while the sediment coupling decays 0.43 → −0.02. The curves cross. Three of four lags survive.</a:t>
            </a:r>
            <a:endParaRPr lang="en-US" sz="1100" dirty="0"/>
          </a:p>
        </p:txBody>
      </p:sp>
      <p:sp>
        <p:nvSpPr>
          <p:cNvPr id="11" name="Shape 9"/>
          <p:cNvSpPr/>
          <p:nvPr/>
        </p:nvSpPr>
        <p:spPr>
          <a:xfrm>
            <a:off x="8138160" y="1965960"/>
            <a:ext cx="3566160" cy="2377440"/>
          </a:xfrm>
          <a:prstGeom prst="roundRect">
            <a:avLst>
              <a:gd name="adj" fmla="val 2308"/>
            </a:avLst>
          </a:prstGeom>
          <a:solidFill>
            <a:srgbClr val="FBF3E8"/>
          </a:solidFill>
          <a:ln w="10795">
            <a:solidFill>
              <a:srgbClr val="E8A33D"/>
            </a:solidFill>
            <a:prstDash val="solid"/>
          </a:ln>
        </p:spPr>
      </p:sp>
      <p:sp>
        <p:nvSpPr>
          <p:cNvPr id="12" name="Text 10"/>
          <p:cNvSpPr/>
          <p:nvPr/>
        </p:nvSpPr>
        <p:spPr>
          <a:xfrm>
            <a:off x="8458200" y="2167128"/>
            <a:ext cx="2926080" cy="347472"/>
          </a:xfrm>
          <a:prstGeom prst="rect">
            <a:avLst/>
          </a:prstGeom>
          <a:noFill/>
          <a:ln/>
        </p:spPr>
        <p:txBody>
          <a:bodyPr wrap="square" lIns="0" tIns="0" rIns="0" bIns="0" rtlCol="0" anchor="ctr"/>
          <a:lstStyle/>
          <a:p>
            <a:pPr indent="0" marL="0">
              <a:buNone/>
            </a:pPr>
            <a:r>
              <a:rPr lang="en-US" sz="1500" b="1" dirty="0">
                <a:solidFill>
                  <a:srgbClr val="0B2F4A"/>
                </a:solidFill>
                <a:latin typeface="Georgia" pitchFamily="34" charset="0"/>
                <a:ea typeface="Georgia" pitchFamily="34" charset="-122"/>
                <a:cs typeface="Georgia" pitchFamily="34" charset="-120"/>
              </a:rPr>
              <a:t>Hotham Inlet → not sediment</a:t>
            </a:r>
            <a:endParaRPr lang="en-US" sz="1500" dirty="0"/>
          </a:p>
        </p:txBody>
      </p:sp>
      <p:sp>
        <p:nvSpPr>
          <p:cNvPr id="13" name="Text 11"/>
          <p:cNvSpPr/>
          <p:nvPr/>
        </p:nvSpPr>
        <p:spPr>
          <a:xfrm>
            <a:off x="8458200" y="2423160"/>
            <a:ext cx="2926080" cy="1737360"/>
          </a:xfrm>
          <a:prstGeom prst="rect">
            <a:avLst/>
          </a:prstGeom>
          <a:noFill/>
          <a:ln/>
        </p:spPr>
        <p:txBody>
          <a:bodyPr wrap="square" lIns="0" tIns="0" rIns="0" bIns="0" rtlCol="0" anchor="t"/>
          <a:lstStyle/>
          <a:p>
            <a:pPr indent="0" marL="0">
              <a:lnSpc>
                <a:spcPts val="1800"/>
              </a:lnSpc>
              <a:buNone/>
            </a:pPr>
            <a:r>
              <a:rPr lang="en-US" sz="1100" dirty="0">
                <a:solidFill>
                  <a:srgbClr val="20303C"/>
                </a:solidFill>
                <a:latin typeface="Calibri" pitchFamily="34" charset="0"/>
                <a:ea typeface="Calibri" pitchFamily="34" charset="-122"/>
                <a:cs typeface="Calibri" pitchFamily="34" charset="-120"/>
              </a:rPr>
              <a:t>r(Q, nLw) = −0.03, so the plume is not involved, and the partial correlation (−0.28) matches the raw one. High discharge, lower chlorophyll: dilution of a standing stock.</a:t>
            </a:r>
            <a:endParaRPr lang="en-US" sz="1100" dirty="0"/>
          </a:p>
        </p:txBody>
      </p:sp>
      <p:sp>
        <p:nvSpPr>
          <p:cNvPr id="14" name="Text 12"/>
          <p:cNvSpPr/>
          <p:nvPr/>
        </p:nvSpPr>
        <p:spPr>
          <a:xfrm>
            <a:off x="502920" y="4572000"/>
            <a:ext cx="11155680" cy="731520"/>
          </a:xfrm>
          <a:prstGeom prst="rect">
            <a:avLst/>
          </a:prstGeom>
          <a:noFill/>
          <a:ln/>
        </p:spPr>
        <p:txBody>
          <a:bodyPr wrap="square" lIns="0" tIns="0" rIns="0" bIns="0" rtlCol="0" anchor="t"/>
          <a:lstStyle/>
          <a:p>
            <a:pPr indent="0" marL="0">
              <a:lnSpc>
                <a:spcPts val="1800"/>
              </a:lnSpc>
              <a:buNone/>
            </a:pPr>
            <a:r>
              <a:rPr lang="en-US" sz="1300" dirty="0">
                <a:solidFill>
                  <a:srgbClr val="2E8BA8"/>
                </a:solidFill>
                <a:latin typeface="Calibri" pitchFamily="34" charset="0"/>
                <a:ea typeface="Calibri" pitchFamily="34" charset="-122"/>
                <a:cs typeface="Calibri" pitchFamily="34" charset="-120"/>
              </a:rPr>
              <a:t>The lag structure is the argument. A signal that is weakest when the plume dominates and peaks two weeks later, after the plume tracer has decorrelated, is what growth looks like rather than what an optical artefact looks like.</a:t>
            </a:r>
            <a:endParaRPr lang="en-US" sz="1300" dirty="0"/>
          </a:p>
        </p:txBody>
      </p:sp>
      <p:sp>
        <p:nvSpPr>
          <p:cNvPr id="15" name="Text 13"/>
          <p:cNvSpPr/>
          <p:nvPr/>
        </p:nvSpPr>
        <p:spPr>
          <a:xfrm>
            <a:off x="502920" y="5394960"/>
            <a:ext cx="11155680" cy="822960"/>
          </a:xfrm>
          <a:prstGeom prst="rect">
            <a:avLst/>
          </a:prstGeom>
          <a:noFill/>
          <a:ln/>
        </p:spPr>
        <p:txBody>
          <a:bodyPr wrap="square" lIns="0" tIns="0" rIns="0" bIns="0" rtlCol="0" anchor="t"/>
          <a:lstStyle/>
          <a:p>
            <a:pPr indent="0" marL="0">
              <a:lnSpc>
                <a:spcPts val="1800"/>
              </a:lnSpc>
              <a:buNone/>
            </a:pPr>
            <a:r>
              <a:rPr lang="en-US" sz="1200" dirty="0">
                <a:solidFill>
                  <a:srgbClr val="E8A33D"/>
                </a:solidFill>
                <a:latin typeface="Calibri" pitchFamily="34" charset="0"/>
                <a:ea typeface="Calibri" pitchFamily="34" charset="-122"/>
                <a:cs typeface="Calibri" pitchFamily="34" charset="-120"/>
              </a:rPr>
              <a:t>Residual limitation at this stage: nLw(671) controls for SEDIMENT, not CDOM. That gap is closed on the next slide using nLw(410), and the result holds.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OCEAN</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14b — and controlling for CDOM as well</a:t>
            </a:r>
            <a:endParaRPr lang="en-US" sz="2700" dirty="0"/>
          </a:p>
        </p:txBody>
      </p:sp>
      <p:sp>
        <p:nvSpPr>
          <p:cNvPr id="4" name="Shape 2"/>
          <p:cNvSpPr/>
          <p:nvPr/>
        </p:nvSpPr>
        <p:spPr>
          <a:xfrm>
            <a:off x="438912" y="1216152"/>
            <a:ext cx="799185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23_cdom_control.png">    </p:cNvPr>
          <p:cNvPicPr>
            <a:picLocks noChangeAspect="1"/>
          </p:cNvPicPr>
          <p:nvPr/>
        </p:nvPicPr>
        <p:blipFill>
          <a:blip r:embed="rId1"/>
          <a:srcRect l="0" r="0" t="0" b="0"/>
          <a:stretch/>
        </p:blipFill>
        <p:spPr>
          <a:xfrm>
            <a:off x="502920" y="1280160"/>
            <a:ext cx="786384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nLw(410) is the most CDOM-sensitive VIIRS band on the identical grid and processing chain — CDOM absorbs strongly in the blue. Controlling for nLw(671) AND nLw(410) removes the sediment and dissolved-organic pathways together.</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This was the stated weak point of the previous slide. The inner-sound signal does not merely survive it — adding the CDOM control slightly RAISES the partial correlation rather than eroding it.</a:t>
            </a:r>
            <a:endParaRPr lang="en-US" sz="10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8503920" y="1371600"/>
          <a:ext cx="3200400" cy="914400"/>
        </p:xfrm>
        <a:graphic>
          <a:graphicData uri="http://schemas.openxmlformats.org/drawingml/2006/table">
            <a:tbl>
              <a:tblPr/>
              <a:tblGrid>
                <a:gridCol w="2194560"/>
                <a:gridCol w="100584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Inner sound, lag 2</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r>
              <a:tr h="365760">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raw</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+0.324</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65760">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 sediment</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+0.284</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65760">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 sediment − CDOM</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b="1" dirty="0">
                          <a:solidFill>
                            <a:srgbClr val="1B7A4B"/>
                          </a:solidFill>
                          <a:latin typeface="Calibri" pitchFamily="34" charset="0"/>
                          <a:ea typeface="Calibri" pitchFamily="34" charset="-122"/>
                          <a:cs typeface="Calibri" pitchFamily="34" charset="-120"/>
                        </a:rPr>
                        <a:t>+0.290</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13" name="Text 9"/>
          <p:cNvSpPr/>
          <p:nvPr/>
        </p:nvSpPr>
        <p:spPr>
          <a:xfrm>
            <a:off x="8503920" y="3017520"/>
            <a:ext cx="3200400" cy="603504"/>
          </a:xfrm>
          <a:prstGeom prst="rect">
            <a:avLst/>
          </a:prstGeom>
          <a:noFill/>
          <a:ln/>
        </p:spPr>
        <p:txBody>
          <a:bodyPr wrap="square" lIns="0" tIns="0" rIns="0" bIns="0" rtlCol="0" anchor="ctr"/>
          <a:lstStyle/>
          <a:p>
            <a:pPr indent="0" marL="0">
              <a:buNone/>
            </a:pPr>
            <a:r>
              <a:rPr lang="en-US" sz="2900" b="1" dirty="0">
                <a:solidFill>
                  <a:srgbClr val="1B7A4B"/>
                </a:solidFill>
                <a:latin typeface="Georgia" pitchFamily="34" charset="0"/>
                <a:ea typeface="Georgia" pitchFamily="34" charset="-122"/>
                <a:cs typeface="Georgia" pitchFamily="34" charset="-120"/>
              </a:rPr>
              <a:t>5 of 12</a:t>
            </a:r>
            <a:endParaRPr lang="en-US" sz="2900" dirty="0"/>
          </a:p>
        </p:txBody>
      </p:sp>
      <p:sp>
        <p:nvSpPr>
          <p:cNvPr id="14" name="Text 10"/>
          <p:cNvSpPr/>
          <p:nvPr/>
        </p:nvSpPr>
        <p:spPr>
          <a:xfrm>
            <a:off x="8503920" y="3602736"/>
            <a:ext cx="320040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survive both controls</a:t>
            </a:r>
            <a:endParaRPr lang="en-US" sz="1050" dirty="0"/>
          </a:p>
        </p:txBody>
      </p:sp>
      <p:sp>
        <p:nvSpPr>
          <p:cNvPr id="15" name="Text 11"/>
          <p:cNvSpPr/>
          <p:nvPr/>
        </p:nvSpPr>
        <p:spPr>
          <a:xfrm>
            <a:off x="8503920" y="4206240"/>
            <a:ext cx="3200400" cy="1280160"/>
          </a:xfrm>
          <a:prstGeom prst="rect">
            <a:avLst/>
          </a:prstGeom>
          <a:noFill/>
          <a:ln/>
        </p:spPr>
        <p:txBody>
          <a:bodyPr wrap="square" lIns="0" tIns="0" rIns="0" bIns="0" rtlCol="0" anchor="t"/>
          <a:lstStyle/>
          <a:p>
            <a:pPr indent="0" marL="0">
              <a:lnSpc>
                <a:spcPts val="1800"/>
              </a:lnSpc>
              <a:buNone/>
            </a:pPr>
            <a:r>
              <a:rPr lang="en-US" sz="1150" dirty="0">
                <a:solidFill>
                  <a:srgbClr val="20303C"/>
                </a:solidFill>
                <a:latin typeface="Calibri" pitchFamily="34" charset="0"/>
                <a:ea typeface="Calibri" pitchFamily="34" charset="-122"/>
                <a:cs typeface="Calibri" pitchFamily="34" charset="-120"/>
              </a:rPr>
              <a:t>Inner sound at lags 1, 2 and 3; Hotham Inlet at lags 0 and 1. The outer sound still dies, as it should — that one was always the plume.</a:t>
            </a:r>
            <a:endParaRPr lang="en-US" sz="1150" dirty="0"/>
          </a:p>
        </p:txBody>
      </p:sp>
      <p:sp>
        <p:nvSpPr>
          <p:cNvPr id="16" name="Text 12"/>
          <p:cNvSpPr/>
          <p:nvPr/>
        </p:nvSpPr>
        <p:spPr>
          <a:xfrm>
            <a:off x="8503920" y="5486400"/>
            <a:ext cx="3200400" cy="1280160"/>
          </a:xfrm>
          <a:prstGeom prst="rect">
            <a:avLst/>
          </a:prstGeom>
          <a:noFill/>
          <a:ln/>
        </p:spPr>
        <p:txBody>
          <a:bodyPr wrap="square" lIns="0" tIns="0" rIns="0" bIns="0" rtlCol="0" anchor="t"/>
          <a:lstStyle/>
          <a:p>
            <a:pPr indent="0" marL="0">
              <a:lnSpc>
                <a:spcPts val="1800"/>
              </a:lnSpc>
              <a:buNone/>
            </a:pPr>
            <a:r>
              <a:rPr lang="en-US" sz="1100" dirty="0">
                <a:solidFill>
                  <a:srgbClr val="2E8BA8"/>
                </a:solidFill>
                <a:latin typeface="Calibri" pitchFamily="34" charset="0"/>
                <a:ea typeface="Calibri" pitchFamily="34" charset="-122"/>
                <a:cs typeface="Calibri" pitchFamily="34" charset="-120"/>
              </a:rPr>
              <a:t>So the remaining inner-sound signal is neither suspended sediment nor coloured dissolved organic matter. That is as far as ocean colour alone can take it: confirming phytoplankton needs cell counts.</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OCEAN</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15 — who drives what</a:t>
            </a:r>
            <a:endParaRPr lang="en-US" sz="2700" dirty="0"/>
          </a:p>
        </p:txBody>
      </p:sp>
      <p:sp>
        <p:nvSpPr>
          <p:cNvPr id="4" name="Shape 2"/>
          <p:cNvSpPr/>
          <p:nvPr/>
        </p:nvSpPr>
        <p:spPr>
          <a:xfrm>
            <a:off x="438912" y="1216152"/>
            <a:ext cx="7991856" cy="4059936"/>
          </a:xfrm>
          <a:prstGeom prst="roundRect">
            <a:avLst>
              <a:gd name="adj" fmla="val 1351"/>
            </a:avLst>
          </a:prstGeom>
          <a:solidFill>
            <a:srgbClr val="F2F6F8"/>
          </a:solidFill>
          <a:ln w="9525">
            <a:solidFill>
              <a:srgbClr val="2E8BA8"/>
            </a:solidFill>
            <a:prstDash val="solid"/>
          </a:ln>
        </p:spPr>
      </p:sp>
      <p:pic>
        <p:nvPicPr>
          <p:cNvPr id="5" name="Image 0" descr="/media/tmittal/extradrive1/swot_kotzebue/figs/fig15_attribution.png">    </p:cNvPr>
          <p:cNvPicPr>
            <a:picLocks noChangeAspect="1"/>
          </p:cNvPicPr>
          <p:nvPr/>
        </p:nvPicPr>
        <p:blipFill>
          <a:blip r:embed="rId1"/>
          <a:srcRect l="0" r="0" t="0" b="0"/>
          <a:stretch/>
        </p:blipFill>
        <p:spPr>
          <a:xfrm>
            <a:off x="502920" y="1280160"/>
            <a:ext cx="7863840" cy="3931920"/>
          </a:xfrm>
          <a:prstGeom prst="rect">
            <a:avLst/>
          </a:prstGeom>
        </p:spPr>
      </p:pic>
      <p:sp>
        <p:nvSpPr>
          <p:cNvPr id="6" name="Shape 3"/>
          <p:cNvSpPr/>
          <p:nvPr/>
        </p:nvSpPr>
        <p:spPr>
          <a:xfrm>
            <a:off x="502920" y="534924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46811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71500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Every river forcing against every receiving basin at 1 and 2 week lags, raw and sediment-controlled, plus the sample size available to each forcing.</a:t>
            </a:r>
            <a:endParaRPr lang="en-US" sz="1050" dirty="0"/>
          </a:p>
        </p:txBody>
      </p:sp>
      <p:sp>
        <p:nvSpPr>
          <p:cNvPr id="9" name="Shape 6"/>
          <p:cNvSpPr/>
          <p:nvPr/>
        </p:nvSpPr>
        <p:spPr>
          <a:xfrm>
            <a:off x="6217920" y="534924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46811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71500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One of 70 tests survives Bonferroni: Kobuk gauged discharge to inner-sound chlorophyll at a 2-week lag. No SWOT-based forcing survives, and that is power (n = 28-39) rather than absence.</a:t>
            </a:r>
            <a:endParaRPr lang="en-US" sz="1050" dirty="0"/>
          </a:p>
        </p:txBody>
      </p:sp>
      <p:sp>
        <p:nvSpPr>
          <p:cNvPr id="12" name="Text 9"/>
          <p:cNvSpPr/>
          <p:nvPr/>
        </p:nvSpPr>
        <p:spPr>
          <a:xfrm>
            <a:off x="8503920" y="1371600"/>
            <a:ext cx="3200400" cy="2011680"/>
          </a:xfrm>
          <a:prstGeom prst="rect">
            <a:avLst/>
          </a:prstGeom>
          <a:noFill/>
          <a:ln/>
        </p:spPr>
        <p:txBody>
          <a:bodyPr wrap="square" lIns="0" tIns="0" rIns="0" bIns="0" rtlCol="0" anchor="t"/>
          <a:lstStyle/>
          <a:p>
            <a:pPr indent="0" marL="0">
              <a:lnSpc>
                <a:spcPts val="1800"/>
              </a:lnSpc>
              <a:buNone/>
            </a:pPr>
            <a:r>
              <a:rPr lang="en-US" sz="1150" dirty="0">
                <a:solidFill>
                  <a:srgbClr val="20303C"/>
                </a:solidFill>
                <a:latin typeface="Calibri" pitchFamily="34" charset="0"/>
                <a:ea typeface="Calibri" pitchFamily="34" charset="-122"/>
                <a:cs typeface="Calibri" pitchFamily="34" charset="-120"/>
              </a:rPr>
              <a:t>A cautionary case is deliberately left in: Squirrel → outer sound shows raw r = 0.65 at n = 29 with a significance star, collapsing to 0.40 once sediment is controlled. The Squirrel is a Kobuk tributary hundreds of km from that basin.</a:t>
            </a:r>
            <a:endParaRPr lang="en-US" sz="1150" dirty="0"/>
          </a:p>
        </p:txBody>
      </p:sp>
      <p:sp>
        <p:nvSpPr>
          <p:cNvPr id="13" name="Text 10"/>
          <p:cNvSpPr/>
          <p:nvPr/>
        </p:nvSpPr>
        <p:spPr>
          <a:xfrm>
            <a:off x="8503920" y="3566160"/>
            <a:ext cx="3200400" cy="603504"/>
          </a:xfrm>
          <a:prstGeom prst="rect">
            <a:avLst/>
          </a:prstGeom>
          <a:noFill/>
          <a:ln/>
        </p:spPr>
        <p:txBody>
          <a:bodyPr wrap="square" lIns="0" tIns="0" rIns="0" bIns="0" rtlCol="0" anchor="ctr"/>
          <a:lstStyle/>
          <a:p>
            <a:pPr indent="0" marL="0">
              <a:buNone/>
            </a:pPr>
            <a:r>
              <a:rPr lang="en-US" sz="2900" b="1" dirty="0">
                <a:solidFill>
                  <a:srgbClr val="1B7A4B"/>
                </a:solidFill>
                <a:latin typeface="Georgia" pitchFamily="34" charset="0"/>
                <a:ea typeface="Georgia" pitchFamily="34" charset="-122"/>
                <a:cs typeface="Georgia" pitchFamily="34" charset="-120"/>
              </a:rPr>
              <a:t>1 of 70</a:t>
            </a:r>
            <a:endParaRPr lang="en-US" sz="2900" dirty="0"/>
          </a:p>
        </p:txBody>
      </p:sp>
      <p:sp>
        <p:nvSpPr>
          <p:cNvPr id="14" name="Text 11"/>
          <p:cNvSpPr/>
          <p:nvPr/>
        </p:nvSpPr>
        <p:spPr>
          <a:xfrm>
            <a:off x="8503920" y="4151376"/>
            <a:ext cx="3200400" cy="548640"/>
          </a:xfrm>
          <a:prstGeom prst="rect">
            <a:avLst/>
          </a:prstGeom>
          <a:noFill/>
          <a:ln/>
        </p:spPr>
        <p:txBody>
          <a:bodyPr wrap="square" lIns="0" tIns="0" rIns="0" bIns="0" rtlCol="0" anchor="t"/>
          <a:lstStyle/>
          <a:p>
            <a:pPr indent="0" marL="0">
              <a:buNone/>
            </a:pPr>
            <a:r>
              <a:rPr lang="en-US" sz="1050" dirty="0">
                <a:solidFill>
                  <a:srgbClr val="5A7284"/>
                </a:solidFill>
                <a:latin typeface="Calibri" pitchFamily="34" charset="0"/>
                <a:ea typeface="Calibri" pitchFamily="34" charset="-122"/>
                <a:cs typeface="Calibri" pitchFamily="34" charset="-120"/>
              </a:rPr>
              <a:t>survive correction</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SWOT-ONLY</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Step 16 — can SWOT stand on its own?</a:t>
            </a:r>
            <a:endParaRPr lang="en-US" sz="2700" dirty="0"/>
          </a:p>
        </p:txBody>
      </p:sp>
      <p:sp>
        <p:nvSpPr>
          <p:cNvPr id="4" name="Shape 2"/>
          <p:cNvSpPr/>
          <p:nvPr/>
        </p:nvSpPr>
        <p:spPr>
          <a:xfrm>
            <a:off x="438912" y="1216152"/>
            <a:ext cx="7991856" cy="4334256"/>
          </a:xfrm>
          <a:prstGeom prst="roundRect">
            <a:avLst>
              <a:gd name="adj" fmla="val 1266"/>
            </a:avLst>
          </a:prstGeom>
          <a:solidFill>
            <a:srgbClr val="F2F6F8"/>
          </a:solidFill>
          <a:ln w="9525">
            <a:solidFill>
              <a:srgbClr val="2E8BA8"/>
            </a:solidFill>
            <a:prstDash val="solid"/>
          </a:ln>
        </p:spPr>
      </p:sp>
      <p:pic>
        <p:nvPicPr>
          <p:cNvPr id="5" name="Image 0" descr="/media/tmittal/extradrive1/swot_kotzebue/figs/fig16_swot_only.png">    </p:cNvPr>
          <p:cNvPicPr>
            <a:picLocks noChangeAspect="1"/>
          </p:cNvPicPr>
          <p:nvPr/>
        </p:nvPicPr>
        <p:blipFill>
          <a:blip r:embed="rId1"/>
          <a:srcRect l="0" r="0" t="0" b="0"/>
          <a:stretch/>
        </p:blipFill>
        <p:spPr>
          <a:xfrm>
            <a:off x="502920" y="1280160"/>
            <a:ext cx="7863840" cy="4206240"/>
          </a:xfrm>
          <a:prstGeom prst="rect">
            <a:avLst/>
          </a:prstGeom>
        </p:spPr>
      </p:pic>
      <p:sp>
        <p:nvSpPr>
          <p:cNvPr id="6" name="Shape 3"/>
          <p:cNvSpPr/>
          <p:nvPr/>
        </p:nvSpPr>
        <p:spPr>
          <a:xfrm>
            <a:off x="502920" y="5623560"/>
            <a:ext cx="5486400" cy="1143000"/>
          </a:xfrm>
          <a:prstGeom prst="roundRect">
            <a:avLst>
              <a:gd name="adj" fmla="val 4000"/>
            </a:avLst>
          </a:prstGeom>
          <a:solidFill>
            <a:srgbClr val="F2F6F8"/>
          </a:solidFill>
          <a:ln w="8890">
            <a:solidFill>
              <a:srgbClr val="2E8BA8"/>
            </a:solidFill>
            <a:prstDash val="solid"/>
          </a:ln>
        </p:spPr>
      </p:sp>
      <p:sp>
        <p:nvSpPr>
          <p:cNvPr id="7" name="Text 4"/>
          <p:cNvSpPr/>
          <p:nvPr/>
        </p:nvSpPr>
        <p:spPr>
          <a:xfrm>
            <a:off x="777240" y="5742432"/>
            <a:ext cx="4937760" cy="219456"/>
          </a:xfrm>
          <a:prstGeom prst="rect">
            <a:avLst/>
          </a:prstGeom>
          <a:noFill/>
          <a:ln/>
        </p:spPr>
        <p:txBody>
          <a:bodyPr wrap="square" lIns="0" tIns="0" rIns="0" bIns="0" rtlCol="0" anchor="ctr"/>
          <a:lstStyle/>
          <a:p>
            <a:pPr indent="0" marL="0">
              <a:buNone/>
            </a:pPr>
            <a:r>
              <a:rPr lang="en-US" sz="900" b="1" spc="120" kern="0" dirty="0">
                <a:solidFill>
                  <a:srgbClr val="2E8BA8"/>
                </a:solidFill>
                <a:latin typeface="Calibri" pitchFamily="34" charset="0"/>
                <a:ea typeface="Calibri" pitchFamily="34" charset="-122"/>
                <a:cs typeface="Calibri" pitchFamily="34" charset="-120"/>
              </a:rPr>
              <a:t>WHAT THIS PLOT IS</a:t>
            </a:r>
            <a:endParaRPr lang="en-US" sz="900" dirty="0"/>
          </a:p>
        </p:txBody>
      </p:sp>
      <p:sp>
        <p:nvSpPr>
          <p:cNvPr id="8" name="Text 5"/>
          <p:cNvSpPr/>
          <p:nvPr/>
        </p:nvSpPr>
        <p:spPr>
          <a:xfrm>
            <a:off x="777240" y="5989320"/>
            <a:ext cx="493776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SoS discharge against the one gauge (shape and magnitude), SWOT-only discharge at every river outlet, SWOT-only seasonality, the spread between discharge algorithms, and SWOT-only forcing against chlorophyll.</a:t>
            </a:r>
            <a:endParaRPr lang="en-US" sz="1050" dirty="0"/>
          </a:p>
        </p:txBody>
      </p:sp>
      <p:sp>
        <p:nvSpPr>
          <p:cNvPr id="9" name="Shape 6"/>
          <p:cNvSpPr/>
          <p:nvPr/>
        </p:nvSpPr>
        <p:spPr>
          <a:xfrm>
            <a:off x="6217920" y="5623560"/>
            <a:ext cx="5440680" cy="1143000"/>
          </a:xfrm>
          <a:prstGeom prst="roundRect">
            <a:avLst>
              <a:gd name="adj" fmla="val 4000"/>
            </a:avLst>
          </a:prstGeom>
          <a:solidFill>
            <a:srgbClr val="EAF4EE"/>
          </a:solidFill>
          <a:ln w="8890">
            <a:solidFill>
              <a:srgbClr val="1B7A4B"/>
            </a:solidFill>
            <a:prstDash val="solid"/>
          </a:ln>
        </p:spPr>
      </p:sp>
      <p:sp>
        <p:nvSpPr>
          <p:cNvPr id="10" name="Text 7"/>
          <p:cNvSpPr/>
          <p:nvPr/>
        </p:nvSpPr>
        <p:spPr>
          <a:xfrm>
            <a:off x="6492240" y="5742432"/>
            <a:ext cx="4892040" cy="219456"/>
          </a:xfrm>
          <a:prstGeom prst="rect">
            <a:avLst/>
          </a:prstGeom>
          <a:noFill/>
          <a:ln/>
        </p:spPr>
        <p:txBody>
          <a:bodyPr wrap="square" lIns="0" tIns="0" rIns="0" bIns="0" rtlCol="0" anchor="ctr"/>
          <a:lstStyle/>
          <a:p>
            <a:pPr indent="0" marL="0">
              <a:buNone/>
            </a:pPr>
            <a:r>
              <a:rPr lang="en-US" sz="900" b="1" spc="120" kern="0" dirty="0">
                <a:solidFill>
                  <a:srgbClr val="1B7A4B"/>
                </a:solidFill>
                <a:latin typeface="Calibri" pitchFamily="34" charset="0"/>
                <a:ea typeface="Calibri" pitchFamily="34" charset="-122"/>
                <a:cs typeface="Calibri" pitchFamily="34" charset="-120"/>
              </a:rPr>
              <a:t>WHAT IT MEANS</a:t>
            </a:r>
            <a:endParaRPr lang="en-US" sz="900" dirty="0"/>
          </a:p>
        </p:txBody>
      </p:sp>
      <p:sp>
        <p:nvSpPr>
          <p:cNvPr id="11" name="Text 8"/>
          <p:cNvSpPr/>
          <p:nvPr/>
        </p:nvSpPr>
        <p:spPr>
          <a:xfrm>
            <a:off x="6492240" y="5989320"/>
            <a:ext cx="4892040" cy="731520"/>
          </a:xfrm>
          <a:prstGeom prst="rect">
            <a:avLst/>
          </a:prstGeom>
          <a:noFill/>
          <a:ln/>
        </p:spPr>
        <p:txBody>
          <a:bodyPr wrap="square" lIns="0" tIns="0" rIns="0" bIns="0" rtlCol="0" anchor="t"/>
          <a:lstStyle/>
          <a:p>
            <a:pPr indent="0" marL="0">
              <a:lnSpc>
                <a:spcPts val="1800"/>
              </a:lnSpc>
              <a:buNone/>
            </a:pPr>
            <a:r>
              <a:rPr lang="en-US" sz="1050" dirty="0">
                <a:solidFill>
                  <a:srgbClr val="20303C"/>
                </a:solidFill>
                <a:latin typeface="Calibri" pitchFamily="34" charset="0"/>
                <a:ea typeface="Calibri" pitchFamily="34" charset="-122"/>
                <a:cs typeface="Calibri" pitchFamily="34" charset="-120"/>
              </a:rPr>
              <a:t>It has to stand alone — the Selawik and Noatak have no gauge. SoS is an excellent SHAPE estimator (r = 0.99 in log space) and a poor MAGNITUDE estimator (2.9x low, NSE = −2.0).</a:t>
            </a:r>
            <a:endParaRPr lang="en-US" sz="1050" dirty="0"/>
          </a:p>
        </p:txBody>
      </p:sp>
      <p:sp>
        <p:nvSpPr>
          <p:cNvPr id="12" name="Text 9"/>
          <p:cNvSpPr/>
          <p:nvPr/>
        </p:nvSpPr>
        <p:spPr>
          <a:xfrm>
            <a:off x="8503920" y="1371600"/>
            <a:ext cx="3200400" cy="1554480"/>
          </a:xfrm>
          <a:prstGeom prst="rect">
            <a:avLst/>
          </a:prstGeom>
          <a:noFill/>
          <a:ln/>
        </p:spPr>
        <p:txBody>
          <a:bodyPr wrap="square" lIns="0" tIns="0" rIns="0" bIns="0" rtlCol="0" anchor="t"/>
          <a:lstStyle/>
          <a:p>
            <a:pPr indent="0" marL="0">
              <a:lnSpc>
                <a:spcPts val="1800"/>
              </a:lnSpc>
              <a:buNone/>
            </a:pPr>
            <a:r>
              <a:rPr lang="en-US" sz="1150" dirty="0">
                <a:solidFill>
                  <a:srgbClr val="1B7A4B"/>
                </a:solidFill>
                <a:latin typeface="Calibri" pitchFamily="34" charset="0"/>
                <a:ea typeface="Calibri" pitchFamily="34" charset="-122"/>
                <a:cs typeface="Calibri" pitchFamily="34" charset="-120"/>
              </a:rPr>
              <a:t>Used as a shape estimator it earns its place: SWOT alone, with no in-situ data anywhere, recovers the phase split — Selawik day 154, Kobuk 236, Noatak 251.</a:t>
            </a:r>
            <a:endParaRPr lang="en-US" sz="1150" dirty="0"/>
          </a:p>
        </p:txBody>
      </p:sp>
      <p:sp>
        <p:nvSpPr>
          <p:cNvPr id="13" name="Text 10"/>
          <p:cNvSpPr/>
          <p:nvPr/>
        </p:nvSpPr>
        <p:spPr>
          <a:xfrm>
            <a:off x="8503920" y="3017520"/>
            <a:ext cx="3200400" cy="1463040"/>
          </a:xfrm>
          <a:prstGeom prst="rect">
            <a:avLst/>
          </a:prstGeom>
          <a:noFill/>
          <a:ln/>
        </p:spPr>
        <p:txBody>
          <a:bodyPr wrap="square" lIns="0" tIns="0" rIns="0" bIns="0" rtlCol="0" anchor="t"/>
          <a:lstStyle/>
          <a:p>
            <a:pPr indent="0" marL="0">
              <a:lnSpc>
                <a:spcPts val="1800"/>
              </a:lnSpc>
              <a:buNone/>
            </a:pPr>
            <a:r>
              <a:rPr lang="en-US" sz="1150" dirty="0">
                <a:solidFill>
                  <a:srgbClr val="B4442E"/>
                </a:solidFill>
                <a:latin typeface="Calibri" pitchFamily="34" charset="0"/>
                <a:ea typeface="Calibri" pitchFamily="34" charset="-122"/>
                <a:cs typeface="Calibri" pitchFamily="34" charset="-120"/>
              </a:rPr>
              <a:t>It fails on attribution: substituting SoS for gauged discharge leaves n = 12, and the correlations change sign against the n = 201 analysis.</a:t>
            </a:r>
            <a:endParaRPr lang="en-US" sz="1150" dirty="0"/>
          </a:p>
        </p:txBody>
      </p:sp>
      <p:sp>
        <p:nvSpPr>
          <p:cNvPr id="14" name="Text 11"/>
          <p:cNvSpPr/>
          <p:nvPr/>
        </p:nvSpPr>
        <p:spPr>
          <a:xfrm>
            <a:off x="8503920" y="4572000"/>
            <a:ext cx="3200400" cy="1645920"/>
          </a:xfrm>
          <a:prstGeom prst="rect">
            <a:avLst/>
          </a:prstGeom>
          <a:noFill/>
          <a:ln/>
        </p:spPr>
        <p:txBody>
          <a:bodyPr wrap="square" lIns="0" tIns="0" rIns="0" bIns="0" rtlCol="0" anchor="t"/>
          <a:lstStyle/>
          <a:p>
            <a:pPr indent="0" marL="0">
              <a:lnSpc>
                <a:spcPts val="1800"/>
              </a:lnSpc>
              <a:buNone/>
            </a:pPr>
            <a:r>
              <a:rPr lang="en-US" sz="1050" dirty="0">
                <a:solidFill>
                  <a:srgbClr val="5A7284"/>
                </a:solidFill>
                <a:latin typeface="Calibri" pitchFamily="34" charset="0"/>
                <a:ea typeface="Calibri" pitchFamily="34" charset="-122"/>
                <a:cs typeface="Calibri" pitchFamily="34" charset="-120"/>
              </a:rPr>
              <a:t>The SoS product carries both a gauge-constrained and an unconstrained branch and Hydrocron does not say which it serves — but a constrained estimate could not be 3x off at a gauged reach, so this is the unconstrained branch. An inversion from global priors, making the bias expected rather than anomalous.</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OPEN QUESTION</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The blooms: two models, neither tested here</a:t>
            </a:r>
            <a:endParaRPr lang="en-US" sz="2700" dirty="0"/>
          </a:p>
        </p:txBody>
      </p:sp>
      <p:sp>
        <p:nvSpPr>
          <p:cNvPr id="4" name="Text 2"/>
          <p:cNvSpPr/>
          <p:nvPr/>
        </p:nvSpPr>
        <p:spPr>
          <a:xfrm>
            <a:off x="502920" y="1280160"/>
            <a:ext cx="11155680" cy="640080"/>
          </a:xfrm>
          <a:prstGeom prst="rect">
            <a:avLst/>
          </a:prstGeom>
          <a:noFill/>
          <a:ln/>
        </p:spPr>
        <p:txBody>
          <a:bodyPr wrap="square" lIns="0" tIns="0" rIns="0" bIns="0" rtlCol="0" anchor="t"/>
          <a:lstStyle/>
          <a:p>
            <a:pPr indent="0" marL="0">
              <a:lnSpc>
                <a:spcPts val="1800"/>
              </a:lnSpc>
              <a:buNone/>
            </a:pPr>
            <a:r>
              <a:rPr lang="en-US" sz="1300" dirty="0">
                <a:solidFill>
                  <a:srgbClr val="20303C"/>
                </a:solidFill>
                <a:latin typeface="Calibri" pitchFamily="34" charset="0"/>
                <a:ea typeface="Calibri" pitchFamily="34" charset="-122"/>
                <a:cs typeface="Calibri" pitchFamily="34" charset="-120"/>
              </a:rPr>
              <a:t>This project measured river hydrology. It contains no HAB cell counts, no toxin data and no Alexandrium observations, and cannot arbitrate between these. They are also not mutually exclusive.</a:t>
            </a:r>
            <a:endParaRPr lang="en-US" sz="1300" dirty="0"/>
          </a:p>
        </p:txBody>
      </p:sp>
      <p:sp>
        <p:nvSpPr>
          <p:cNvPr id="5" name="Shape 3"/>
          <p:cNvSpPr/>
          <p:nvPr/>
        </p:nvSpPr>
        <p:spPr>
          <a:xfrm>
            <a:off x="502920" y="2057400"/>
            <a:ext cx="5486400" cy="3108960"/>
          </a:xfrm>
          <a:prstGeom prst="roundRect">
            <a:avLst>
              <a:gd name="adj" fmla="val 1765"/>
            </a:avLst>
          </a:prstGeom>
          <a:solidFill>
            <a:srgbClr val="F2F6F8"/>
          </a:solidFill>
          <a:ln w="10795">
            <a:solidFill>
              <a:srgbClr val="2E8BA8"/>
            </a:solidFill>
            <a:prstDash val="solid"/>
          </a:ln>
        </p:spPr>
      </p:sp>
      <p:sp>
        <p:nvSpPr>
          <p:cNvPr id="6" name="Text 4"/>
          <p:cNvSpPr/>
          <p:nvPr/>
        </p:nvSpPr>
        <p:spPr>
          <a:xfrm>
            <a:off x="822960" y="2258568"/>
            <a:ext cx="4846320" cy="347472"/>
          </a:xfrm>
          <a:prstGeom prst="rect">
            <a:avLst/>
          </a:prstGeom>
          <a:noFill/>
          <a:ln/>
        </p:spPr>
        <p:txBody>
          <a:bodyPr wrap="square" lIns="0" tIns="0" rIns="0" bIns="0" rtlCol="0" anchor="ctr"/>
          <a:lstStyle/>
          <a:p>
            <a:pPr indent="0" marL="0">
              <a:buNone/>
            </a:pPr>
            <a:r>
              <a:rPr lang="en-US" sz="1500" b="1" dirty="0">
                <a:solidFill>
                  <a:srgbClr val="0B2F4A"/>
                </a:solidFill>
                <a:latin typeface="Georgia" pitchFamily="34" charset="0"/>
                <a:ea typeface="Georgia" pitchFamily="34" charset="-122"/>
                <a:cs typeface="Georgia" pitchFamily="34" charset="-120"/>
              </a:rPr>
              <a:t>Model A — advective supply</a:t>
            </a:r>
            <a:endParaRPr lang="en-US" sz="1500" dirty="0"/>
          </a:p>
        </p:txBody>
      </p:sp>
      <p:sp>
        <p:nvSpPr>
          <p:cNvPr id="7" name="Text 5"/>
          <p:cNvSpPr/>
          <p:nvPr/>
        </p:nvSpPr>
        <p:spPr>
          <a:xfrm>
            <a:off x="822960" y="2514600"/>
            <a:ext cx="4846320" cy="914400"/>
          </a:xfrm>
          <a:prstGeom prst="rect">
            <a:avLst/>
          </a:prstGeom>
          <a:noFill/>
          <a:ln/>
        </p:spPr>
        <p:txBody>
          <a:bodyPr wrap="square" lIns="0" tIns="0" rIns="0" bIns="0" rtlCol="0" anchor="t"/>
          <a:lstStyle/>
          <a:p>
            <a:pPr indent="0" marL="0">
              <a:lnSpc>
                <a:spcPts val="1800"/>
              </a:lnSpc>
              <a:buNone/>
            </a:pPr>
            <a:r>
              <a:rPr lang="en-US" sz="1200" dirty="0">
                <a:solidFill>
                  <a:srgbClr val="20303C"/>
                </a:solidFill>
                <a:latin typeface="Calibri" pitchFamily="34" charset="0"/>
                <a:ea typeface="Calibri" pitchFamily="34" charset="-122"/>
                <a:cs typeface="Calibri" pitchFamily="34" charset="-120"/>
              </a:rPr>
              <a:t>Blooms form offshore in the Bering Sea and are carried north through the Bering Strait; local cyst beds germinate when bottom water is warm enough.</a:t>
            </a:r>
            <a:endParaRPr lang="en-US" sz="1200" dirty="0"/>
          </a:p>
        </p:txBody>
      </p:sp>
      <p:sp>
        <p:nvSpPr>
          <p:cNvPr id="8" name="Text 6"/>
          <p:cNvSpPr/>
          <p:nvPr/>
        </p:nvSpPr>
        <p:spPr>
          <a:xfrm>
            <a:off x="822960" y="3474720"/>
            <a:ext cx="4846320" cy="1463040"/>
          </a:xfrm>
          <a:prstGeom prst="rect">
            <a:avLst/>
          </a:prstGeom>
          <a:noFill/>
          <a:ln/>
        </p:spPr>
        <p:txBody>
          <a:bodyPr wrap="square" lIns="0" tIns="0" rIns="0" bIns="0" rtlCol="0" anchor="t"/>
          <a:lstStyle/>
          <a:p>
            <a:pPr marL="342900" indent="-342900">
              <a:lnSpc>
                <a:spcPts val="1800"/>
              </a:lnSpc>
              <a:buSzPct val="100000"/>
              <a:buChar char="•"/>
            </a:pPr>
            <a:r>
              <a:rPr lang="en-US" sz="1050" dirty="0">
                <a:solidFill>
                  <a:srgbClr val="20303C"/>
                </a:solidFill>
                <a:latin typeface="Calibri" pitchFamily="34" charset="0"/>
                <a:ea typeface="Calibri" pitchFamily="34" charset="-122"/>
                <a:cs typeface="Calibri" pitchFamily="34" charset="-120"/>
              </a:rPr>
              <a:t>The 2022 event was tracked entering from the west and advecting north (Fachon et al. 2024)</a:t>
            </a:r>
            <a:endParaRPr lang="en-US" sz="1050" dirty="0"/>
          </a:p>
          <a:p>
            <a:pPr marL="342900" indent="-342900">
              <a:lnSpc>
                <a:spcPts val="1800"/>
              </a:lnSpc>
              <a:buSzPct val="100000"/>
              <a:buChar char="•"/>
            </a:pPr>
            <a:r>
              <a:rPr lang="en-US" sz="1050" dirty="0">
                <a:solidFill>
                  <a:srgbClr val="20303C"/>
                </a:solidFill>
                <a:latin typeface="Calibri" pitchFamily="34" charset="0"/>
                <a:ea typeface="Calibri" pitchFamily="34" charset="-122"/>
                <a:cs typeface="Calibri" pitchFamily="34" charset="-120"/>
              </a:rPr>
              <a:t>That year the Ledyard Bay cyst bed was thermally suppressed at ~1.8 C</a:t>
            </a:r>
            <a:endParaRPr lang="en-US" sz="1050" dirty="0"/>
          </a:p>
          <a:p>
            <a:pPr marL="342900" indent="-342900">
              <a:lnSpc>
                <a:spcPts val="1800"/>
              </a:lnSpc>
              <a:buSzPct val="100000"/>
              <a:buChar char="•"/>
            </a:pPr>
            <a:r>
              <a:rPr lang="en-US" sz="1050" dirty="0">
                <a:solidFill>
                  <a:srgbClr val="20303C"/>
                </a:solidFill>
                <a:latin typeface="Calibri" pitchFamily="34" charset="0"/>
                <a:ea typeface="Calibri" pitchFamily="34" charset="-122"/>
                <a:cs typeface="Calibri" pitchFamily="34" charset="-120"/>
              </a:rPr>
              <a:t>Cells were dense across a wide range of nutrient concentrations</a:t>
            </a:r>
            <a:endParaRPr lang="en-US" sz="1050" dirty="0"/>
          </a:p>
        </p:txBody>
      </p:sp>
      <p:sp>
        <p:nvSpPr>
          <p:cNvPr id="9" name="Shape 7"/>
          <p:cNvSpPr/>
          <p:nvPr/>
        </p:nvSpPr>
        <p:spPr>
          <a:xfrm>
            <a:off x="6217920" y="2057400"/>
            <a:ext cx="5440680" cy="3108960"/>
          </a:xfrm>
          <a:prstGeom prst="roundRect">
            <a:avLst>
              <a:gd name="adj" fmla="val 1765"/>
            </a:avLst>
          </a:prstGeom>
          <a:solidFill>
            <a:srgbClr val="FBF3E8"/>
          </a:solidFill>
          <a:ln w="10795">
            <a:solidFill>
              <a:srgbClr val="E8A33D"/>
            </a:solidFill>
            <a:prstDash val="solid"/>
          </a:ln>
        </p:spPr>
      </p:sp>
      <p:sp>
        <p:nvSpPr>
          <p:cNvPr id="10" name="Text 8"/>
          <p:cNvSpPr/>
          <p:nvPr/>
        </p:nvSpPr>
        <p:spPr>
          <a:xfrm>
            <a:off x="6537960" y="2258568"/>
            <a:ext cx="4800600" cy="347472"/>
          </a:xfrm>
          <a:prstGeom prst="rect">
            <a:avLst/>
          </a:prstGeom>
          <a:noFill/>
          <a:ln/>
        </p:spPr>
        <p:txBody>
          <a:bodyPr wrap="square" lIns="0" tIns="0" rIns="0" bIns="0" rtlCol="0" anchor="ctr"/>
          <a:lstStyle/>
          <a:p>
            <a:pPr indent="0" marL="0">
              <a:buNone/>
            </a:pPr>
            <a:r>
              <a:rPr lang="en-US" sz="1500" b="1" dirty="0">
                <a:solidFill>
                  <a:srgbClr val="0B2F4A"/>
                </a:solidFill>
                <a:latin typeface="Georgia" pitchFamily="34" charset="0"/>
                <a:ea typeface="Georgia" pitchFamily="34" charset="-122"/>
                <a:cs typeface="Georgia" pitchFamily="34" charset="-120"/>
              </a:rPr>
              <a:t>Model B — local river modulation</a:t>
            </a:r>
            <a:endParaRPr lang="en-US" sz="1500" dirty="0"/>
          </a:p>
        </p:txBody>
      </p:sp>
      <p:sp>
        <p:nvSpPr>
          <p:cNvPr id="11" name="Text 9"/>
          <p:cNvSpPr/>
          <p:nvPr/>
        </p:nvSpPr>
        <p:spPr>
          <a:xfrm>
            <a:off x="6537960" y="2514600"/>
            <a:ext cx="4800600" cy="914400"/>
          </a:xfrm>
          <a:prstGeom prst="rect">
            <a:avLst/>
          </a:prstGeom>
          <a:noFill/>
          <a:ln/>
        </p:spPr>
        <p:txBody>
          <a:bodyPr wrap="square" lIns="0" tIns="0" rIns="0" bIns="0" rtlCol="0" anchor="t"/>
          <a:lstStyle/>
          <a:p>
            <a:pPr indent="0" marL="0">
              <a:lnSpc>
                <a:spcPts val="1800"/>
              </a:lnSpc>
              <a:buNone/>
            </a:pPr>
            <a:r>
              <a:rPr lang="en-US" sz="1200" dirty="0">
                <a:solidFill>
                  <a:srgbClr val="20303C"/>
                </a:solidFill>
                <a:latin typeface="Calibri" pitchFamily="34" charset="0"/>
                <a:ea typeface="Calibri" pitchFamily="34" charset="-122"/>
                <a:cs typeface="Calibri" pitchFamily="34" charset="-120"/>
              </a:rPr>
              <a:t>River freshwater sets stratification, delivers terrestrial nutrients and organic matter, and controls flushing — modulating how a bloom develops once cells are present.</a:t>
            </a:r>
            <a:endParaRPr lang="en-US" sz="1200" dirty="0"/>
          </a:p>
        </p:txBody>
      </p:sp>
      <p:sp>
        <p:nvSpPr>
          <p:cNvPr id="12" name="Text 10"/>
          <p:cNvSpPr/>
          <p:nvPr/>
        </p:nvSpPr>
        <p:spPr>
          <a:xfrm>
            <a:off x="6537960" y="3474720"/>
            <a:ext cx="4800600" cy="1463040"/>
          </a:xfrm>
          <a:prstGeom prst="rect">
            <a:avLst/>
          </a:prstGeom>
          <a:noFill/>
          <a:ln/>
        </p:spPr>
        <p:txBody>
          <a:bodyPr wrap="square" lIns="0" tIns="0" rIns="0" bIns="0" rtlCol="0" anchor="t"/>
          <a:lstStyle/>
          <a:p>
            <a:pPr marL="342900" indent="-342900">
              <a:lnSpc>
                <a:spcPts val="1800"/>
              </a:lnSpc>
              <a:buSzPct val="100000"/>
              <a:buChar char="•"/>
            </a:pPr>
            <a:r>
              <a:rPr lang="en-US" sz="1050" dirty="0">
                <a:solidFill>
                  <a:srgbClr val="20303C"/>
                </a:solidFill>
                <a:latin typeface="Calibri" pitchFamily="34" charset="0"/>
                <a:ea typeface="Calibri" pitchFamily="34" charset="-122"/>
                <a:cs typeface="Calibri" pitchFamily="34" charset="-120"/>
              </a:rPr>
              <a:t>Kobuk discharge leads inner-sound chlorophyll by ~2 weeks, surviving a sediment control</a:t>
            </a:r>
            <a:endParaRPr lang="en-US" sz="1050" dirty="0"/>
          </a:p>
          <a:p>
            <a:pPr marL="342900" indent="-342900">
              <a:lnSpc>
                <a:spcPts val="1800"/>
              </a:lnSpc>
              <a:buSzPct val="100000"/>
              <a:buChar char="•"/>
            </a:pPr>
            <a:r>
              <a:rPr lang="en-US" sz="1050" dirty="0">
                <a:solidFill>
                  <a:srgbClr val="20303C"/>
                </a:solidFill>
                <a:latin typeface="Calibri" pitchFamily="34" charset="0"/>
                <a:ea typeface="Calibri" pitchFamily="34" charset="-122"/>
                <a:cs typeface="Calibri" pitchFamily="34" charset="-120"/>
              </a:rPr>
              <a:t>Kobuk and Noatak peak inside the bloom window; the Selawik does not</a:t>
            </a:r>
            <a:endParaRPr lang="en-US" sz="1050" dirty="0"/>
          </a:p>
          <a:p>
            <a:pPr marL="342900" indent="-342900">
              <a:lnSpc>
                <a:spcPts val="1800"/>
              </a:lnSpc>
              <a:buSzPct val="100000"/>
              <a:buChar char="•"/>
            </a:pPr>
            <a:r>
              <a:rPr lang="en-US" sz="1050" dirty="0">
                <a:solidFill>
                  <a:srgbClr val="20303C"/>
                </a:solidFill>
                <a:latin typeface="Calibri" pitchFamily="34" charset="0"/>
                <a:ea typeface="Calibri" pitchFamily="34" charset="-122"/>
                <a:cs typeface="Calibri" pitchFamily="34" charset="-120"/>
              </a:rPr>
              <a:t>But chlorophyll is not Alexandrium, and CDOM is uncontrolled</a:t>
            </a:r>
            <a:endParaRPr lang="en-US" sz="1050" dirty="0"/>
          </a:p>
        </p:txBody>
      </p:sp>
      <p:sp>
        <p:nvSpPr>
          <p:cNvPr id="13" name="Text 11"/>
          <p:cNvSpPr/>
          <p:nvPr/>
        </p:nvSpPr>
        <p:spPr>
          <a:xfrm>
            <a:off x="502920" y="5394960"/>
            <a:ext cx="11155680" cy="731520"/>
          </a:xfrm>
          <a:prstGeom prst="rect">
            <a:avLst/>
          </a:prstGeom>
          <a:noFill/>
          <a:ln/>
        </p:spPr>
        <p:txBody>
          <a:bodyPr wrap="square" lIns="0" tIns="0" rIns="0" bIns="0" rtlCol="0" anchor="t"/>
          <a:lstStyle/>
          <a:p>
            <a:pPr indent="0" marL="0">
              <a:lnSpc>
                <a:spcPts val="1800"/>
              </a:lnSpc>
              <a:buNone/>
            </a:pPr>
            <a:r>
              <a:rPr lang="en-US" sz="1250" dirty="0">
                <a:solidFill>
                  <a:srgbClr val="B4442E"/>
                </a:solidFill>
                <a:latin typeface="Calibri" pitchFamily="34" charset="0"/>
                <a:ea typeface="Calibri" pitchFamily="34" charset="-122"/>
                <a:cs typeface="Calibri" pitchFamily="34" charset="-120"/>
              </a:rPr>
              <a:t>Separating them needs HAB cell counts or toxin data, a CDOM control, and moorings or a circulation model for the sound. None of those are in this project.</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SYNTHESIS</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The area, end to end</a:t>
            </a:r>
            <a:endParaRPr lang="en-US" sz="2700" dirty="0"/>
          </a:p>
        </p:txBody>
      </p:sp>
      <p:sp>
        <p:nvSpPr>
          <p:cNvPr id="4" name="Shape 2"/>
          <p:cNvSpPr/>
          <p:nvPr/>
        </p:nvSpPr>
        <p:spPr>
          <a:xfrm>
            <a:off x="548640" y="1362456"/>
            <a:ext cx="365760" cy="365760"/>
          </a:xfrm>
          <a:prstGeom prst="ellipse">
            <a:avLst/>
          </a:prstGeom>
          <a:solidFill>
            <a:srgbClr val="2E8BA8"/>
          </a:solidFill>
          <a:ln/>
        </p:spPr>
      </p:sp>
      <p:sp>
        <p:nvSpPr>
          <p:cNvPr id="5" name="Text 3"/>
          <p:cNvSpPr/>
          <p:nvPr/>
        </p:nvSpPr>
        <p:spPr>
          <a:xfrm>
            <a:off x="548640" y="136245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a:t>
            </a:r>
            <a:endParaRPr lang="en-US" sz="1200" dirty="0"/>
          </a:p>
        </p:txBody>
      </p:sp>
      <p:sp>
        <p:nvSpPr>
          <p:cNvPr id="6" name="Text 4"/>
          <p:cNvSpPr/>
          <p:nvPr/>
        </p:nvSpPr>
        <p:spPr>
          <a:xfrm>
            <a:off x="1051560" y="1344168"/>
            <a:ext cx="2651760" cy="411480"/>
          </a:xfrm>
          <a:prstGeom prst="rect">
            <a:avLst/>
          </a:prstGeom>
          <a:noFill/>
          <a:ln/>
        </p:spPr>
        <p:txBody>
          <a:bodyPr wrap="square" lIns="0" tIns="0" rIns="0" bIns="0" rtlCol="0" anchor="t"/>
          <a:lstStyle/>
          <a:p>
            <a:pPr indent="0" marL="0">
              <a:buNone/>
            </a:pPr>
            <a:r>
              <a:rPr lang="en-US" sz="1250" b="1" dirty="0">
                <a:solidFill>
                  <a:srgbClr val="0B2F4A"/>
                </a:solidFill>
                <a:latin typeface="Calibri" pitchFamily="34" charset="0"/>
                <a:ea typeface="Calibri" pitchFamily="34" charset="-122"/>
                <a:cs typeface="Calibri" pitchFamily="34" charset="-120"/>
              </a:rPr>
              <a:t>Snowmelt, mid-May</a:t>
            </a:r>
            <a:endParaRPr lang="en-US" sz="1250" dirty="0"/>
          </a:p>
        </p:txBody>
      </p:sp>
      <p:sp>
        <p:nvSpPr>
          <p:cNvPr id="7" name="Text 5"/>
          <p:cNvSpPr/>
          <p:nvPr/>
        </p:nvSpPr>
        <p:spPr>
          <a:xfrm>
            <a:off x="3749040" y="1344168"/>
            <a:ext cx="7863840" cy="640080"/>
          </a:xfrm>
          <a:prstGeom prst="rect">
            <a:avLst/>
          </a:prstGeom>
          <a:noFill/>
          <a:ln/>
        </p:spPr>
        <p:txBody>
          <a:bodyPr wrap="square" lIns="0" tIns="0" rIns="0" bIns="0" rtlCol="0" anchor="t"/>
          <a:lstStyle/>
          <a:p>
            <a:pPr indent="0" marL="0">
              <a:lnSpc>
                <a:spcPts val="1400"/>
              </a:lnSpc>
              <a:buNone/>
            </a:pPr>
            <a:r>
              <a:rPr lang="en-US" sz="1100" dirty="0">
                <a:solidFill>
                  <a:srgbClr val="20303C"/>
                </a:solidFill>
                <a:latin typeface="Calibri" pitchFamily="34" charset="0"/>
                <a:ea typeface="Calibri" pitchFamily="34" charset="-122"/>
                <a:cs typeface="Calibri" pitchFamily="34" charset="-120"/>
              </a:rPr>
              <a:t>The Selawik peaks at day 141-145 every observed year and drains into Selawik Lake.</a:t>
            </a:r>
            <a:endParaRPr lang="en-US" sz="1100" dirty="0"/>
          </a:p>
        </p:txBody>
      </p:sp>
      <p:sp>
        <p:nvSpPr>
          <p:cNvPr id="8" name="Shape 6"/>
          <p:cNvSpPr/>
          <p:nvPr/>
        </p:nvSpPr>
        <p:spPr>
          <a:xfrm>
            <a:off x="548640" y="2075688"/>
            <a:ext cx="365760" cy="365760"/>
          </a:xfrm>
          <a:prstGeom prst="ellipse">
            <a:avLst/>
          </a:prstGeom>
          <a:solidFill>
            <a:srgbClr val="2E8BA8"/>
          </a:solidFill>
          <a:ln/>
        </p:spPr>
      </p:sp>
      <p:sp>
        <p:nvSpPr>
          <p:cNvPr id="9" name="Text 7"/>
          <p:cNvSpPr/>
          <p:nvPr/>
        </p:nvSpPr>
        <p:spPr>
          <a:xfrm>
            <a:off x="548640" y="20756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2</a:t>
            </a:r>
            <a:endParaRPr lang="en-US" sz="1200" dirty="0"/>
          </a:p>
        </p:txBody>
      </p:sp>
      <p:sp>
        <p:nvSpPr>
          <p:cNvPr id="10" name="Text 8"/>
          <p:cNvSpPr/>
          <p:nvPr/>
        </p:nvSpPr>
        <p:spPr>
          <a:xfrm>
            <a:off x="1051560" y="2057400"/>
            <a:ext cx="2651760" cy="411480"/>
          </a:xfrm>
          <a:prstGeom prst="rect">
            <a:avLst/>
          </a:prstGeom>
          <a:noFill/>
          <a:ln/>
        </p:spPr>
        <p:txBody>
          <a:bodyPr wrap="square" lIns="0" tIns="0" rIns="0" bIns="0" rtlCol="0" anchor="t"/>
          <a:lstStyle/>
          <a:p>
            <a:pPr indent="0" marL="0">
              <a:buNone/>
            </a:pPr>
            <a:r>
              <a:rPr lang="en-US" sz="1250" b="1" dirty="0">
                <a:solidFill>
                  <a:srgbClr val="0B2F4A"/>
                </a:solidFill>
                <a:latin typeface="Calibri" pitchFamily="34" charset="0"/>
                <a:ea typeface="Calibri" pitchFamily="34" charset="-122"/>
                <a:cs typeface="Calibri" pitchFamily="34" charset="-120"/>
              </a:rPr>
              <a:t>Rain, late August</a:t>
            </a:r>
            <a:endParaRPr lang="en-US" sz="1250" dirty="0"/>
          </a:p>
        </p:txBody>
      </p:sp>
      <p:sp>
        <p:nvSpPr>
          <p:cNvPr id="11" name="Text 9"/>
          <p:cNvSpPr/>
          <p:nvPr/>
        </p:nvSpPr>
        <p:spPr>
          <a:xfrm>
            <a:off x="3749040" y="2057400"/>
            <a:ext cx="7863840" cy="640080"/>
          </a:xfrm>
          <a:prstGeom prst="rect">
            <a:avLst/>
          </a:prstGeom>
          <a:noFill/>
          <a:ln/>
        </p:spPr>
        <p:txBody>
          <a:bodyPr wrap="square" lIns="0" tIns="0" rIns="0" bIns="0" rtlCol="0" anchor="t"/>
          <a:lstStyle/>
          <a:p>
            <a:pPr indent="0" marL="0">
              <a:lnSpc>
                <a:spcPts val="1400"/>
              </a:lnSpc>
              <a:buNone/>
            </a:pPr>
            <a:r>
              <a:rPr lang="en-US" sz="1100" dirty="0">
                <a:solidFill>
                  <a:srgbClr val="20303C"/>
                </a:solidFill>
                <a:latin typeface="Calibri" pitchFamily="34" charset="0"/>
                <a:ea typeface="Calibri" pitchFamily="34" charset="-122"/>
                <a:cs typeface="Calibri" pitchFamily="34" charset="-120"/>
              </a:rPr>
              <a:t>The Kobuk and Noatak peak at day 236-251, roughly 100 days later.</a:t>
            </a:r>
            <a:endParaRPr lang="en-US" sz="1100" dirty="0"/>
          </a:p>
        </p:txBody>
      </p:sp>
      <p:sp>
        <p:nvSpPr>
          <p:cNvPr id="12" name="Shape 10"/>
          <p:cNvSpPr/>
          <p:nvPr/>
        </p:nvSpPr>
        <p:spPr>
          <a:xfrm>
            <a:off x="548640" y="2788920"/>
            <a:ext cx="365760" cy="365760"/>
          </a:xfrm>
          <a:prstGeom prst="ellipse">
            <a:avLst/>
          </a:prstGeom>
          <a:solidFill>
            <a:srgbClr val="2E8BA8"/>
          </a:solidFill>
          <a:ln/>
        </p:spPr>
      </p:sp>
      <p:sp>
        <p:nvSpPr>
          <p:cNvPr id="13" name="Text 11"/>
          <p:cNvSpPr/>
          <p:nvPr/>
        </p:nvSpPr>
        <p:spPr>
          <a:xfrm>
            <a:off x="548640" y="2788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3</a:t>
            </a:r>
            <a:endParaRPr lang="en-US" sz="1200" dirty="0"/>
          </a:p>
        </p:txBody>
      </p:sp>
      <p:sp>
        <p:nvSpPr>
          <p:cNvPr id="14" name="Text 12"/>
          <p:cNvSpPr/>
          <p:nvPr/>
        </p:nvSpPr>
        <p:spPr>
          <a:xfrm>
            <a:off x="1051560" y="2770632"/>
            <a:ext cx="2651760" cy="411480"/>
          </a:xfrm>
          <a:prstGeom prst="rect">
            <a:avLst/>
          </a:prstGeom>
          <a:noFill/>
          <a:ln/>
        </p:spPr>
        <p:txBody>
          <a:bodyPr wrap="square" lIns="0" tIns="0" rIns="0" bIns="0" rtlCol="0" anchor="t"/>
          <a:lstStyle/>
          <a:p>
            <a:pPr indent="0" marL="0">
              <a:buNone/>
            </a:pPr>
            <a:r>
              <a:rPr lang="en-US" sz="1250" b="1" dirty="0">
                <a:solidFill>
                  <a:srgbClr val="0B2F4A"/>
                </a:solidFill>
                <a:latin typeface="Calibri" pitchFamily="34" charset="0"/>
                <a:ea typeface="Calibri" pitchFamily="34" charset="-122"/>
                <a:cs typeface="Calibri" pitchFamily="34" charset="-120"/>
              </a:rPr>
              <a:t>Through the delta</a:t>
            </a:r>
            <a:endParaRPr lang="en-US" sz="1250" dirty="0"/>
          </a:p>
        </p:txBody>
      </p:sp>
      <p:sp>
        <p:nvSpPr>
          <p:cNvPr id="15" name="Text 13"/>
          <p:cNvSpPr/>
          <p:nvPr/>
        </p:nvSpPr>
        <p:spPr>
          <a:xfrm>
            <a:off x="3749040" y="2770632"/>
            <a:ext cx="7863840" cy="640080"/>
          </a:xfrm>
          <a:prstGeom prst="rect">
            <a:avLst/>
          </a:prstGeom>
          <a:noFill/>
          <a:ln/>
        </p:spPr>
        <p:txBody>
          <a:bodyPr wrap="square" lIns="0" tIns="0" rIns="0" bIns="0" rtlCol="0" anchor="t"/>
          <a:lstStyle/>
          <a:p>
            <a:pPr indent="0" marL="0">
              <a:lnSpc>
                <a:spcPts val="1400"/>
              </a:lnSpc>
              <a:buNone/>
            </a:pPr>
            <a:r>
              <a:rPr lang="en-US" sz="1100" dirty="0">
                <a:solidFill>
                  <a:srgbClr val="20303C"/>
                </a:solidFill>
                <a:latin typeface="Calibri" pitchFamily="34" charset="0"/>
                <a:ea typeface="Calibri" pitchFamily="34" charset="-122"/>
                <a:cs typeface="Calibri" pitchFamily="34" charset="-120"/>
              </a:rPr>
              <a:t>The Kobuk splits; facc falls 31,315 → 15,162 km2 and stage drops 2.97 → 0.55 m.</a:t>
            </a:r>
            <a:endParaRPr lang="en-US" sz="1100" dirty="0"/>
          </a:p>
        </p:txBody>
      </p:sp>
      <p:sp>
        <p:nvSpPr>
          <p:cNvPr id="16" name="Shape 14"/>
          <p:cNvSpPr/>
          <p:nvPr/>
        </p:nvSpPr>
        <p:spPr>
          <a:xfrm>
            <a:off x="548640" y="3502152"/>
            <a:ext cx="365760" cy="365760"/>
          </a:xfrm>
          <a:prstGeom prst="ellipse">
            <a:avLst/>
          </a:prstGeom>
          <a:solidFill>
            <a:srgbClr val="2E8BA8"/>
          </a:solidFill>
          <a:ln/>
        </p:spPr>
      </p:sp>
      <p:sp>
        <p:nvSpPr>
          <p:cNvPr id="17" name="Text 15"/>
          <p:cNvSpPr/>
          <p:nvPr/>
        </p:nvSpPr>
        <p:spPr>
          <a:xfrm>
            <a:off x="548640" y="350215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4</a:t>
            </a:r>
            <a:endParaRPr lang="en-US" sz="1200" dirty="0"/>
          </a:p>
        </p:txBody>
      </p:sp>
      <p:sp>
        <p:nvSpPr>
          <p:cNvPr id="18" name="Text 16"/>
          <p:cNvSpPr/>
          <p:nvPr/>
        </p:nvSpPr>
        <p:spPr>
          <a:xfrm>
            <a:off x="1051560" y="3483864"/>
            <a:ext cx="2651760" cy="411480"/>
          </a:xfrm>
          <a:prstGeom prst="rect">
            <a:avLst/>
          </a:prstGeom>
          <a:noFill/>
          <a:ln/>
        </p:spPr>
        <p:txBody>
          <a:bodyPr wrap="square" lIns="0" tIns="0" rIns="0" bIns="0" rtlCol="0" anchor="t"/>
          <a:lstStyle/>
          <a:p>
            <a:pPr indent="0" marL="0">
              <a:buNone/>
            </a:pPr>
            <a:r>
              <a:rPr lang="en-US" sz="1250" b="1" dirty="0">
                <a:solidFill>
                  <a:srgbClr val="0B2F4A"/>
                </a:solidFill>
                <a:latin typeface="Calibri" pitchFamily="34" charset="0"/>
                <a:ea typeface="Calibri" pitchFamily="34" charset="-122"/>
                <a:cs typeface="Calibri" pitchFamily="34" charset="-120"/>
              </a:rPr>
              <a:t>Which thread</a:t>
            </a:r>
            <a:endParaRPr lang="en-US" sz="1250" dirty="0"/>
          </a:p>
        </p:txBody>
      </p:sp>
      <p:sp>
        <p:nvSpPr>
          <p:cNvPr id="19" name="Text 17"/>
          <p:cNvSpPr/>
          <p:nvPr/>
        </p:nvSpPr>
        <p:spPr>
          <a:xfrm>
            <a:off x="3749040" y="3483864"/>
            <a:ext cx="7863840" cy="640080"/>
          </a:xfrm>
          <a:prstGeom prst="rect">
            <a:avLst/>
          </a:prstGeom>
          <a:noFill/>
          <a:ln/>
        </p:spPr>
        <p:txBody>
          <a:bodyPr wrap="square" lIns="0" tIns="0" rIns="0" bIns="0" rtlCol="0" anchor="t"/>
          <a:lstStyle/>
          <a:p>
            <a:pPr indent="0" marL="0">
              <a:lnSpc>
                <a:spcPts val="1400"/>
              </a:lnSpc>
              <a:buNone/>
            </a:pPr>
            <a:r>
              <a:rPr lang="en-US" sz="1100" dirty="0">
                <a:solidFill>
                  <a:srgbClr val="20303C"/>
                </a:solidFill>
                <a:latin typeface="Calibri" pitchFamily="34" charset="0"/>
                <a:ea typeface="Calibri" pitchFamily="34" charset="-122"/>
                <a:cs typeface="Calibri" pitchFamily="34" charset="-120"/>
              </a:rPr>
              <a:t>facc and width say ~60/19/19, but the dynamic data cannot confirm it.</a:t>
            </a:r>
            <a:endParaRPr lang="en-US" sz="1100" dirty="0"/>
          </a:p>
        </p:txBody>
      </p:sp>
      <p:sp>
        <p:nvSpPr>
          <p:cNvPr id="20" name="Shape 18"/>
          <p:cNvSpPr/>
          <p:nvPr/>
        </p:nvSpPr>
        <p:spPr>
          <a:xfrm>
            <a:off x="548640" y="4215384"/>
            <a:ext cx="365760" cy="365760"/>
          </a:xfrm>
          <a:prstGeom prst="ellipse">
            <a:avLst/>
          </a:prstGeom>
          <a:solidFill>
            <a:srgbClr val="2E8BA8"/>
          </a:solidFill>
          <a:ln/>
        </p:spPr>
      </p:sp>
      <p:sp>
        <p:nvSpPr>
          <p:cNvPr id="21" name="Text 19"/>
          <p:cNvSpPr/>
          <p:nvPr/>
        </p:nvSpPr>
        <p:spPr>
          <a:xfrm>
            <a:off x="548640" y="42153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5</a:t>
            </a:r>
            <a:endParaRPr lang="en-US" sz="1200" dirty="0"/>
          </a:p>
        </p:txBody>
      </p:sp>
      <p:sp>
        <p:nvSpPr>
          <p:cNvPr id="22" name="Text 20"/>
          <p:cNvSpPr/>
          <p:nvPr/>
        </p:nvSpPr>
        <p:spPr>
          <a:xfrm>
            <a:off x="1051560" y="4197096"/>
            <a:ext cx="2651760" cy="411480"/>
          </a:xfrm>
          <a:prstGeom prst="rect">
            <a:avLst/>
          </a:prstGeom>
          <a:noFill/>
          <a:ln/>
        </p:spPr>
        <p:txBody>
          <a:bodyPr wrap="square" lIns="0" tIns="0" rIns="0" bIns="0" rtlCol="0" anchor="t"/>
          <a:lstStyle/>
          <a:p>
            <a:pPr indent="0" marL="0">
              <a:buNone/>
            </a:pPr>
            <a:r>
              <a:rPr lang="en-US" sz="1250" b="1" dirty="0">
                <a:solidFill>
                  <a:srgbClr val="0B2F4A"/>
                </a:solidFill>
                <a:latin typeface="Calibri" pitchFamily="34" charset="0"/>
                <a:ea typeface="Calibri" pitchFamily="34" charset="-122"/>
                <a:cs typeface="Calibri" pitchFamily="34" charset="-120"/>
              </a:rPr>
              <a:t>Into the inlet</a:t>
            </a:r>
            <a:endParaRPr lang="en-US" sz="1250" dirty="0"/>
          </a:p>
        </p:txBody>
      </p:sp>
      <p:sp>
        <p:nvSpPr>
          <p:cNvPr id="23" name="Text 21"/>
          <p:cNvSpPr/>
          <p:nvPr/>
        </p:nvSpPr>
        <p:spPr>
          <a:xfrm>
            <a:off x="3749040" y="4197096"/>
            <a:ext cx="7863840" cy="640080"/>
          </a:xfrm>
          <a:prstGeom prst="rect">
            <a:avLst/>
          </a:prstGeom>
          <a:noFill/>
          <a:ln/>
        </p:spPr>
        <p:txBody>
          <a:bodyPr wrap="square" lIns="0" tIns="0" rIns="0" bIns="0" rtlCol="0" anchor="t"/>
          <a:lstStyle/>
          <a:p>
            <a:pPr indent="0" marL="0">
              <a:lnSpc>
                <a:spcPts val="1400"/>
              </a:lnSpc>
              <a:buNone/>
            </a:pPr>
            <a:r>
              <a:rPr lang="en-US" sz="1100" dirty="0">
                <a:solidFill>
                  <a:srgbClr val="20303C"/>
                </a:solidFill>
                <a:latin typeface="Calibri" pitchFamily="34" charset="0"/>
                <a:ea typeface="Calibri" pitchFamily="34" charset="-122"/>
                <a:cs typeface="Calibri" pitchFamily="34" charset="-120"/>
              </a:rPr>
              <a:t>Hotham Inlet and Selawik Lake follow river stage within a week (r = 0.85, 0.87).</a:t>
            </a:r>
            <a:endParaRPr lang="en-US" sz="1100" dirty="0"/>
          </a:p>
        </p:txBody>
      </p:sp>
      <p:sp>
        <p:nvSpPr>
          <p:cNvPr id="24" name="Shape 22"/>
          <p:cNvSpPr/>
          <p:nvPr/>
        </p:nvSpPr>
        <p:spPr>
          <a:xfrm>
            <a:off x="548640" y="4928616"/>
            <a:ext cx="365760" cy="365760"/>
          </a:xfrm>
          <a:prstGeom prst="ellipse">
            <a:avLst/>
          </a:prstGeom>
          <a:solidFill>
            <a:srgbClr val="2E8BA8"/>
          </a:solidFill>
          <a:ln/>
        </p:spPr>
      </p:sp>
      <p:sp>
        <p:nvSpPr>
          <p:cNvPr id="25" name="Text 23"/>
          <p:cNvSpPr/>
          <p:nvPr/>
        </p:nvSpPr>
        <p:spPr>
          <a:xfrm>
            <a:off x="548640" y="492861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6</a:t>
            </a:r>
            <a:endParaRPr lang="en-US" sz="1200" dirty="0"/>
          </a:p>
        </p:txBody>
      </p:sp>
      <p:sp>
        <p:nvSpPr>
          <p:cNvPr id="26" name="Text 24"/>
          <p:cNvSpPr/>
          <p:nvPr/>
        </p:nvSpPr>
        <p:spPr>
          <a:xfrm>
            <a:off x="1051560" y="4910328"/>
            <a:ext cx="2651760" cy="411480"/>
          </a:xfrm>
          <a:prstGeom prst="rect">
            <a:avLst/>
          </a:prstGeom>
          <a:noFill/>
          <a:ln/>
        </p:spPr>
        <p:txBody>
          <a:bodyPr wrap="square" lIns="0" tIns="0" rIns="0" bIns="0" rtlCol="0" anchor="t"/>
          <a:lstStyle/>
          <a:p>
            <a:pPr indent="0" marL="0">
              <a:buNone/>
            </a:pPr>
            <a:r>
              <a:rPr lang="en-US" sz="1250" b="1" dirty="0">
                <a:solidFill>
                  <a:srgbClr val="0B2F4A"/>
                </a:solidFill>
                <a:latin typeface="Calibri" pitchFamily="34" charset="0"/>
                <a:ea typeface="Calibri" pitchFamily="34" charset="-122"/>
                <a:cs typeface="Calibri" pitchFamily="34" charset="-120"/>
              </a:rPr>
              <a:t>Out to the sound</a:t>
            </a:r>
            <a:endParaRPr lang="en-US" sz="1250" dirty="0"/>
          </a:p>
        </p:txBody>
      </p:sp>
      <p:sp>
        <p:nvSpPr>
          <p:cNvPr id="27" name="Text 25"/>
          <p:cNvSpPr/>
          <p:nvPr/>
        </p:nvSpPr>
        <p:spPr>
          <a:xfrm>
            <a:off x="3749040" y="4910328"/>
            <a:ext cx="7863840" cy="640080"/>
          </a:xfrm>
          <a:prstGeom prst="rect">
            <a:avLst/>
          </a:prstGeom>
          <a:noFill/>
          <a:ln/>
        </p:spPr>
        <p:txBody>
          <a:bodyPr wrap="square" lIns="0" tIns="0" rIns="0" bIns="0" rtlCol="0" anchor="t"/>
          <a:lstStyle/>
          <a:p>
            <a:pPr indent="0" marL="0">
              <a:lnSpc>
                <a:spcPts val="1400"/>
              </a:lnSpc>
              <a:buNone/>
            </a:pPr>
            <a:r>
              <a:rPr lang="en-US" sz="1100" dirty="0">
                <a:solidFill>
                  <a:srgbClr val="20303C"/>
                </a:solidFill>
                <a:latin typeface="Calibri" pitchFamily="34" charset="0"/>
                <a:ea typeface="Calibri" pitchFamily="34" charset="-122"/>
                <a:cs typeface="Calibri" pitchFamily="34" charset="-120"/>
              </a:rPr>
              <a:t>Kobuk discharge leads inner-sound chlorophyll by ~2 weeks, surviving a sediment control.</a:t>
            </a:r>
            <a:endParaRPr lang="en-US" sz="1100" dirty="0"/>
          </a:p>
        </p:txBody>
      </p:sp>
      <p:sp>
        <p:nvSpPr>
          <p:cNvPr id="28" name="Shape 26"/>
          <p:cNvSpPr/>
          <p:nvPr/>
        </p:nvSpPr>
        <p:spPr>
          <a:xfrm>
            <a:off x="548640" y="5641848"/>
            <a:ext cx="365760" cy="365760"/>
          </a:xfrm>
          <a:prstGeom prst="ellipse">
            <a:avLst/>
          </a:prstGeom>
          <a:solidFill>
            <a:srgbClr val="B4442E"/>
          </a:solidFill>
          <a:ln/>
        </p:spPr>
      </p:sp>
      <p:sp>
        <p:nvSpPr>
          <p:cNvPr id="29" name="Text 27"/>
          <p:cNvSpPr/>
          <p:nvPr/>
        </p:nvSpPr>
        <p:spPr>
          <a:xfrm>
            <a:off x="548640" y="564184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7</a:t>
            </a:r>
            <a:endParaRPr lang="en-US" sz="1200" dirty="0"/>
          </a:p>
        </p:txBody>
      </p:sp>
      <p:sp>
        <p:nvSpPr>
          <p:cNvPr id="30" name="Text 28"/>
          <p:cNvSpPr/>
          <p:nvPr/>
        </p:nvSpPr>
        <p:spPr>
          <a:xfrm>
            <a:off x="1051560" y="5623560"/>
            <a:ext cx="2651760" cy="411480"/>
          </a:xfrm>
          <a:prstGeom prst="rect">
            <a:avLst/>
          </a:prstGeom>
          <a:noFill/>
          <a:ln/>
        </p:spPr>
        <p:txBody>
          <a:bodyPr wrap="square" lIns="0" tIns="0" rIns="0" bIns="0" rtlCol="0" anchor="t"/>
          <a:lstStyle/>
          <a:p>
            <a:pPr indent="0" marL="0">
              <a:buNone/>
            </a:pPr>
            <a:r>
              <a:rPr lang="en-US" sz="1250" b="1" dirty="0">
                <a:solidFill>
                  <a:srgbClr val="B4442E"/>
                </a:solidFill>
                <a:latin typeface="Calibri" pitchFamily="34" charset="0"/>
                <a:ea typeface="Calibri" pitchFamily="34" charset="-122"/>
                <a:cs typeface="Calibri" pitchFamily="34" charset="-120"/>
              </a:rPr>
              <a:t>The blooms</a:t>
            </a:r>
            <a:endParaRPr lang="en-US" sz="1250" dirty="0"/>
          </a:p>
        </p:txBody>
      </p:sp>
      <p:sp>
        <p:nvSpPr>
          <p:cNvPr id="31" name="Text 29"/>
          <p:cNvSpPr/>
          <p:nvPr/>
        </p:nvSpPr>
        <p:spPr>
          <a:xfrm>
            <a:off x="3749040" y="5623560"/>
            <a:ext cx="7863840" cy="640080"/>
          </a:xfrm>
          <a:prstGeom prst="rect">
            <a:avLst/>
          </a:prstGeom>
          <a:noFill/>
          <a:ln/>
        </p:spPr>
        <p:txBody>
          <a:bodyPr wrap="square" lIns="0" tIns="0" rIns="0" bIns="0" rtlCol="0" anchor="t"/>
          <a:lstStyle/>
          <a:p>
            <a:pPr indent="0" marL="0">
              <a:lnSpc>
                <a:spcPts val="1400"/>
              </a:lnSpc>
              <a:buNone/>
            </a:pPr>
            <a:r>
              <a:rPr lang="en-US" sz="1100" dirty="0">
                <a:solidFill>
                  <a:srgbClr val="20303C"/>
                </a:solidFill>
                <a:latin typeface="Calibri" pitchFamily="34" charset="0"/>
                <a:ea typeface="Calibri" pitchFamily="34" charset="-122"/>
                <a:cs typeface="Calibri" pitchFamily="34" charset="-120"/>
              </a:rPr>
              <a:t>Open. Two models, neither tested here.</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050" b="1" spc="160" kern="0" dirty="0">
                <a:solidFill>
                  <a:srgbClr val="2E8BA8"/>
                </a:solidFill>
                <a:latin typeface="Calibri" pitchFamily="34" charset="0"/>
                <a:ea typeface="Calibri" pitchFamily="34" charset="-122"/>
                <a:cs typeface="Calibri" pitchFamily="34" charset="-120"/>
              </a:rPr>
              <a:t>SUMMARY</a:t>
            </a:r>
            <a:endParaRPr lang="en-US" sz="1050" dirty="0"/>
          </a:p>
        </p:txBody>
      </p:sp>
      <p:sp>
        <p:nvSpPr>
          <p:cNvPr id="3" name="Text 1"/>
          <p:cNvSpPr/>
          <p:nvPr/>
        </p:nvSpPr>
        <p:spPr>
          <a:xfrm>
            <a:off x="502920" y="502920"/>
            <a:ext cx="10424160" cy="640080"/>
          </a:xfrm>
          <a:prstGeom prst="rect">
            <a:avLst/>
          </a:prstGeom>
          <a:noFill/>
          <a:ln/>
        </p:spPr>
        <p:txBody>
          <a:bodyPr wrap="square" lIns="0" tIns="0" rIns="0" bIns="0" rtlCol="0" anchor="ctr"/>
          <a:lstStyle/>
          <a:p>
            <a:pPr indent="0" marL="0">
              <a:buNone/>
            </a:pPr>
            <a:r>
              <a:rPr lang="en-US" sz="2700" b="1" dirty="0">
                <a:solidFill>
                  <a:srgbClr val="0B2F4A"/>
                </a:solidFill>
                <a:latin typeface="Georgia" pitchFamily="34" charset="0"/>
                <a:ea typeface="Georgia" pitchFamily="34" charset="-122"/>
                <a:cs typeface="Georgia" pitchFamily="34" charset="-120"/>
              </a:rPr>
              <a:t>What the data support, and what they do not</a:t>
            </a:r>
            <a:endParaRPr lang="en-US" sz="2700" dirty="0"/>
          </a:p>
        </p:txBody>
      </p:sp>
      <p:sp>
        <p:nvSpPr>
          <p:cNvPr id="4" name="Shape 2"/>
          <p:cNvSpPr/>
          <p:nvPr/>
        </p:nvSpPr>
        <p:spPr>
          <a:xfrm>
            <a:off x="502920" y="1280160"/>
            <a:ext cx="5486400" cy="4846320"/>
          </a:xfrm>
          <a:prstGeom prst="roundRect">
            <a:avLst>
              <a:gd name="adj" fmla="val 1132"/>
            </a:avLst>
          </a:prstGeom>
          <a:solidFill>
            <a:srgbClr val="EAF4EE"/>
          </a:solidFill>
          <a:ln w="10795">
            <a:solidFill>
              <a:srgbClr val="1B7A4B"/>
            </a:solidFill>
            <a:prstDash val="solid"/>
          </a:ln>
        </p:spPr>
      </p:sp>
      <p:sp>
        <p:nvSpPr>
          <p:cNvPr id="5" name="Text 3"/>
          <p:cNvSpPr/>
          <p:nvPr/>
        </p:nvSpPr>
        <p:spPr>
          <a:xfrm>
            <a:off x="822960" y="1481328"/>
            <a:ext cx="4846320" cy="347472"/>
          </a:xfrm>
          <a:prstGeom prst="rect">
            <a:avLst/>
          </a:prstGeom>
          <a:noFill/>
          <a:ln/>
        </p:spPr>
        <p:txBody>
          <a:bodyPr wrap="square" lIns="0" tIns="0" rIns="0" bIns="0" rtlCol="0" anchor="ctr"/>
          <a:lstStyle/>
          <a:p>
            <a:pPr indent="0" marL="0">
              <a:buNone/>
            </a:pPr>
            <a:r>
              <a:rPr lang="en-US" sz="1500" b="1" dirty="0">
                <a:solidFill>
                  <a:srgbClr val="1B7A4B"/>
                </a:solidFill>
                <a:latin typeface="Georgia" pitchFamily="34" charset="0"/>
                <a:ea typeface="Georgia" pitchFamily="34" charset="-122"/>
                <a:cs typeface="Georgia" pitchFamily="34" charset="-120"/>
              </a:rPr>
              <a:t>Supported</a:t>
            </a:r>
            <a:endParaRPr lang="en-US" sz="1500" dirty="0"/>
          </a:p>
        </p:txBody>
      </p:sp>
      <p:sp>
        <p:nvSpPr>
          <p:cNvPr id="6" name="Text 4"/>
          <p:cNvSpPr/>
          <p:nvPr/>
        </p:nvSpPr>
        <p:spPr>
          <a:xfrm>
            <a:off x="822960" y="1783080"/>
            <a:ext cx="4846320" cy="4206240"/>
          </a:xfrm>
          <a:prstGeom prst="rect">
            <a:avLst/>
          </a:prstGeom>
          <a:noFill/>
          <a:ln/>
        </p:spPr>
        <p:txBody>
          <a:bodyPr wrap="square" lIns="0" tIns="0" rIns="0" bIns="0" rtlCol="0" anchor="t"/>
          <a:lstStyle/>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SWOT WSE is trustworthy here: slope 1.002 where physics demands 1.0, 21 cm residual.</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Revisit is ~1 day, not 21, from swath overlap at 67°N.</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Selawik and Kobuk deliver freshwater ~100 days apart into the same estuarine complex.</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The Selawik is backwater-controlled: 4.0 m of fall over 166 km.</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Wave length and amplitude are measurable; 939 detections.</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Water level falls 2.97 → 0.55 m across the Kobuk delta as flow splits.</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Hotham Inlet and Selawik Lake respond to the river sub-weekly.</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Kobuk discharge leads inner-sound chlorophyll by ~2 weeks and survives a sediment control.</a:t>
            </a:r>
            <a:endParaRPr lang="en-US" sz="1100" dirty="0"/>
          </a:p>
        </p:txBody>
      </p:sp>
      <p:sp>
        <p:nvSpPr>
          <p:cNvPr id="7" name="Shape 5"/>
          <p:cNvSpPr/>
          <p:nvPr/>
        </p:nvSpPr>
        <p:spPr>
          <a:xfrm>
            <a:off x="6217920" y="1280160"/>
            <a:ext cx="5440680" cy="4846320"/>
          </a:xfrm>
          <a:prstGeom prst="roundRect">
            <a:avLst>
              <a:gd name="adj" fmla="val 1132"/>
            </a:avLst>
          </a:prstGeom>
          <a:solidFill>
            <a:srgbClr val="FBEEE9"/>
          </a:solidFill>
          <a:ln w="10795">
            <a:solidFill>
              <a:srgbClr val="B4442E"/>
            </a:solidFill>
            <a:prstDash val="solid"/>
          </a:ln>
        </p:spPr>
      </p:sp>
      <p:sp>
        <p:nvSpPr>
          <p:cNvPr id="8" name="Text 6"/>
          <p:cNvSpPr/>
          <p:nvPr/>
        </p:nvSpPr>
        <p:spPr>
          <a:xfrm>
            <a:off x="6537960" y="1481328"/>
            <a:ext cx="4800600" cy="347472"/>
          </a:xfrm>
          <a:prstGeom prst="rect">
            <a:avLst/>
          </a:prstGeom>
          <a:noFill/>
          <a:ln/>
        </p:spPr>
        <p:txBody>
          <a:bodyPr wrap="square" lIns="0" tIns="0" rIns="0" bIns="0" rtlCol="0" anchor="ctr"/>
          <a:lstStyle/>
          <a:p>
            <a:pPr indent="0" marL="0">
              <a:buNone/>
            </a:pPr>
            <a:r>
              <a:rPr lang="en-US" sz="1500" b="1" dirty="0">
                <a:solidFill>
                  <a:srgbClr val="B4442E"/>
                </a:solidFill>
                <a:latin typeface="Georgia" pitchFamily="34" charset="0"/>
                <a:ea typeface="Georgia" pitchFamily="34" charset="-122"/>
                <a:cs typeface="Georgia" pitchFamily="34" charset="-120"/>
              </a:rPr>
              <a:t>Not supported</a:t>
            </a:r>
            <a:endParaRPr lang="en-US" sz="1500" dirty="0"/>
          </a:p>
        </p:txBody>
      </p:sp>
      <p:sp>
        <p:nvSpPr>
          <p:cNvPr id="9" name="Text 7"/>
          <p:cNvSpPr/>
          <p:nvPr/>
        </p:nvSpPr>
        <p:spPr>
          <a:xfrm>
            <a:off x="6537960" y="1783080"/>
            <a:ext cx="4800600" cy="4206240"/>
          </a:xfrm>
          <a:prstGeom prst="rect">
            <a:avLst/>
          </a:prstGeom>
          <a:noFill/>
          <a:ln/>
        </p:spPr>
        <p:txBody>
          <a:bodyPr wrap="square" lIns="0" tIns="0" rIns="0" bIns="0" rtlCol="0" anchor="t"/>
          <a:lstStyle/>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No SWOT flow-wave celerity. Three estimators, three failures; the best-looking one tracked the ground track at a ratio of 0.99.</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No claim that the Kobuk late-summer peak is a trend (40-year p = 0.29).</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No biological reading of the outer sound: that correlation is plume optics.</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No attribution from SWOT alone (n = 28-39).</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No absolute freshwater flux: SoS discharge is 2.9x low.</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No confirmed flow split between delta threads.</a:t>
            </a:r>
            <a:endParaRPr lang="en-US" sz="1100" dirty="0"/>
          </a:p>
          <a:p>
            <a:pPr marL="342900" indent="-342900">
              <a:lnSpc>
                <a:spcPts val="1800"/>
              </a:lnSpc>
              <a:buSzPct val="100000"/>
              <a:buChar char="•"/>
            </a:pPr>
            <a:r>
              <a:rPr lang="en-US" sz="1100" dirty="0">
                <a:solidFill>
                  <a:srgbClr val="20303C"/>
                </a:solidFill>
                <a:latin typeface="Calibri" pitchFamily="34" charset="0"/>
                <a:ea typeface="Calibri" pitchFamily="34" charset="-122"/>
                <a:cs typeface="Calibri" pitchFamily="34" charset="-120"/>
              </a:rPr>
              <a:t>No cause for the harmful algal blooms, in either direction.</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2F4A"/>
        </a:solidFill>
      </p:bgPr>
    </p:bg>
    <p:spTree>
      <p:nvGrpSpPr>
        <p:cNvPr id="1" name=""/>
        <p:cNvGrpSpPr/>
        <p:nvPr/>
      </p:nvGrpSpPr>
      <p:grpSpPr>
        <a:xfrm>
          <a:off x="0" y="0"/>
          <a:ext cx="0" cy="0"/>
          <a:chOff x="0" y="0"/>
          <a:chExt cx="0" cy="0"/>
        </a:xfrm>
      </p:grpSpPr>
      <p:sp>
        <p:nvSpPr>
          <p:cNvPr id="2" name="Text 0"/>
          <p:cNvSpPr/>
          <p:nvPr/>
        </p:nvSpPr>
        <p:spPr>
          <a:xfrm>
            <a:off x="731520" y="1280160"/>
            <a:ext cx="1060704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Everything is public</a:t>
            </a:r>
            <a:endParaRPr lang="en-US" sz="3200" dirty="0"/>
          </a:p>
        </p:txBody>
      </p:sp>
      <p:sp>
        <p:nvSpPr>
          <p:cNvPr id="3" name="Text 1"/>
          <p:cNvSpPr/>
          <p:nvPr/>
        </p:nvSpPr>
        <p:spPr>
          <a:xfrm>
            <a:off x="731520" y="2011680"/>
            <a:ext cx="10607040" cy="457200"/>
          </a:xfrm>
          <a:prstGeom prst="rect">
            <a:avLst/>
          </a:prstGeom>
          <a:noFill/>
          <a:ln/>
        </p:spPr>
        <p:txBody>
          <a:bodyPr wrap="square" lIns="0" tIns="0" rIns="0" bIns="0" rtlCol="0" anchor="ctr"/>
          <a:lstStyle/>
          <a:p>
            <a:pPr indent="0" marL="0">
              <a:buNone/>
            </a:pPr>
            <a:r>
              <a:rPr lang="en-US" sz="1900" dirty="0">
                <a:solidFill>
                  <a:srgbClr val="E8A33D"/>
                </a:solidFill>
                <a:latin typeface="Calibri" pitchFamily="34" charset="0"/>
                <a:ea typeface="Calibri" pitchFamily="34" charset="-122"/>
                <a:cs typeface="Calibri" pitchFamily="34" charset="-120"/>
              </a:rPr>
              <a:t>github.com/tmittal22/swot-kotzebue-sound</a:t>
            </a:r>
            <a:endParaRPr lang="en-US" sz="1900" dirty="0"/>
          </a:p>
        </p:txBody>
      </p:sp>
      <p:sp>
        <p:nvSpPr>
          <p:cNvPr id="4" name="Shape 2"/>
          <p:cNvSpPr/>
          <p:nvPr/>
        </p:nvSpPr>
        <p:spPr>
          <a:xfrm>
            <a:off x="731520" y="2697480"/>
            <a:ext cx="1371600" cy="41148"/>
          </a:xfrm>
          <a:prstGeom prst="rect">
            <a:avLst/>
          </a:prstGeom>
          <a:solidFill>
            <a:srgbClr val="E8A33D"/>
          </a:solidFill>
          <a:ln/>
        </p:spPr>
      </p:sp>
      <p:sp>
        <p:nvSpPr>
          <p:cNvPr id="5" name="Text 3"/>
          <p:cNvSpPr/>
          <p:nvPr/>
        </p:nvSpPr>
        <p:spPr>
          <a:xfrm>
            <a:off x="731520" y="3017520"/>
            <a:ext cx="10607040" cy="2194560"/>
          </a:xfrm>
          <a:prstGeom prst="rect">
            <a:avLst/>
          </a:prstGeom>
          <a:noFill/>
          <a:ln/>
        </p:spPr>
        <p:txBody>
          <a:bodyPr wrap="square" lIns="0" tIns="0" rIns="0" bIns="0" rtlCol="0" anchor="ctr"/>
          <a:lstStyle/>
          <a:p>
            <a:pPr indent="0" marL="0">
              <a:lnSpc>
                <a:spcPts val="2600"/>
              </a:lnSpc>
              <a:buNone/>
            </a:pPr>
            <a:r>
              <a:rPr lang="en-US" sz="1400" b="1" dirty="0">
                <a:solidFill>
                  <a:srgbClr val="FFFFFF"/>
                </a:solidFill>
                <a:latin typeface="Calibri" pitchFamily="34" charset="0"/>
                <a:ea typeface="Calibri" pitchFamily="34" charset="-122"/>
                <a:cs typeface="Calibri" pitchFamily="34" charset="-120"/>
              </a:rPr>
              <a:t>src/</a:t>
            </a:r>
            <a:pPr indent="0" marL="0">
              <a:lnSpc>
                <a:spcPts val="2600"/>
              </a:lnSpc>
              <a:buNone/>
            </a:pPr>
            <a:r>
              <a:rPr lang="en-US" sz="1400" dirty="0">
                <a:solidFill>
                  <a:srgbClr val="AECBDB"/>
                </a:solidFill>
                <a:latin typeface="Calibri" pitchFamily="34" charset="0"/>
                <a:ea typeface="Calibri" pitchFamily="34" charset="-122"/>
                <a:cs typeface="Calibri" pitchFamily="34" charset="-120"/>
              </a:rPr>
              <a:t>  20 scripts, each one figure or one fetch
</a:t>
            </a:r>
            <a:pPr indent="0" marL="0">
              <a:lnSpc>
                <a:spcPts val="2600"/>
              </a:lnSpc>
              <a:buNone/>
            </a:pPr>
            <a:r>
              <a:rPr lang="en-US" sz="1400" b="1" dirty="0">
                <a:solidFill>
                  <a:srgbClr val="FFFFFF"/>
                </a:solidFill>
                <a:latin typeface="Calibri" pitchFamily="34" charset="0"/>
                <a:ea typeface="Calibri" pitchFamily="34" charset="-122"/>
                <a:cs typeface="Calibri" pitchFamily="34" charset="-120"/>
              </a:rPr>
              <a:t>figs/</a:t>
            </a:r>
            <a:pPr indent="0" marL="0">
              <a:lnSpc>
                <a:spcPts val="2600"/>
              </a:lnSpc>
              <a:buNone/>
            </a:pPr>
            <a:r>
              <a:rPr lang="en-US" sz="1400" dirty="0">
                <a:solidFill>
                  <a:srgbClr val="AECBDB"/>
                </a:solidFill>
                <a:latin typeface="Calibri" pitchFamily="34" charset="0"/>
                <a:ea typeface="Calibri" pitchFamily="34" charset="-122"/>
                <a:cs typeface="Calibri" pitchFamily="34" charset="-120"/>
              </a:rPr>
              <a:t>  20 figures, all regenerable from scratch
</a:t>
            </a:r>
            <a:pPr indent="0" marL="0">
              <a:lnSpc>
                <a:spcPts val="2600"/>
              </a:lnSpc>
              <a:buNone/>
            </a:pPr>
            <a:r>
              <a:rPr lang="en-US" sz="1400" b="1" dirty="0">
                <a:solidFill>
                  <a:srgbClr val="FFFFFF"/>
                </a:solidFill>
                <a:latin typeface="Calibri" pitchFamily="34" charset="0"/>
                <a:ea typeface="Calibri" pitchFamily="34" charset="-122"/>
                <a:cs typeface="Calibri" pitchFamily="34" charset="-120"/>
              </a:rPr>
              <a:t>packet/</a:t>
            </a:r>
            <a:pPr indent="0" marL="0">
              <a:lnSpc>
                <a:spcPts val="2600"/>
              </a:lnSpc>
              <a:buNone/>
            </a:pPr>
            <a:r>
              <a:rPr lang="en-US" sz="1400" dirty="0">
                <a:solidFill>
                  <a:srgbClr val="AECBDB"/>
                </a:solidFill>
                <a:latin typeface="Calibri" pitchFamily="34" charset="0"/>
                <a:ea typeface="Calibri" pitchFamily="34" charset="-122"/>
                <a:cs typeface="Calibri" pitchFamily="34" charset="-120"/>
              </a:rPr>
              <a:t>  flat CSV exports with a manifest
</a:t>
            </a:r>
            <a:pPr indent="0" marL="0">
              <a:lnSpc>
                <a:spcPts val="2600"/>
              </a:lnSpc>
              <a:buNone/>
            </a:pPr>
            <a:r>
              <a:rPr lang="en-US" sz="1400" b="1" dirty="0">
                <a:solidFill>
                  <a:srgbClr val="FFFFFF"/>
                </a:solidFill>
                <a:latin typeface="Calibri" pitchFamily="34" charset="0"/>
                <a:ea typeface="Calibri" pitchFamily="34" charset="-122"/>
                <a:cs typeface="Calibri" pitchFamily="34" charset="-120"/>
              </a:rPr>
              <a:t>docs/</a:t>
            </a:r>
            <a:pPr indent="0" marL="0">
              <a:lnSpc>
                <a:spcPts val="2600"/>
              </a:lnSpc>
              <a:buNone/>
            </a:pPr>
            <a:r>
              <a:rPr lang="en-US" sz="1400" dirty="0">
                <a:solidFill>
                  <a:srgbClr val="AECBDB"/>
                </a:solidFill>
                <a:latin typeface="Calibri" pitchFamily="34" charset="0"/>
                <a:ea typeface="Calibri" pitchFamily="34" charset="-122"/>
                <a:cs typeface="Calibri" pitchFamily="34" charset="-120"/>
              </a:rPr>
              <a:t>  THEORY, PRIORS, WALKTHROUGH, PAPERS and every results table
</a:t>
            </a:r>
            <a:pPr indent="0" marL="0">
              <a:lnSpc>
                <a:spcPts val="2600"/>
              </a:lnSpc>
              <a:buNone/>
            </a:pPr>
            <a:r>
              <a:rPr lang="en-US" sz="1400" b="1" dirty="0">
                <a:solidFill>
                  <a:srgbClr val="FFFFFF"/>
                </a:solidFill>
                <a:latin typeface="Calibri" pitchFamily="34" charset="0"/>
                <a:ea typeface="Calibri" pitchFamily="34" charset="-122"/>
                <a:cs typeface="Calibri" pitchFamily="34" charset="-120"/>
              </a:rPr>
              <a:t>deck/</a:t>
            </a:r>
            <a:pPr indent="0" marL="0">
              <a:lnSpc>
                <a:spcPts val="2600"/>
              </a:lnSpc>
              <a:buNone/>
            </a:pPr>
            <a:r>
              <a:rPr lang="en-US" sz="1400" dirty="0">
                <a:solidFill>
                  <a:srgbClr val="AECBDB"/>
                </a:solidFill>
                <a:latin typeface="Calibri" pitchFamily="34" charset="0"/>
                <a:ea typeface="Calibri" pitchFamily="34" charset="-122"/>
                <a:cs typeface="Calibri" pitchFamily="34" charset="-120"/>
              </a:rPr>
              <a:t>  this deck and its build script</a:t>
            </a:r>
            <a:endParaRPr lang="en-US" sz="1400" dirty="0"/>
          </a:p>
        </p:txBody>
      </p:sp>
      <p:sp>
        <p:nvSpPr>
          <p:cNvPr id="6" name="Text 4"/>
          <p:cNvSpPr/>
          <p:nvPr/>
        </p:nvSpPr>
        <p:spPr>
          <a:xfrm>
            <a:off x="731520" y="5486400"/>
            <a:ext cx="10607040" cy="640080"/>
          </a:xfrm>
          <a:prstGeom prst="rect">
            <a:avLst/>
          </a:prstGeom>
          <a:noFill/>
          <a:ln/>
        </p:spPr>
        <p:txBody>
          <a:bodyPr wrap="square" lIns="0" tIns="0" rIns="0" bIns="0" rtlCol="0" anchor="ctr"/>
          <a:lstStyle/>
          <a:p>
            <a:pPr indent="0" marL="0">
              <a:buNone/>
            </a:pPr>
            <a:r>
              <a:rPr lang="en-US" sz="1250" i="1" dirty="0">
                <a:solidFill>
                  <a:srgbClr val="2E8BA8"/>
                </a:solidFill>
                <a:latin typeface="Calibri" pitchFamily="34" charset="0"/>
                <a:ea typeface="Calibri" pitchFamily="34" charset="-122"/>
                <a:cs typeface="Calibri" pitchFamily="34" charset="-120"/>
              </a:rPr>
              <a:t>No Earthdata Login needed for anything shown here. Hydrocron responses are cached per feature, so re-runs are free and offline.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Kotzebue Sound SWOT: full walkthrough</dc:title>
  <dc:subject>PptxGenJS Presentation</dc:subject>
  <dc:creator>PptxGenJS</dc:creator>
  <cp:lastModifiedBy>PptxGenJS</cp:lastModifiedBy>
  <cp:revision>1</cp:revision>
  <dcterms:created xsi:type="dcterms:W3CDTF">2026-09-20T18:17:13Z</dcterms:created>
  <dcterms:modified xsi:type="dcterms:W3CDTF">2026-09-20T18:17:13Z</dcterms:modified>
</cp:coreProperties>
</file>