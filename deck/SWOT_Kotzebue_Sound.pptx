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over Kotzebue Sound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257860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flow, transport, and the summer bloom season in northwest Alaska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137160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20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three major rivers have never been gauged.
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SWOT record assembled here is the only stage history that exists for them.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Selawik  ·  Kobuk  ·  Noatak  ·  Buckland  ·  Squirrel  ·  Wulik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basin, and why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Kotzebue Sound has become a focus of harmful algal bloom concern in the Pacific Arctic, following documented Alexandrium catenella blooms and paralytic shellfish toxin accumulation.</a:t>
            </a:r>
            <a:endParaRPr lang="en-US" sz="14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timing plausibly matters: it sets stratification, delivers terrestrial nutrients and organic matter, and controls flushing of the lagoon complex.</a:t>
            </a:r>
            <a:endParaRPr lang="en-US" sz="14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hydrology was unmeasurable. A search of all NWIS gauges in the domain returns three active records, only one on a major river.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8097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gauges in the entire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Kotzebue Sound domain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834640" y="411480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834640" y="480974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on a major river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(Kobuk at Kiana)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0" y="411480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212080" y="480974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Selawik or the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Noatak, ever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42632" y="1353312"/>
            <a:ext cx="4471416" cy="2962656"/>
          </a:xfrm>
          <a:prstGeom prst="roundRect">
            <a:avLst>
              <a:gd name="adj" fmla="val 1852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12" name="Image 0" descr="/media/tmittal/extradrive1/swot_kotzebue/figs/fig06_satellite_base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417320"/>
            <a:ext cx="4343400" cy="2834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06640" y="431596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 — study area on Esri World Imagery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470916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 et al. (2026) find Arctic, multi-channel and ungauged rivers are exactly where global river models fail. That is the case for treating this basin observationally.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 follows two papers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Captures Hydrologic Waves Traveling Down Rivers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Thurman et al. 2025, GRL 52(10) · 10.1029/2024GL113875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hydrographs from node WSE, wave length from a 90th-percentile run test, celerity from a SWOT peak plus a gauge peak, and spatial baseflow separation.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3200400"/>
          </a:xfrm>
          <a:prstGeom prst="roundRect">
            <a:avLst>
              <a:gd name="adj" fmla="val 1714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SWOT, Empiricism, and River Modeling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395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Gleason et al. 2026, GRL 53(16) · 10.1029/2026GL124323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68,347 reaches, ~38% of global discharge. Models struggle in developed, multi-channel, arid and Arctic basins. Motivates an observational treatment here.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11109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Thurman full text read via Scholar Gateway (Wiley returns HTTP 403 to automated fetches). Gleason not yet in the full-text corpus — abstract and 74 references via OpenAlex, and the method notes say so.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unauthenticated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33375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PO.DAAC Hydrocron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SWOT L2_HR_RiverSP Version D (SWORD v17b)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+ node WSE, width, slope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Zenodo 22259077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SWORD v17c river network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topology, dist_out, main_path_id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USGS NWIS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Kobuk at Kiana, Dahl Ck, Wulik; historical Ambler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+ stage, 1976-2026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NOAA CoastWatch ERDDAP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VIIRS chlorophyll, nLw(671), Kd(PAR)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 season + turbidity, 2012-2026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50,115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45354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observations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148 reaches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200400" y="38404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2.28 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200400" y="45354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observations,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2023-03 to 2026-09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26480" y="38404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583 MB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126480" y="453542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a 3.9 GB SWORD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by HTTP range: 90 s, not 4 h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11109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L2_HR_Raster and PIXC — the true gridded imagery — do need an Earthdata Login and are not used here. README documents how to add them.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three rivers in a whole sound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771753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07_network_top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58952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66760" y="1371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river_name is NODATA for 111 of 292 reaches, including most of the lower Kobuk. Names cannot do the selection. Topology can: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246888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best_outlet → 9 drainage systems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main_path_id + facc → rank 34 paths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rch_id_dn → the reach graph, 24 confluences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dist_out → order along each mainstem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→ what is usable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49377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Kobuk delta appears here: its lowest 84 km are types 5 and 6, which is why its profile starts inland.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SWOT actually measured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790041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08_swot_swath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7724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0" y="14630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595360" y="21579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ground-track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cross the basin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953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day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595360" y="35295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gap between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days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95360" y="42062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595360" y="49011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observations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200 m node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95360" y="5532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Swath overlap at 67°N beats the 21-day repeat badly.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measurement trustworthy?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780897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01_kiana_vali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68096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parameter-free test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58200" y="17830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reports orthometric elevation; the gauge reports stage on a local datum. Same water surface, so they must differ by a constant and the slope must be exactly 1.0. Nothing is fitted to make that happen.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58200" y="34290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458200" y="41239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dWSE/dstage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(1.000 required)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58200" y="4754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0.980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458200" y="54498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coincident overpasses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hour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quality control is load-bearing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test proves nothing if it cannot fail. The whole validation was rerun under relaxed filters.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583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731520"/>
                <a:gridCol w="1371600"/>
                <a:gridCol w="1828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reach_q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filter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ice-free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ice-free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44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B44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reach_q ≤ 1, physically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47548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Admitting reach_q = 2 returns WSE from −5.2 m to +11.2 m on a reach whose bed sits near 2 m and whose gauged seasonal range is ~4 m. Those are retrieval failures, not extreme flows.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34072" y="1856232"/>
            <a:ext cx="4288536" cy="2962656"/>
          </a:xfrm>
          <a:prstGeom prst="roundRect">
            <a:avLst>
              <a:gd name="adj" fmla="val 1852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9" name="Image 0" descr="/media/tmittal/extradrive1/swot_kotzebue/figs/fig02_domain_and_profi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920240"/>
            <a:ext cx="4160520" cy="2834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0" y="482803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 — long profiles pass a monotonicity check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498080" y="51663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flows downhill, so reference WSE must rise upstream. The Noatak is monotone to 0.17 m over a 548 m rise. That check caught a real bug.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Twelve virtual gauges, eight where none exist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307592"/>
            <a:ext cx="790041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5" name="Image 0" descr="/media/tmittal/extradrive1/swot_kotzebue/figs/fig09_virtual_gaug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7724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trace is a multi-year stage record at a location on an Arctic river. For the Selawik and Noatak, no such record has ever existed.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Selawik traces are visibly flatter and smoother than the Kobuk and Noatak — consistent with backwater control.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9640" y="43434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 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549640" y="50383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Selawik fall over 166 km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2.4 cm per km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Selawik and the Kobuk are out of phase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307592"/>
            <a:ext cx="771753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5" name="Image 0" descr="/media/tmittal/extradrive1/swot_kotzebue/figs/fig03_seasonal_reg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58952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drain into the same Hotham Inlet complex.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965960"/>
          <a:ext cx="32918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Selawik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4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141, 145, 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Kobuk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240, 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Noatak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168, 237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366760" y="32918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Day-of-year of the seasonal stage maximum. The Selawik is snowmelt-driven and spikes in mid-May with a 4-day spread across three years. The Kobuk peaked in late August and September.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366760" y="4754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freshwater arriving during the bloom window is Kobuk and Noatak water, not Selawik water.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waves: length and amplitude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4632" y="1307592"/>
            <a:ext cx="780897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5" name="Image 0" descr="/media/tmittal/extradrive1/swot_kotzebue/figs/fig10_wave_propag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68096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58200" y="1508760"/>
            <a:ext cx="3200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939 wave detections by the Thurman 90th-percentile run test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4–8 km; 65 exceed 50 km; maximum 243 km on the Kobuk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1% are truncated by the observed span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grows upstream on all three rivers as the channel narrows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occurrence independently reproduces the phase split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58200" y="5486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needs celerity.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 WRONG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celerity result that looked right, and was not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apparent finding.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anomaly peak across consecutive overpasses gave 12 coherent events (r² &gt; 0.7), all on the Noatak, all 12 moving downstream, median 1.53 m/s — inside the kinematic-wave prior of 1.4–3.3 m/s. Direction alone looked decisive at p = 0.5¹².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artefact.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SWOT’s consecutive passes sweep along the river, so the centre of the observed segment marches downstream between overpasses. Regressing peak position and segment centre on time for the same events gives a median slope ratio of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apparent wave speed is the ground-track speed.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SWOT celerity estimators, three failures — each diagnosable. No SWOT celerity is claimed for these rivers.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P5b now requires that slope ratio be reported for any future celerity claim in this basin.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receiving basins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790041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14_ocean_timese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7724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463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Chlorophyll, nLw(671) and Kd(PAR) for five basins, 2012–2026.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5496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order identically: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49640" y="2651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Selawik Lake  &gt;  Hotham Inlet  &gt;  Eschscholtz Bay  &gt;  inner sound  &gt;  outer sound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49640" y="3931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turbidity gradient away from the river mouths. Chlorophyll following two independent turbidity proxies is the Case-2 warning restated.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49640" y="5349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4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retrievals exist only June–September here: polar night, sea ice and low sun angle remove the rest.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Optics or productivity?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07592"/>
            <a:ext cx="7808976" cy="4974336"/>
          </a:xfrm>
          <a:prstGeom prst="roundRect">
            <a:avLst>
              <a:gd name="adj" fmla="val 1103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11_optics_vs_bi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768096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14630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nLw(671) responds to suspended sediment and is nearly blind to chlorophyll, so it can be used as a control. Partial correlation of log Q against log chl, controlling for it: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2926080"/>
          <a:ext cx="32004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sound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 — collapses 0.24 → 0.11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sound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survives, strengthens with 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Hotham Inlet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sediment; dilution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458200" y="4434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sound: sediment coupling decays 0.43 → −0.02 across 0–3 weeks while the sediment-removed chlorophyll signal rises 0.18 → 0.28. The curves cross. A signal that outlives its own forcing tracer looks like growth.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458200" y="5806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nLw(671) controls sediment, not CDOM.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the rivers independent forcings?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99032"/>
            <a:ext cx="7900416" cy="3968496"/>
          </a:xfrm>
          <a:prstGeom prst="roundRect">
            <a:avLst>
              <a:gd name="adj" fmla="val 1382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13_river_independe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77724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4964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before attributing anything, not after.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49640" y="21031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549640" y="27980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pairwise 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six rivers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49640" y="3474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15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549640" y="416966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pairs exceed r = 0.7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49640" y="4663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share weather, so they are substantially collinear and cannot be cleanly separated. Kobuk–Squirrel at 0.86 is expected: the Squirrel is a Kobuk tributary, not an independent forcing.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394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13 — seasonal phasing and the inter-river correlation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drives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82528" y="2743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1082528" y="274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4632" y="1399032"/>
            <a:ext cx="7991856" cy="4059936"/>
          </a:xfrm>
          <a:prstGeom prst="roundRect">
            <a:avLst>
              <a:gd name="adj" fmla="val 1351"/>
            </a:avLst>
          </a:prstGeom>
          <a:solidFill>
            <a:srgbClr val="F2F6F8"/>
          </a:solidFill>
          <a:ln w="9525">
            <a:solidFill>
              <a:srgbClr val="2E8BA8"/>
            </a:solidFill>
            <a:prstDash val="solid"/>
          </a:ln>
        </p:spPr>
      </p:sp>
      <p:pic>
        <p:nvPicPr>
          <p:cNvPr id="7" name="Image 0" descr="/media/tmittal/extradrive1/swot_kotzebue/figs/fig15_at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786384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1554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tests. Every river forcing against every receiving basin, at 1 and 2 week lags, raw and sediment-controlled.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41080" y="2560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of 70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641080" y="32552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Bonferroni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4108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Kobuk gauged discharge → inner-sound chlorophyll, 2-week lag, partial r = 0.28, p = 4.6e−5.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41080" y="4800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44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SWOT forcing survives — power, not absence. n = 28–39 weekly points against the gauge’s 201.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54864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15 — rows are river forcings, columns are receiving basins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support, and what they do not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EAF4EE"/>
          </a:solidFill>
          <a:ln w="9525">
            <a:solidFill>
              <a:srgbClr val="1B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7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WSE is quantitatively trustworthy here: slope 1.002 where physics demands 1.0, 21 cm residual.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is ~1 day, not 21, from swath overlap at 67°N.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Selawik and Kobuk deliver freshwater ~100 days apart into the same estuarine complex.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Selawik is backwater-controlled: 4.0 m of fall over 166 km.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length and amplitude are measurable; 939 detections.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Kobuk discharge leads inner-sound chlorophyll by ~2 weeks, and survives a sediment control.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40680" cy="3977640"/>
          </a:xfrm>
          <a:prstGeom prst="roundRect">
            <a:avLst>
              <a:gd name="adj" fmla="val 1379"/>
            </a:avLst>
          </a:prstGeom>
          <a:solidFill>
            <a:srgbClr val="FBEEE9"/>
          </a:solidFill>
          <a:ln w="9525">
            <a:solidFill>
              <a:srgbClr val="B444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4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supported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SWOT flow-wave celerity. Three estimators, three failures; the best-looking one tracked the ground track at a ratio of 0.99.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that the Kobuk late-summer peak is a trend. 3/3 in the SWOT era, but the 40-year regression gives p = 0.29.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biological interpretation of the outer sound: that correlation is plume optics.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attribution from SWOT alone. Four summers gives n = 28–39; nothing survives correction.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ice_clim_f is a fixed climatology — a seasonal mask, not an ice detector. No break-up dates.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F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sharpen this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90472"/>
            <a:ext cx="420624" cy="420624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aCDOM(443) or a blue-band control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last gap in the optics-vs-biology test. CDOM is invisible to nLw(671) and is a major Arctic plume constituent. Same ERDDAP server, same chunked fetcher.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478024"/>
            <a:ext cx="420624" cy="420624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PLD lake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450592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Selawik Lake and Hotham Inlet as PriorLake features. Tests whether the Selawik stage index tracks discharge or simply lake level — a real risk at 2.4 cm/km.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465576"/>
            <a:ext cx="420624" cy="420624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438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Earthdata Login → L2_HR_Raster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438144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gridded imagery over the Kobuk delta and Hotham Inlet, where the vector product is weakest because SWORD types those reaches 5 and 6.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453128"/>
            <a:ext cx="420624" cy="420624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4256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three more SWOT years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425696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doubles n and would bring Buckland → Eschscholtz Bay and Kobuk → Hotham Inlet into range.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420624" cy="420624"/>
          </a:xfrm>
          <a:prstGeom prst="ellipse">
            <a:avLst/>
          </a:prstGeom>
          <a:solidFill>
            <a:srgbClr val="2E8B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440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4132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chlorophyll or HAB cell counts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5413248"/>
            <a:ext cx="6720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Alaska HAB network data would escape the Case-2 problem entirely.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public and unauthenticated. No Earthdata Login is required for anything shown here.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371600" cy="411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632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it does, how to run it, environment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docs/THEORY.md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equations, units, QC policy and its justification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docs/PRIORS.md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physical constraints, each with a pass/fail state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docs/WALKTHROUGH.md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derivation, validation, and what failed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packet/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AEC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flat CSV exports with a manifest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Hydrocron responses are cached per feature, so re-runs are free and offline.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SWOT over Kotzebue Sound</dc:title>
  <dc:subject>PptxGenJS Presentation</dc:subject>
  <dc:creator>SWOT Kotzebue project</dc:creator>
  <cp:lastModifiedBy>SWOT Kotzebue project</cp:lastModifiedBy>
  <cp:revision>1</cp:revision>
  <dcterms:created xsi:type="dcterms:W3CDTF">2026-09-20T14:27:47Z</dcterms:created>
  <dcterms:modified xsi:type="dcterms:W3CDTF">2026-09-20T14:27:47Z</dcterms:modified>
</cp:coreProperties>
</file>